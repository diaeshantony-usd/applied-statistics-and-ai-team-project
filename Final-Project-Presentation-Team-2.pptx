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690EF6-6D9E-45FB-AB7F-457ED2B3F4E2}">
  <a:tblStyle styleId="{57690EF6-6D9E-45FB-AB7F-457ED2B3F4E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fill>
          <a:solidFill>
            <a:srgbClr val="E7F3F4"/>
          </a:solidFill>
        </a:fill>
      </a:tcStyle>
    </a:band1H>
    <a:band2H>
      <a:tcTxStyle/>
    </a:band2H>
    <a:band1V>
      <a:tcTxStyle/>
      <a:tcStyle>
        <a:fill>
          <a:solidFill>
            <a:srgbClr val="E7F3F4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1065491" y="1828800"/>
            <a:ext cx="8231744" cy="2895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600">
                <a:solidFill>
                  <a:schemeClr val="dk1"/>
                </a:solidFill>
              </a:defRPr>
            </a:lvl1pPr>
            <a:lvl2pPr lvl="1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065490" y="4800600"/>
            <a:ext cx="8231744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  <a:defRPr sz="2000" cap="none">
                <a:solidFill>
                  <a:schemeClr val="accent1"/>
                </a:solidFill>
              </a:defRPr>
            </a:lvl1pPr>
            <a:lvl2pPr lvl="1" algn="ctr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- Title and Content">
  <p:cSld name="2 - 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768096" y="1947672"/>
            <a:ext cx="10509504" cy="377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57175" lvl="0" marL="457200" algn="l">
              <a:lnSpc>
                <a:spcPct val="177777"/>
              </a:lnSpc>
              <a:spcBef>
                <a:spcPts val="0"/>
              </a:spcBef>
              <a:spcAft>
                <a:spcPts val="0"/>
              </a:spcAft>
              <a:buSzPts val="450"/>
              <a:buChar char=" "/>
              <a:defRPr/>
            </a:lvl1pPr>
            <a:lvl2pPr indent="-342900" lvl="1" marL="914400" algn="l">
              <a:lnSpc>
                <a:spcPct val="177777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77777"/>
              </a:lnSpc>
              <a:spcBef>
                <a:spcPts val="600"/>
              </a:spcBef>
              <a:spcAft>
                <a:spcPts val="0"/>
              </a:spcAft>
              <a:buClr>
                <a:srgbClr val="003B70"/>
              </a:buClr>
              <a:buSzPts val="1800"/>
              <a:buChar char="-"/>
              <a:defRPr/>
            </a:lvl3pPr>
            <a:lvl4pPr indent="-342900" lvl="3" marL="1828800" algn="l">
              <a:lnSpc>
                <a:spcPct val="177777"/>
              </a:lnSpc>
              <a:spcBef>
                <a:spcPts val="600"/>
              </a:spcBef>
              <a:spcAft>
                <a:spcPts val="0"/>
              </a:spcAft>
              <a:buClr>
                <a:srgbClr val="003B70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77777"/>
              </a:lnSpc>
              <a:spcBef>
                <a:spcPts val="600"/>
              </a:spcBef>
              <a:spcAft>
                <a:spcPts val="0"/>
              </a:spcAft>
              <a:buClr>
                <a:srgbClr val="003B70"/>
              </a:buClr>
              <a:buSzPts val="1800"/>
              <a:buChar char="-"/>
              <a:defRPr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304800" y="6629403"/>
            <a:ext cx="28448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165600" y="6629403"/>
            <a:ext cx="38608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9144000" y="6629403"/>
            <a:ext cx="28448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- Section Header">
  <p:cSld name="1 - Section 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914400" y="1600200"/>
            <a:ext cx="10363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/>
            </a:lvl1pPr>
            <a:lvl2pPr lvl="1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304800" y="6629403"/>
            <a:ext cx="28448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165600" y="6629403"/>
            <a:ext cx="38608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9144000" y="6629403"/>
            <a:ext cx="28448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- Comparison">
  <p:cSld name="3 - Comparis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idx="1" type="body"/>
          </p:nvPr>
        </p:nvSpPr>
        <p:spPr>
          <a:xfrm>
            <a:off x="914400" y="1828800"/>
            <a:ext cx="50800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2400"/>
            </a:lvl1pPr>
            <a:lvl2pPr indent="-228600" lvl="1" marL="91440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77777"/>
              </a:lnSpc>
              <a:spcBef>
                <a:spcPts val="600"/>
              </a:spcBef>
              <a:spcAft>
                <a:spcPts val="0"/>
              </a:spcAft>
              <a:buClr>
                <a:srgbClr val="003B70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rgbClr val="003B70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rgbClr val="003B70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810684" y="2533650"/>
            <a:ext cx="5183717" cy="3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66700" lvl="0" marL="45720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600"/>
              <a:buChar char=" 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16666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lnSpc>
                <a:spcPct val="116666"/>
              </a:lnSpc>
              <a:spcBef>
                <a:spcPts val="600"/>
              </a:spcBef>
              <a:spcAft>
                <a:spcPts val="0"/>
              </a:spcAft>
              <a:buClr>
                <a:srgbClr val="003B70"/>
              </a:buClr>
              <a:buSzPts val="2400"/>
              <a:buChar char="-"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algn="l">
              <a:lnSpc>
                <a:spcPct val="116666"/>
              </a:lnSpc>
              <a:spcBef>
                <a:spcPts val="600"/>
              </a:spcBef>
              <a:spcAft>
                <a:spcPts val="0"/>
              </a:spcAft>
              <a:buClr>
                <a:srgbClr val="003B70"/>
              </a:buClr>
              <a:buSzPts val="2400"/>
              <a:buChar char="-"/>
              <a:defRPr sz="2400"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algn="l">
              <a:lnSpc>
                <a:spcPct val="116666"/>
              </a:lnSpc>
              <a:spcBef>
                <a:spcPts val="600"/>
              </a:spcBef>
              <a:spcAft>
                <a:spcPts val="0"/>
              </a:spcAft>
              <a:buClr>
                <a:srgbClr val="003B70"/>
              </a:buClr>
              <a:buSzPts val="2400"/>
              <a:buChar char="-"/>
              <a:defRPr sz="2400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3" type="body"/>
          </p:nvPr>
        </p:nvSpPr>
        <p:spPr>
          <a:xfrm>
            <a:off x="6197600" y="1828800"/>
            <a:ext cx="50800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1" sz="2400"/>
            </a:lvl1pPr>
            <a:lvl2pPr indent="-228600" lvl="1" marL="91440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77777"/>
              </a:lnSpc>
              <a:spcBef>
                <a:spcPts val="600"/>
              </a:spcBef>
              <a:spcAft>
                <a:spcPts val="0"/>
              </a:spcAft>
              <a:buClr>
                <a:srgbClr val="003B70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rgbClr val="003B70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rgbClr val="003B70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6" name="Google Shape;36;p5"/>
          <p:cNvSpPr txBox="1"/>
          <p:nvPr>
            <p:ph idx="4" type="body"/>
          </p:nvPr>
        </p:nvSpPr>
        <p:spPr>
          <a:xfrm>
            <a:off x="6093884" y="2533650"/>
            <a:ext cx="5183717" cy="3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66700" lvl="0" marL="45720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SzPts val="600"/>
              <a:buChar char=" 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16666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lnSpc>
                <a:spcPct val="116666"/>
              </a:lnSpc>
              <a:spcBef>
                <a:spcPts val="600"/>
              </a:spcBef>
              <a:spcAft>
                <a:spcPts val="0"/>
              </a:spcAft>
              <a:buClr>
                <a:srgbClr val="003B70"/>
              </a:buClr>
              <a:buSzPts val="2400"/>
              <a:buChar char="-"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algn="l">
              <a:lnSpc>
                <a:spcPct val="116666"/>
              </a:lnSpc>
              <a:spcBef>
                <a:spcPts val="600"/>
              </a:spcBef>
              <a:spcAft>
                <a:spcPts val="0"/>
              </a:spcAft>
              <a:buClr>
                <a:srgbClr val="003B70"/>
              </a:buClr>
              <a:buSzPts val="2400"/>
              <a:buChar char="-"/>
              <a:defRPr sz="2400"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algn="l">
              <a:lnSpc>
                <a:spcPct val="116666"/>
              </a:lnSpc>
              <a:spcBef>
                <a:spcPts val="600"/>
              </a:spcBef>
              <a:spcAft>
                <a:spcPts val="0"/>
              </a:spcAft>
              <a:buClr>
                <a:srgbClr val="003B70"/>
              </a:buClr>
              <a:buSzPts val="2400"/>
              <a:buChar char="-"/>
              <a:defRPr sz="2400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304800" y="6629403"/>
            <a:ext cx="28448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629403"/>
            <a:ext cx="38608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9144000" y="6629403"/>
            <a:ext cx="28448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304800" y="6629403"/>
            <a:ext cx="28448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165600" y="6629403"/>
            <a:ext cx="38608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9144000" y="6629403"/>
            <a:ext cx="28448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- Blank">
  <p:cSld name="4- 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idx="10" type="dt"/>
          </p:nvPr>
        </p:nvSpPr>
        <p:spPr>
          <a:xfrm>
            <a:off x="304800" y="6629403"/>
            <a:ext cx="28448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165600" y="6629403"/>
            <a:ext cx="38608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9144000" y="6629403"/>
            <a:ext cx="28448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5999168"/>
            <a:ext cx="12192000" cy="914400"/>
          </a:xfrm>
          <a:prstGeom prst="rect">
            <a:avLst/>
          </a:prstGeom>
          <a:solidFill>
            <a:srgbClr val="003B7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04800" y="6167437"/>
            <a:ext cx="2762250" cy="57430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>
            <p:ph idx="1" type="body"/>
          </p:nvPr>
        </p:nvSpPr>
        <p:spPr>
          <a:xfrm>
            <a:off x="768353" y="1947863"/>
            <a:ext cx="10509249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173063"/>
              </a:buClr>
              <a:buSzPts val="700"/>
              <a:buFont typeface="Merriweather Sans"/>
              <a:buChar char=" "/>
              <a:defRPr b="0" i="0" sz="2800" u="none" cap="none" strike="noStrike">
                <a:solidFill>
                  <a:srgbClr val="003B7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rgbClr val="173063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3B7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rgbClr val="003B70"/>
              </a:buClr>
              <a:buSzPts val="2800"/>
              <a:buFont typeface="Merriweather Sans"/>
              <a:buChar char="-"/>
              <a:defRPr b="0" i="0" sz="2800" u="none" cap="none" strike="noStrike">
                <a:solidFill>
                  <a:srgbClr val="003B7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rgbClr val="003B70"/>
              </a:buClr>
              <a:buSzPts val="2800"/>
              <a:buFont typeface="Merriweather Sans"/>
              <a:buChar char="-"/>
              <a:defRPr b="0" i="0" sz="2800" u="none" cap="none" strike="noStrike">
                <a:solidFill>
                  <a:srgbClr val="003B7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4285"/>
              </a:lnSpc>
              <a:spcBef>
                <a:spcPts val="600"/>
              </a:spcBef>
              <a:spcAft>
                <a:spcPts val="0"/>
              </a:spcAft>
              <a:buClr>
                <a:srgbClr val="003B70"/>
              </a:buClr>
              <a:buSzPts val="2800"/>
              <a:buFont typeface="Merriweather Sans"/>
              <a:buChar char="-"/>
              <a:defRPr b="0" i="0" sz="2800" u="none" cap="none" strike="noStrike">
                <a:solidFill>
                  <a:srgbClr val="003B7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3B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3B7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3B7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3B7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rgbClr val="003B7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rgbClr val="71BEFF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rgbClr val="71BEFF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rgbClr val="71BEFF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200" u="none" cap="none" strike="noStrike">
                <a:solidFill>
                  <a:srgbClr val="71BEFF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304800" y="6629403"/>
            <a:ext cx="28448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4165600" y="6629403"/>
            <a:ext cx="38608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9144000" y="6629403"/>
            <a:ext cx="2844800" cy="136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dit_risk_bg.png" id="54" name="Google Shape;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700" cy="60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type="ctrTitle"/>
          </p:nvPr>
        </p:nvSpPr>
        <p:spPr>
          <a:xfrm>
            <a:off x="1065500" y="1501225"/>
            <a:ext cx="8231700" cy="28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Predictive Modeling for Credit Risk</a:t>
            </a:r>
            <a:endParaRPr/>
          </a:p>
        </p:txBody>
      </p:sp>
      <p:sp>
        <p:nvSpPr>
          <p:cNvPr id="56" name="Google Shape;56;p8"/>
          <p:cNvSpPr txBox="1"/>
          <p:nvPr>
            <p:ph idx="1" type="subTitle"/>
          </p:nvPr>
        </p:nvSpPr>
        <p:spPr>
          <a:xfrm>
            <a:off x="1065500" y="4488975"/>
            <a:ext cx="8231700" cy="13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730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rPr b="1" lang="en-US" sz="1600">
                <a:solidFill>
                  <a:srgbClr val="DCDCDC"/>
                </a:solidFill>
                <a:latin typeface="Arial"/>
                <a:ea typeface="Arial"/>
                <a:cs typeface="Arial"/>
                <a:sym typeface="Arial"/>
              </a:rPr>
              <a:t>Applied Probability and Statistics for AI (AAI-500-IN1)</a:t>
            </a:r>
            <a:endParaRPr/>
          </a:p>
          <a:p>
            <a:pPr indent="-273050" lvl="0" marL="45720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</a:pPr>
            <a:r>
              <a:rPr b="0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Presenters: Diaesh Antony | N L N Sai Krishna Akula | Ashok Kumar Bhairwal</a:t>
            </a:r>
            <a:endParaRPr/>
          </a:p>
          <a:p>
            <a:pPr indent="-273050" lvl="0" marL="45720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SzPts val="500"/>
              <a:buNone/>
            </a:pPr>
            <a:r>
              <a:rPr b="0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Instructor: Anuj Sirohi | Date: June </a:t>
            </a:r>
            <a:r>
              <a:rPr lang="en-US" sz="1400">
                <a:solidFill>
                  <a:schemeClr val="lt1"/>
                </a:solidFill>
              </a:rPr>
              <a:t>21</a:t>
            </a:r>
            <a:r>
              <a:rPr b="0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2026</a:t>
            </a:r>
            <a:endParaRPr sz="1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Introduction: Business Context &amp; Errors</a:t>
            </a:r>
            <a:endParaRPr/>
          </a:p>
        </p:txBody>
      </p:sp>
      <p:sp>
        <p:nvSpPr>
          <p:cNvPr id="63" name="Google Shape;63;p9"/>
          <p:cNvSpPr txBox="1"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Lending Decisions Under Uncertainty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Lenders must answer two central questions when reviewing a loan application: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1. Is this borrower likely to default on their loan obligation?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2. What interest rate reflects their risk without driving creditworthy borrowers away?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Statistical Hypothesis Framework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We map lending outcomes to classical error reasoning: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* Type I Error (Under-pricing risk): Lender treats a risky borrower as safe, setting too low of a rate. Borrower subsequently defaults, causing principal loss.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* Type II Error (Over-pricing risk): Lender treats a safe borrower as risky, setting too high of a rate. The borrower walks to a competitor, causing lost business opportunity.</a:t>
            </a:r>
            <a:endParaRPr/>
          </a:p>
        </p:txBody>
      </p:sp>
      <p:graphicFrame>
        <p:nvGraphicFramePr>
          <p:cNvPr id="64" name="Google Shape;64;p9"/>
          <p:cNvGraphicFramePr/>
          <p:nvPr/>
        </p:nvGraphicFramePr>
        <p:xfrm>
          <a:off x="6217920" y="1965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{57690EF6-6D9E-45FB-AB7F-457ED2B3F4E2}</a:tableStyleId>
              </a:tblPr>
              <a:tblGrid>
                <a:gridCol w="1828800"/>
                <a:gridCol w="1691650"/>
                <a:gridCol w="1691650"/>
              </a:tblGrid>
              <a:tr h="137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Decision / Reality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(Risky)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Repay (Safe)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Approve Loan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 I Error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(Missed Default)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Correct Decision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(Interest Income)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988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Deny / High Rate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Correct Decision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(Risk Mitigated)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 II Error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(Lost Business)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Introduction: Scope &amp; Research Questions</a:t>
            </a:r>
            <a:endParaRPr/>
          </a:p>
        </p:txBody>
      </p:sp>
      <p:sp>
        <p:nvSpPr>
          <p:cNvPr id="71" name="Google Shape;71;p10"/>
          <p:cNvSpPr txBox="1"/>
          <p:nvPr/>
        </p:nvSpPr>
        <p:spPr>
          <a:xfrm>
            <a:off x="731520" y="196596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Core Research Questions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Research Question 1 (Regression Target):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Which borrower socio-demographic and financial characteristics (age, income, employment length, loan grade) are the strongest determinants of the interest rate charged on a loan?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Research Question 2 (Classification Target):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What is the marginal effect of borrower income on the probability of loan default, after controlling for loan amount and credit grade?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Analytical Scope of This Presentation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We walk through the entire credit risk pipeline: Data prep, Exploratory data analysis, Model selection (classifiers and regressors), Causal network learning, and multi-dimensional Diagnostics.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Introduction: Analytical Scope &amp; Pipeline</a:t>
            </a:r>
            <a:endParaRPr/>
          </a:p>
        </p:txBody>
      </p:sp>
      <p:sp>
        <p:nvSpPr>
          <p:cNvPr id="78" name="Google Shape;78;p11"/>
          <p:cNvSpPr txBox="1"/>
          <p:nvPr/>
        </p:nvSpPr>
        <p:spPr>
          <a:xfrm>
            <a:off x="731520" y="196596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End-to-End Analytical Pipeline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Phase 1: Data Acquisition &amp; Preprocessing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Auditing missing data, applying median imputation, filtering outliers with Tukey's fences, and log-scaling skewed income distributions.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Phase 2: Exploratory Data Analysis &amp; Inferential Statistics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Running normality tests, simulating CLT bootstrap convergence, and testing grade-level variance differences using Welch t-tests and ANOVA.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Phase 3: Model Selection &amp; Training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Training classifiers (Logistic Regression, Random Forest, Gradient Boosting, CatBoost) and regressors (OLS, Ridge, RF, GB, CatBoost) with a pipeline.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Phase 4: Model Diagnostics &amp; Interpretability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Evaluating classification calibration (Brier), ROC/PR performance, segment errors, and explaining feature importance via SHAP attributions.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type="title"/>
          </p:nvPr>
        </p:nvSpPr>
        <p:spPr>
          <a:xfrm>
            <a:off x="914400" y="1600200"/>
            <a:ext cx="10363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-US"/>
              <a:t>Section 1:</a:t>
            </a:r>
            <a:endParaRPr/>
          </a:p>
          <a:p>
            <a:pPr indent="0" lvl="0" marL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-US"/>
              <a:t>Data Cleanup &amp; Exploratory Data Analysis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Data Prep: Dataset Description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Credit Risk Modeling Dataset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Sourced from Kaggle repository; stored as data/raw/credit_risk_dataset.csv.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Size: 32,581 raw observations across 12 feature columns.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Key Characteristics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Target Variable: `loan_status` (Binary: 0 = non-default, 1 = default).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Imbalance Rate: 77.56% non-default (25,273 rows) vs. 22.44% default (7,308 rows).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Features include demographics, loan parameters, and historical default indicators.</a:t>
            </a:r>
            <a:endParaRPr/>
          </a:p>
        </p:txBody>
      </p:sp>
      <p:graphicFrame>
        <p:nvGraphicFramePr>
          <p:cNvPr id="92" name="Google Shape;92;p13"/>
          <p:cNvGraphicFramePr/>
          <p:nvPr/>
        </p:nvGraphicFramePr>
        <p:xfrm>
          <a:off x="6217920" y="1965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{57690EF6-6D9E-45FB-AB7F-457ED2B3F4E2}</a:tableStyleId>
              </a:tblPr>
              <a:tblGrid>
                <a:gridCol w="1371600"/>
                <a:gridCol w="1097275"/>
                <a:gridCol w="2743200"/>
              </a:tblGrid>
              <a:tr h="487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</a:tr>
              <a:tr h="487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person_age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Borrower age in years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487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person_income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Annual income in USD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87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person_home_ownership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Nominal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RENT, OWN, MORTGAGE, OTHER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487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person_emp_length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Float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Employment length in years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87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loan_grade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Ordinal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Credit grade A-G (A = lowest risk)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487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loan_amnt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Loan principal amount ($)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87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loan_int_rate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Float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Interest rate in % (Target)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Data Prep: Missing Value Audit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Audit of Missing Values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We identified missing values in two primary fields in the raw dataset: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`person_emp_length`: 895 missing entries (2.75% of rows)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`loan_int_rate`: 3,116 missing entries (9.56% of rows)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Treatment Decision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Rationale: Simply dropping missing records would result in a substantial data loss (over 12% combined).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Rationale: Naive mean imputation would introduce severe bias due to the skewness of financial features.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Action: Implement robust median imputation to preserve data sample size without inflating parameters.</a:t>
            </a:r>
            <a:endParaRPr/>
          </a:p>
        </p:txBody>
      </p:sp>
      <p:graphicFrame>
        <p:nvGraphicFramePr>
          <p:cNvPr id="100" name="Google Shape;100;p14"/>
          <p:cNvGraphicFramePr/>
          <p:nvPr/>
        </p:nvGraphicFramePr>
        <p:xfrm>
          <a:off x="6217920" y="1965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{57690EF6-6D9E-45FB-AB7F-457ED2B3F4E2}</a:tableStyleId>
              </a:tblPr>
              <a:tblGrid>
                <a:gridCol w="1828800"/>
                <a:gridCol w="1097275"/>
                <a:gridCol w="1097275"/>
                <a:gridCol w="1188725"/>
              </a:tblGrid>
              <a:tr h="935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Missing (n)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Missing 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</a:tr>
              <a:tr h="935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person_emp_length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895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2.75%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Needs Imputation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935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loan_int_rate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3,116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9.56%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Needs Imputation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935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Other Columns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Data Prep: Median Imputation Rationale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Robust Median Imputation Rationale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Right-Skewed Distributions: Income and interest rates are heavily skewed. The mean is inflated by high-earning outliers and would overestimate typical values.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Median is rank-based (resistant estimator):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Median (x̃) = x₍₍ₙ₊₁₎/₂₎  for odd n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Insensitive to extreme values — a vital property in financial distributions.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Imputed Values Results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`person_emp_length` Imputed Median = 4.0 years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`loan_int_rate` Imputed Median = 10.99%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Outcome: 100% missing values resolved prior to split.</a:t>
            </a:r>
            <a:endParaRPr/>
          </a:p>
        </p:txBody>
      </p:sp>
      <p:graphicFrame>
        <p:nvGraphicFramePr>
          <p:cNvPr id="108" name="Google Shape;108;p15"/>
          <p:cNvGraphicFramePr/>
          <p:nvPr/>
        </p:nvGraphicFramePr>
        <p:xfrm>
          <a:off x="6217920" y="1965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{57690EF6-6D9E-45FB-AB7F-457ED2B3F4E2}</a:tableStyleId>
              </a:tblPr>
              <a:tblGrid>
                <a:gridCol w="1828800"/>
                <a:gridCol w="1097275"/>
                <a:gridCol w="1097275"/>
                <a:gridCol w="1188725"/>
              </a:tblGrid>
              <a:tr h="124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Raw Mean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Raw Median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Imputed Value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</a:tr>
              <a:tr h="124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person_emp_length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4.79 years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4.00 years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4.00 years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124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loan_int_rate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11.01%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10.99%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10.99%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Data Prep: Outlier Detection (Tukey)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Tukey IQR Outlier Boundary Detection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We apply Tukey's non-parametric fences to identify extreme outliers without normal distribution assumptions: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Lower Bound = Q1 - 1.5 * IQR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Upper Bound = Q3 + 1.5 * IQR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Where IQR = Q3 - Q1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Computed Bounds &amp; Counts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`person_age`: Q1=23, Q3=30, IQR=7. Bounds: 12.50 to 40.50 years. Total outliers: 1,494.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`person_income`: Q1=$38,500, Q3=$79,200, IQR=$40,700. Bounds: -$22,550 to $140,250. Total outliers: 1,484.</a:t>
            </a:r>
            <a:endParaRPr/>
          </a:p>
        </p:txBody>
      </p:sp>
      <p:graphicFrame>
        <p:nvGraphicFramePr>
          <p:cNvPr id="116" name="Google Shape;116;p16"/>
          <p:cNvGraphicFramePr/>
          <p:nvPr/>
        </p:nvGraphicFramePr>
        <p:xfrm>
          <a:off x="6217920" y="1965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{57690EF6-6D9E-45FB-AB7F-457ED2B3F4E2}</a:tableStyleId>
              </a:tblPr>
              <a:tblGrid>
                <a:gridCol w="1005850"/>
                <a:gridCol w="640075"/>
                <a:gridCol w="640075"/>
                <a:gridCol w="640075"/>
                <a:gridCol w="731525"/>
                <a:gridCol w="731525"/>
                <a:gridCol w="822950"/>
              </a:tblGrid>
              <a:tr h="124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IQR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Lower B.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Upper B.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Outliers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</a:tr>
              <a:tr h="124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person_age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23.0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30.0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40.5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1,494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1244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person_income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$38.5K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$79.2K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$40.7K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-$22.5K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$140.2K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1,484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Data Prep: Data Integrity &amp; Cleaning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731520" y="196596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Comprehensive Cleaning Pipeline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Outlier Filtering: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Removed extreme age and income values using Tukey's fences.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Duplicate Row Removal: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Identified and removed 156 exact duplicate rows, preventing statistical inflation during training.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Logical Consistency Checks: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Removed 1 record where employment length exceeded age (e.g. `person_emp_length` &gt; `person_age`), which is logically impossible.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Enforced Domain Constraints: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Enforced `person_age` &lt;= 100 years to correct data entry errors (e.g., maximum raw age was 144).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Summary of Cleanup Impact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Raw Dataset Count: 32,581 observations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Cleaned Dataset Count: 29,567 observations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Total Data Loss: 3,014 records (9.25% reduction). Exported to `credit_risk_cleaned.csv`.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Data Prep: Skewness &amp; Log-Transformation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Income Right-Skewness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Personal annual income in the cleaned dataset is heavily right-skewed (skewness = 0.7419).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Extreme right tails distort Ordinary Least Squares (OLS) regression parameter estimates and violate the residual homoscedasticity assumption.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Logarithmic Transformation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We apply a standard offset log-transform: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log_person_income = log(person_income + 1)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Rationale: Adding +1 handles potential zero-income observations.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Transformation Effect: Skewness drops from 0.7419 to -0.4378, effectively compressing the tail and stabilizing variance.</a:t>
            </a:r>
            <a:endParaRPr/>
          </a:p>
        </p:txBody>
      </p:sp>
      <p:pic>
        <p:nvPicPr>
          <p:cNvPr descr="eda_income_transform.png" id="131" name="Google Shape;1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965960"/>
            <a:ext cx="521208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 txBox="1"/>
          <p:nvPr/>
        </p:nvSpPr>
        <p:spPr>
          <a:xfrm>
            <a:off x="6217920" y="571500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Figure 11: Annual income distribution before and after log-transformation, compressing the tail.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Exploratory Data Analysis: Shapiro-Wilk</a:t>
            </a:r>
            <a:endParaRPr/>
          </a:p>
        </p:txBody>
      </p:sp>
      <p:sp>
        <p:nvSpPr>
          <p:cNvPr id="139" name="Google Shape;139;p19"/>
          <p:cNvSpPr txBox="1"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Shapiro-Wilk Gaussianity Test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We formally test whether continuous features are normally distributed. Hypotheses are defined as: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H0: The sample is drawn from a normal distribution.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H1: The sample is not normally distributed.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Test Execution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Shapiro-Wilk W-statistic measures correlation between observed values and normal order statistics.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Executed on a random sample of 5,000 observations (test constraint).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Results for person_income: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Raw Income: W = 0.9103, p-value &lt; 2.2e-16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Log Income: W = 0.9854, p-value = 3.42e-12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Decision: Reject H0 at alpha = 0.05. Even after log-transformation, data remains non-normal, requiring non-parametric validations.</a:t>
            </a:r>
            <a:endParaRPr/>
          </a:p>
        </p:txBody>
      </p:sp>
      <p:graphicFrame>
        <p:nvGraphicFramePr>
          <p:cNvPr id="140" name="Google Shape;140;p19"/>
          <p:cNvGraphicFramePr/>
          <p:nvPr/>
        </p:nvGraphicFramePr>
        <p:xfrm>
          <a:off x="6217920" y="1965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{57690EF6-6D9E-45FB-AB7F-457ED2B3F4E2}</a:tableStyleId>
              </a:tblPr>
              <a:tblGrid>
                <a:gridCol w="1828800"/>
                <a:gridCol w="1097275"/>
                <a:gridCol w="1097275"/>
                <a:gridCol w="1188725"/>
              </a:tblGrid>
              <a:tr h="127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 Statistic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p-value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Conclusion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</a:tr>
              <a:tr h="127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person_income (Raw)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0.9103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 2.2e-16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Reject Normality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1279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log_person_income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0.9854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3.42e-12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Reject Normality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Exploratory Data Analysis: CLT Simulation</a:t>
            </a:r>
            <a:endParaRPr/>
          </a:p>
        </p:txBody>
      </p:sp>
      <p:sp>
        <p:nvSpPr>
          <p:cNvPr id="147" name="Google Shape;147;p20"/>
          <p:cNvSpPr txBox="1"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Central Limit Theorem (CLT) Theory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Even if individual borrower observations are non-normal, the CLT guarantees that the sampling distribution of the mean converges to normality as sample size increases: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X̄ₙ ~ N(μ, σ²/n)  as  n → ∞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Empirical Bootstrap Simulation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Drew 5,000 bootstrap samples from the skewed income population at sample sizes n = 5, 30, and 200.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Rationale: Assess convergence rate.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Analysis of Results (Figure 13):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At n=5, distribution remains skewed (W=0.9575, p &lt; 0.05).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At n=30, shape looks bell-like but rejected (W=0.9882, p &lt; 0.05).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At n=200, converges to normal (W=0.9991, p = 0.12 &gt; 0.05).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Conclusion: Validates use of standard parametric t-tests and ANOVA.</a:t>
            </a:r>
            <a:endParaRPr/>
          </a:p>
        </p:txBody>
      </p:sp>
      <p:pic>
        <p:nvPicPr>
          <p:cNvPr descr="eda_clt_simulation.png" id="148" name="Google Shape;1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965960"/>
            <a:ext cx="521208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/>
        </p:nvSpPr>
        <p:spPr>
          <a:xfrm>
            <a:off x="6217920" y="571500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Figure 13: Bootstrap sampling distributions of mean income. Normal convergence is reached at n = 200.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Exploratory Data Analysis: Correlations</a:t>
            </a:r>
            <a:endParaRPr/>
          </a:p>
        </p:txBody>
      </p:sp>
      <p:sp>
        <p:nvSpPr>
          <p:cNvPr id="156" name="Google Shape;156;p21"/>
          <p:cNvSpPr txBox="1"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Feature Correlation Profile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Pearson correlation r measures linear relationships between features: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Target Default (`loan_status`) Correlations: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Positive: `loan_percent_income` (r = 0.380) and `loan_int_rate` (r = 0.334) are the strongest linear drivers of default.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Negative: `person_income` (r = -0.140) shows that higher earners are less likely to default.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• Multicollinearity Risks Detected: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High correlation between borrower age and credit history length: `person_age` vs `cb_person_cred_hist_length` (r = 0.836).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Rationale: High linear redundancy between age and history length will necessitate a formal Variance Inflation Factor (VIF) audit.</a:t>
            </a:r>
            <a:endParaRPr/>
          </a:p>
        </p:txBody>
      </p:sp>
      <p:pic>
        <p:nvPicPr>
          <p:cNvPr descr="eda_correlation.png" id="157" name="Google Shape;15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965960"/>
            <a:ext cx="521208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/>
          <p:nvPr/>
        </p:nvSpPr>
        <p:spPr>
          <a:xfrm>
            <a:off x="6217920" y="571500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Figure 14: Heatmap showing linear correlation coefficients between numerical inputs.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type="title"/>
          </p:nvPr>
        </p:nvSpPr>
        <p:spPr>
          <a:xfrm>
            <a:off x="383800" y="685800"/>
            <a:ext cx="11908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Exploratory Data Analysis: Categorical Risk Trends</a:t>
            </a:r>
            <a:endParaRPr/>
          </a:p>
        </p:txBody>
      </p:sp>
      <p:sp>
        <p:nvSpPr>
          <p:cNvPr id="165" name="Google Shape;165;p22"/>
          <p:cNvSpPr txBox="1"/>
          <p:nvPr/>
        </p:nvSpPr>
        <p:spPr>
          <a:xfrm>
            <a:off x="731520" y="1965960"/>
            <a:ext cx="51207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Exploratory Categorical Risks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We explore default rates across categorical borrower and loan variables: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Home Ownership Impact: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RENT: Highest default rate (~31%), signaling lower asset stability.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OWN &amp; MORTGAGE: Lower default rates (~7% and ~12% respectively), indicating stronger borrower net worth.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Loan Intent Impact: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</a:t>
            </a:r>
            <a:r>
              <a:rPr lang="en-US" sz="1200">
                <a:solidFill>
                  <a:srgbClr val="1E1E1E"/>
                </a:solidFill>
              </a:rPr>
              <a:t>DEBT CONSOLIDATION</a:t>
            </a: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&amp; MEDICAL: Highest default rates (~28%), signaling borrowers under financial stress.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VENTURE &amp; EDUCATION: Lower default rates (~15%), indicating capital investments with potential future returns.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Rationale: These </a:t>
            </a:r>
            <a:r>
              <a:rPr lang="en-US" sz="1300">
                <a:solidFill>
                  <a:srgbClr val="1E1E1E"/>
                </a:solidFill>
              </a:rPr>
              <a:t>nonlinear</a:t>
            </a: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differences support nominal feature one-hot encoding for machine learning models.</a:t>
            </a:r>
            <a:endParaRPr/>
          </a:p>
        </p:txBody>
      </p:sp>
      <p:pic>
        <p:nvPicPr>
          <p:cNvPr descr="eda_categorical_risk.png" id="166" name="Google Shape;1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965960"/>
            <a:ext cx="521208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 txBox="1"/>
          <p:nvPr/>
        </p:nvSpPr>
        <p:spPr>
          <a:xfrm>
            <a:off x="6217920" y="571500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Figure 15: Observed default rates across borrower housing and loan purpose features.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>
            <p:ph type="title"/>
          </p:nvPr>
        </p:nvSpPr>
        <p:spPr>
          <a:xfrm>
            <a:off x="914400" y="1600200"/>
            <a:ext cx="10363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-US"/>
              <a:t>Section 2:</a:t>
            </a:r>
            <a:endParaRPr/>
          </a:p>
          <a:p>
            <a:pPr indent="0" lvl="0" marL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-US"/>
              <a:t>Model Selection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Selection: Preprocessing Pipeline</a:t>
            </a:r>
            <a:endParaRPr/>
          </a:p>
        </p:txBody>
      </p:sp>
      <p:sp>
        <p:nvSpPr>
          <p:cNvPr id="180" name="Google Shape;180;p24"/>
          <p:cNvSpPr txBox="1"/>
          <p:nvPr/>
        </p:nvSpPr>
        <p:spPr>
          <a:xfrm>
            <a:off x="731520" y="196596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Shared Scikit-Learn Preprocessing Pipeline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To ensure that raw and new applicant inputs are handled consistently, we build a standardized preprocessing pipeline.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Numeric Features Scaling: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Standardizes continuous inputs using Z-score scaling to assist distance-based models (such as Ridge or Logistic Regression):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z = (x - μ) / σ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Nominal Categorical Encoding: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Converts nominal categories (e.g. `person_home_ownership`, `loan_intent`) into numeric fields via One-Hot Encoding, preventing arbitrary ordering bias.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Ordinal Encoding: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Maps ordinal variables (`loan_grade` A-G) directly to numeric equivalents (0-6) to preserve risk sequencing.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Pipeline Save Integration: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The final fitted pipelines are saved as single jobs using `joblib`. This ensures that downstream application inference uses the exact same scaling centers.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Selection: Train-Test Partitioning</a:t>
            </a:r>
            <a:endParaRPr/>
          </a:p>
        </p:txBody>
      </p:sp>
      <p:sp>
        <p:nvSpPr>
          <p:cNvPr id="187" name="Google Shape;187;p25"/>
          <p:cNvSpPr txBox="1"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Classification Data Splitting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Split Ratio: 80% train and 20% validation test partition.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Stratified Sampling: Stratification is applied to binary classifications to maintain the 22.44% default rate in both subsets, preventing model evaluation bias.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Train Set: 23,653 observations; Test Set: 5,914 observations.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Regression Data Splitting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Target Groups: Regressions are fitted specifically on non-defaulting loans (18,344 train, 4,587 test) to establish standard lending rate behaviors.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Reproducibility: Seed set at `RANDOM_STATE = 42` to ensure consistent data splits across notebooks.</a:t>
            </a:r>
            <a:endParaRPr/>
          </a:p>
        </p:txBody>
      </p:sp>
      <p:graphicFrame>
        <p:nvGraphicFramePr>
          <p:cNvPr id="188" name="Google Shape;188;p25"/>
          <p:cNvGraphicFramePr/>
          <p:nvPr/>
        </p:nvGraphicFramePr>
        <p:xfrm>
          <a:off x="6217920" y="18287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{57690EF6-6D9E-45FB-AB7F-457ED2B3F4E2}</a:tableStyleId>
              </a:tblPr>
              <a:tblGrid>
                <a:gridCol w="1645925"/>
                <a:gridCol w="1280150"/>
                <a:gridCol w="1280150"/>
                <a:gridCol w="1280150"/>
              </a:tblGrid>
              <a:tr h="977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Partition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Classification Rows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Regression Rows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Rate 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</a:tr>
              <a:tr h="977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Training Set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23,653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18,344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22.44%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977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Test/Val Set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5,914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4,587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22.44%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977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Dataset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29,567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22,931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22.44%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Selection: Logistic Regression</a:t>
            </a:r>
            <a:endParaRPr/>
          </a:p>
        </p:txBody>
      </p:sp>
      <p:sp>
        <p:nvSpPr>
          <p:cNvPr id="195" name="Google Shape;195;p26"/>
          <p:cNvSpPr txBox="1"/>
          <p:nvPr/>
        </p:nvSpPr>
        <p:spPr>
          <a:xfrm>
            <a:off x="731520" y="196596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Logistic Regression Classifier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Rationale: Serves as the classic parametric baseline for default classification.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Formulates the probability of default using the logistic link function: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P(Y = 1 | X) = 1 / (1 + e^-(β₀ + β₁X₁ + β₂X₂ + ...))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Parameter Configuration: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Solver: L-BFGS optimization algorithm.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Regularization: L2 penalty default.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Class Balancing: Enforced `class_weight='balanced'`.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Balances class weighting: Assigns higher weights to default cases to correct for the 22.4% imbalance, forcing the solver to focus on minority-class errors.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Selection: Random Forest</a:t>
            </a:r>
            <a:endParaRPr/>
          </a:p>
        </p:txBody>
      </p:sp>
      <p:sp>
        <p:nvSpPr>
          <p:cNvPr id="202" name="Google Shape;202;p27"/>
          <p:cNvSpPr txBox="1"/>
          <p:nvPr/>
        </p:nvSpPr>
        <p:spPr>
          <a:xfrm>
            <a:off x="731520" y="196596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Random Forest Classifier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Rationale: Non-parametric tree ensemble model. Bypasses linear assumptions by constructing independent decision trees.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Parameter Configuration: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`n_estimators = 300`: Generates 300 decision trees to average predictions and reduce variance.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`class_weight = 'balanced'`: Enforces balanced node splitting to capture default indicators.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`n_jobs = -1`: Uses all CPU cores for training.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Splitting Logic: Trees are built through Bootstrap Aggregation (bagging) where each split evaluates random subsets of features, capturing complex interactions like debt-to-income and home ownership.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Selection: Gradient Boosting</a:t>
            </a:r>
            <a:endParaRPr/>
          </a:p>
        </p:txBody>
      </p:sp>
      <p:sp>
        <p:nvSpPr>
          <p:cNvPr id="209" name="Google Shape;209;p28"/>
          <p:cNvSpPr txBox="1"/>
          <p:nvPr/>
        </p:nvSpPr>
        <p:spPr>
          <a:xfrm>
            <a:off x="731520" y="196596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Gradient Boosting Classifier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Rationale: Sequential boosting tree ensemble. Builds trees that sequentially correct the errors of previous trees.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Iterative Loss Minimization: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Uses gradient descent to minimize log-loss (cross-entropy) at each step.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Parameter Configuration: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Base estimator: standard decision trees.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Learning rate: default 0.1.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Estimators count: standard 100 iterations.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Rationale: Represents a classic, untuned boosted baseline from Scikit-Learn to establish standard boosting performance prior to CatBoost implementation.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Selection: CatBoost</a:t>
            </a:r>
            <a:endParaRPr/>
          </a:p>
        </p:txBody>
      </p:sp>
      <p:sp>
        <p:nvSpPr>
          <p:cNvPr id="216" name="Google Shape;216;p29"/>
          <p:cNvSpPr txBox="1"/>
          <p:nvPr/>
        </p:nvSpPr>
        <p:spPr>
          <a:xfrm>
            <a:off x="731520" y="196596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CatBoost Classifier Champion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Rationale: State-of-the-art gradient boosting framework. Optimized specifically for categorical features and tabular data structures.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Parameter Configuration: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`iterations = 300`: Sequential boosting steps.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`learning_rate = 0.05`: Slow learning rate to prevent overfitting.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`depth = 6`: Restricts tree depth to 6 levels to reduce model complexity.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`eval_metric = 'AUC'`: Monitors AUC-ROC of default cases.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Symmetric Trees: Uses symmetric (oblivious) trees, which split on the same feature across each level. This reduces inference latency and prevents overfitting.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Selection: OLS &amp; Ridge Regressors</a:t>
            </a:r>
            <a:endParaRPr/>
          </a:p>
        </p:txBody>
      </p:sp>
      <p:sp>
        <p:nvSpPr>
          <p:cNvPr id="223" name="Google Shape;223;p30"/>
          <p:cNvSpPr txBox="1"/>
          <p:nvPr/>
        </p:nvSpPr>
        <p:spPr>
          <a:xfrm>
            <a:off x="731520" y="196596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Ordinary Least Squares (OLS) Regressor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Rationale: Parametric linear regression baseline to predict interest rates (`loan_int_rate`).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Estimates parameters by minimizing the Sum of Squared Residuals (SSR):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β̂ = (XᵀX)⁻¹Xᵀy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Provides direct parameter coefficient values and p-values for statistical hypothesis tests.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Ridge Regression (L2 Regularization)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Regularized baseline: Adds a squared L2 penalty to the loss function to shrink parameters: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Loss = SSR + α · Σ(βⱼ²)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Alpha = 1.0: Mitigates multicollinearity between borrower age and credit history length.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Selection: Random Forest Regressor</a:t>
            </a:r>
            <a:endParaRPr/>
          </a:p>
        </p:txBody>
      </p:sp>
      <p:sp>
        <p:nvSpPr>
          <p:cNvPr id="230" name="Google Shape;230;p31"/>
          <p:cNvSpPr txBox="1"/>
          <p:nvPr/>
        </p:nvSpPr>
        <p:spPr>
          <a:xfrm>
            <a:off x="731520" y="196596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Random Forest Regressor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Rationale: Non-linear tree ensemble regressor. Averages predictions from multiple decision trees to model continuous variables without linear assumptions.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Parameter Configuration: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`n_estimators = 300`: 300 regression trees.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`min_samples_leaf = 10`: Minimum samples required in a leaf node.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`n_jobs = -1`: Multi-threaded CPU execution.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Regularization Benefit: Setting `min_samples_leaf=10` prevents trees from splitting to fit individual observations, smoothing predictions and reducing overfitting.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Selection: Boosting Regressors</a:t>
            </a:r>
            <a:endParaRPr/>
          </a:p>
        </p:txBody>
      </p:sp>
      <p:sp>
        <p:nvSpPr>
          <p:cNvPr id="237" name="Google Shape;237;p32"/>
          <p:cNvSpPr txBox="1"/>
          <p:nvPr/>
        </p:nvSpPr>
        <p:spPr>
          <a:xfrm>
            <a:off x="731520" y="196596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Gradient Boosting Regressor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Rationale: Sequential boosting tree regressor. Learns tree structures to minimize residuals squared errors step-by-step.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Targets: Optimized for continuous loan amount and percent of income regressions.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CatBoost Regressor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Rationale: Categorical-focused boosting framework. Optimized specifically for interest rate regressions.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Parameter Configuration: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`iterations = 300`: Sequential steps.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`learning_rate = 0.05`: Slowly adapts predictions.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`depth = 6`: Controls tree complexity.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`loss_function = 'RMSE'`: Minimizes root mean squared error.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Rationale: In our validation phase, Gradient Boosting performed best for loan amounts, while CatBoost excelled for interest rate modeling.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Selection: Bayesian Network Structure</a:t>
            </a:r>
            <a:endParaRPr/>
          </a:p>
        </p:txBody>
      </p:sp>
      <p:sp>
        <p:nvSpPr>
          <p:cNvPr id="244" name="Google Shape;244;p33"/>
          <p:cNvSpPr txBox="1"/>
          <p:nvPr/>
        </p:nvSpPr>
        <p:spPr>
          <a:xfrm>
            <a:off x="731520" y="196596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Bayesian Network Structure Learning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We use a white-box Bayesian approach on grouped variables to learn dependencies: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HillClimbSearch: Iteratively evaluates potential Directed Acyclic Graph (DAG) structures, searching for optimal causal fits.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BIC Scoring Method: Balances graph fit with complexity, penalizing dense graphs: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BIC = ln(n) · k - 2 · ln(L)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Complexity Bounds: Set `max_indegree=3` to limit each node to at most three parent nodes, keeping the graph readable.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Fit &amp; Inference: Fit Conditional Probability Tables (CPDs) using `MaximumLikelihoodEstimator` and run query inference with `VariableElimination`.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 txBox="1"/>
          <p:nvPr>
            <p:ph type="title"/>
          </p:nvPr>
        </p:nvSpPr>
        <p:spPr>
          <a:xfrm>
            <a:off x="914400" y="1600200"/>
            <a:ext cx="10363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-US"/>
              <a:t>Section 3:</a:t>
            </a:r>
            <a:endParaRPr/>
          </a:p>
          <a:p>
            <a:pPr indent="0" lvl="0" marL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-US"/>
              <a:t>Model Analysis &amp; Diagnostics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Analysis: Classifier ROC &amp; PR Curves</a:t>
            </a:r>
            <a:endParaRPr/>
          </a:p>
        </p:txBody>
      </p:sp>
      <p:sp>
        <p:nvSpPr>
          <p:cNvPr id="257" name="Google Shape;257;p35"/>
          <p:cNvSpPr txBox="1"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Classification Performance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CatBoost Outperformed All Competitors: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ROC-AUC = 0.9429: Excellent class discriminative ability.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PR-AUC = 0.9003: High accuracy on the default class.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Curve Analysis (Figure 28):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ROC curve rises steeply, showing clean class separation.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PR curve stays near 1.0 precision up to 70% recall, meaning we catch 70% of defaults with virtually zero false alarms.</a:t>
            </a:r>
            <a:endParaRPr/>
          </a:p>
        </p:txBody>
      </p:sp>
      <p:pic>
        <p:nvPicPr>
          <p:cNvPr descr="model_roc_pr.png" id="258" name="Google Shape;25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965960"/>
            <a:ext cx="521208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5"/>
          <p:cNvSpPr txBox="1"/>
          <p:nvPr/>
        </p:nvSpPr>
        <p:spPr>
          <a:xfrm>
            <a:off x="6217920" y="571500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Figure 28: CatBoost ROC curve (AUC=0.9429) and PR curve (AUC=0.9003) on hold-out data.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Analysis: Classifier Calibration &amp; Brier</a:t>
            </a:r>
            <a:endParaRPr/>
          </a:p>
        </p:txBody>
      </p:sp>
      <p:sp>
        <p:nvSpPr>
          <p:cNvPr id="266" name="Google Shape;266;p36"/>
          <p:cNvSpPr txBox="1"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Probability Calibration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 credit risk model must return probabilities that align with actual default frequencies: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Brier Score: Measures prediction error: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Brier Score = (1/N) · Σ(pᵢ - yᵢ)²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Brier = 0.0532 (&lt; 0.15 indicates excellent probability calibration).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Reliability Plot (Figure 29)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Low risk (0.0-0.30): Model is slightly under-confident (actual defaults slightly higher than predicted).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Mid risk (0.30-0.60): Shows typical tree-based dispersion.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High risk (0.60-1.0): Follows ideal diagonal line, capturing high-risk profiles.</a:t>
            </a:r>
            <a:endParaRPr/>
          </a:p>
        </p:txBody>
      </p:sp>
      <p:pic>
        <p:nvPicPr>
          <p:cNvPr descr="model_calibration.png" id="267" name="Google Shape;26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965960"/>
            <a:ext cx="521208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6"/>
          <p:cNvSpPr txBox="1"/>
          <p:nvPr/>
        </p:nvSpPr>
        <p:spPr>
          <a:xfrm>
            <a:off x="6217920" y="571500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Figure 29: Calibration curve mapping predicted probabilities against observed default rates.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Analysis: Decision Threshold Tuning</a:t>
            </a:r>
            <a:endParaRPr/>
          </a:p>
        </p:txBody>
      </p:sp>
      <p:sp>
        <p:nvSpPr>
          <p:cNvPr id="275" name="Google Shape;275;p37"/>
          <p:cNvSpPr txBox="1"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Tuning the Decision Boundary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Lenders can adjust the classification threshold to reflect asymmetric costs: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0.24 (Aggressive): Lowers cutoff. Recalls 78.45% of defaults but creates 157 false positives. Recommended for risk-averse strategies.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0.50 (Balanced): Standard cutoff. Yields optimal balanced F1-score of 0.8403, and limits false positives to only 9. Recommended for standard portfolios.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0.75 (Conservative): Catches only 70.31% of defaults, but achieves near-perfect precision (99.89%). Good when funding is highly constrained.</a:t>
            </a:r>
            <a:endParaRPr/>
          </a:p>
        </p:txBody>
      </p:sp>
      <p:pic>
        <p:nvPicPr>
          <p:cNvPr descr="model_confusion_matrices.png" id="276" name="Google Shape;27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965960"/>
            <a:ext cx="521208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/>
        </p:nvSpPr>
        <p:spPr>
          <a:xfrm>
            <a:off x="6217920" y="571500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Figure 30: Heatmaps showing confusion matrices at 0.24 and 0.50 thresholds on holdout data.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8"/>
          <p:cNvSpPr txBox="1"/>
          <p:nvPr>
            <p:ph type="title"/>
          </p:nvPr>
        </p:nvSpPr>
        <p:spPr>
          <a:xfrm>
            <a:off x="628350" y="685800"/>
            <a:ext cx="11302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Analysis: Segment Performance by Grade</a:t>
            </a:r>
            <a:endParaRPr/>
          </a:p>
        </p:txBody>
      </p:sp>
      <p:sp>
        <p:nvSpPr>
          <p:cNvPr id="284" name="Google Shape;284;p38"/>
          <p:cNvSpPr txBox="1"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Segment Performance Audits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We evaluate model accuracy separately across credit grades A-G to find weak segments: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Grade A (Low Risk): Accuracy is very high (96.41%), with a low default rate (10.20%).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Grade C (Mid Risk): Hardest segment to classify (89.70% accuracy), due to high overlap between default and non-default distributions.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Grades E-G (High Risk): Accuracy is high (91.67% to 100.00%) because defaults dominate these categories.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Limitations: Sample size is highly skewed. Grades F and G have very few observations (16 and 12), so their accuracy metrics are less stable.</a:t>
            </a:r>
            <a:endParaRPr/>
          </a:p>
        </p:txBody>
      </p:sp>
      <p:pic>
        <p:nvPicPr>
          <p:cNvPr descr="model_grade_performance.png" id="285" name="Google Shape;28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965960"/>
            <a:ext cx="521208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8"/>
          <p:cNvSpPr txBox="1"/>
          <p:nvPr/>
        </p:nvSpPr>
        <p:spPr>
          <a:xfrm>
            <a:off x="6217920" y="571500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Figure 31: Accuracy compared with actual default rate per credit grade segment.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9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Analysis: Classification SHAP</a:t>
            </a:r>
            <a:endParaRPr/>
          </a:p>
        </p:txBody>
      </p:sp>
      <p:sp>
        <p:nvSpPr>
          <p:cNvPr id="293" name="Google Shape;293;p39"/>
          <p:cNvSpPr txBox="1"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SHAP Game-Theoretic Attributions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SHAP values decompose predictions into individual feature contributions, explaining decision paths: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Income-to-Loan Ratio (Rank 1): Strongest risk dampener. Borrowers earning much more than they borrow are low risk.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Rent Status (Rank 2): Strongest risk driver. Renters show lower asset stability.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Loan Percent of Income (Rank 3): High debt-to-income ratios increase default risk.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Home Ownership (Rank 4): Owning home indicates financial stability and reduces risk.</a:t>
            </a:r>
            <a:endParaRPr/>
          </a:p>
        </p:txBody>
      </p:sp>
      <p:pic>
        <p:nvPicPr>
          <p:cNvPr descr="shap_classification.png" id="294" name="Google Shape;29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965960"/>
            <a:ext cx="521208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9"/>
          <p:cNvSpPr txBox="1"/>
          <p:nvPr/>
        </p:nvSpPr>
        <p:spPr>
          <a:xfrm>
            <a:off x="6217920" y="571500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Figure 32: Mean absolute SHAP values for top 10 features influencing default classification.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0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Analysis: Bayesian Causal Inference</a:t>
            </a:r>
            <a:endParaRPr/>
          </a:p>
        </p:txBody>
      </p:sp>
      <p:sp>
        <p:nvSpPr>
          <p:cNvPr id="302" name="Google Shape;302;p40"/>
          <p:cNvSpPr txBox="1"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White-Box Probability DAG Structure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We trained a Bayesian Network using pgmpy's `HillClimbSearch` and the BIC scoring method to capture causal flows: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Graph Constraints: Maximum in-degree of 3 was enforced to ensure visual and logical simplicity.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Learned Causal Links (Figure 33):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Home Ownership -&gt; Default Status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Credit Grade -&gt; Default Status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Loan Burden % -&gt; Default Status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White-Box Reasoning Benefits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Unlike black-box ML models, Bayesian networks provide exact conditional probabilities that regulators can audit.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Used for probability inference via Variable Elimination when specific evidence is provided.</a:t>
            </a:r>
            <a:endParaRPr/>
          </a:p>
        </p:txBody>
      </p:sp>
      <p:pic>
        <p:nvPicPr>
          <p:cNvPr descr="model_bayesian_dag.png" id="303" name="Google Shape;30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965960"/>
            <a:ext cx="521208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0"/>
          <p:cNvSpPr txBox="1"/>
          <p:nvPr/>
        </p:nvSpPr>
        <p:spPr>
          <a:xfrm>
            <a:off x="6217920" y="571500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Figure 33: Directed Acyclic Graph (DAG) showing causal dependencies learned from credit data.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1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Analysis: Regression Performance</a:t>
            </a:r>
            <a:endParaRPr/>
          </a:p>
        </p:txBody>
      </p:sp>
      <p:sp>
        <p:nvSpPr>
          <p:cNvPr id="311" name="Google Shape;311;p41"/>
          <p:cNvSpPr txBox="1"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Lending Regression Benchmarks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We evaluate regression models on non-defaulting loans across three targets: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1. Loan Amount (R2 = 0.198, MAE = $3,869): Moderate fit. Predictions cluster near the mean, underestimating large loans. Suitable for high-level estimates.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2. Loan % Income (R2 = 0.092, MAE = 0.065): Weakest regressor. Shows limited predictive power, as loan-to-income ratios are heavily driven by external factors.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3. Interest Rate (R2 = 0.222, MAE = 2.06%): Best performer. Captures credit grade and prior default relationships.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Conclusion: Regression targets are heavily driven by lender policy and market rates not present in this dataset.</a:t>
            </a:r>
            <a:endParaRPr/>
          </a:p>
        </p:txBody>
      </p:sp>
      <p:graphicFrame>
        <p:nvGraphicFramePr>
          <p:cNvPr id="312" name="Google Shape;312;p41"/>
          <p:cNvGraphicFramePr/>
          <p:nvPr/>
        </p:nvGraphicFramePr>
        <p:xfrm>
          <a:off x="6217920" y="1965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{57690EF6-6D9E-45FB-AB7F-457ED2B3F4E2}</a:tableStyleId>
              </a:tblPr>
              <a:tblGrid>
                <a:gridCol w="1097275"/>
                <a:gridCol w="640075"/>
                <a:gridCol w="914400"/>
                <a:gridCol w="914400"/>
                <a:gridCol w="914400"/>
                <a:gridCol w="1005850"/>
              </a:tblGrid>
              <a:tr h="96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Target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RMSE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Assessment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</a:tr>
              <a:tr h="96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Loan Amount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0.1978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$3,869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$5,048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73.7%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Moderate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96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Loan % Income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0.0918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0.065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0.082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73.9%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Weak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96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Interest Rate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0.2223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2.06%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2.53%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22.5%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Moderate (Best)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2"/>
          <p:cNvSpPr txBox="1"/>
          <p:nvPr>
            <p:ph type="title"/>
          </p:nvPr>
        </p:nvSpPr>
        <p:spPr>
          <a:xfrm>
            <a:off x="681500" y="685800"/>
            <a:ext cx="116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Analysis: Interest Rate OLS Diagnostics</a:t>
            </a:r>
            <a:endParaRPr/>
          </a:p>
        </p:txBody>
      </p:sp>
      <p:sp>
        <p:nvSpPr>
          <p:cNvPr id="319" name="Google Shape;319;p42"/>
          <p:cNvSpPr txBox="1"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OLS Diagnostic Plots Analysis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Residuals vs. Fitted (Top Left): Residuals scatter randomly around zero. A wider spread at higher rates indicates mild heteroscedasticity.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Normal Q-Q Plot (Top Right): Points align with the 45-degree line, though heavy tails indicate occasional large errors.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Scale-Location (Bottom Left): Constant spread confirms that non-constant variance is mild.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Residual Histogram (Bottom Right): Symmetric and centered at zero (mean = -0.0003), confirming that estimates are unbiased.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Summary: Satisfies basic regression assumptions, providing unbiased interest rate estimates.</a:t>
            </a:r>
            <a:endParaRPr/>
          </a:p>
        </p:txBody>
      </p:sp>
      <p:pic>
        <p:nvPicPr>
          <p:cNvPr descr="model_regression_diagnostics.png" id="320" name="Google Shape;32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965960"/>
            <a:ext cx="521208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2"/>
          <p:cNvSpPr txBox="1"/>
          <p:nvPr/>
        </p:nvSpPr>
        <p:spPr>
          <a:xfrm>
            <a:off x="6217920" y="571500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Figure 35: Four-panel OLS residual diagnostics for the interest rate regression model.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3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Analysis: Interest Rate MAE by Grade</a:t>
            </a:r>
            <a:endParaRPr/>
          </a:p>
        </p:txBody>
      </p:sp>
      <p:sp>
        <p:nvSpPr>
          <p:cNvPr id="328" name="Google Shape;328;p43"/>
          <p:cNvSpPr txBox="1"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Interest Rate Prediction by Credit Grade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We evaluate interest rate MAE separately for each credit grade segment: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Grade B (Largest Class): Achieved the best performance with an MAE of 1.17 percentage points, benefiting from data consistency.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Grade C: Achieved moderate performance with an MAE of 2.13 percentage points.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Grades E &amp; F: Showed the largest errors (MAE of 5.44 and 5.71 percentage points).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Risk Gradient Pattern: Prediction error increases for higher-risk credit grades due to limited training samples and greater interest rate variance in these categories.</a:t>
            </a:r>
            <a:endParaRPr/>
          </a:p>
        </p:txBody>
      </p:sp>
      <p:graphicFrame>
        <p:nvGraphicFramePr>
          <p:cNvPr id="329" name="Google Shape;329;p43"/>
          <p:cNvGraphicFramePr/>
          <p:nvPr/>
        </p:nvGraphicFramePr>
        <p:xfrm>
          <a:off x="6217920" y="1965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{57690EF6-6D9E-45FB-AB7F-457ED2B3F4E2}</a:tableStyleId>
              </a:tblPr>
              <a:tblGrid>
                <a:gridCol w="1097275"/>
                <a:gridCol w="1097275"/>
                <a:gridCol w="1097275"/>
                <a:gridCol w="1097275"/>
                <a:gridCol w="1097275"/>
              </a:tblGrid>
              <a:tr h="55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Mean Rate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MAE (p.p.)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Std Error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Samples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</a:tr>
              <a:tr h="55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7.63%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2.457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1.141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1,809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55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10.98%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1.166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0.783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1,570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5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13.26%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2.128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1.533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55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14.99%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3.401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2.223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5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16.62%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5.440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2.448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55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17.99%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5.708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2.670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Analysis: Regression SHAP</a:t>
            </a:r>
            <a:endParaRPr/>
          </a:p>
        </p:txBody>
      </p:sp>
      <p:sp>
        <p:nvSpPr>
          <p:cNvPr id="336" name="Google Shape;336;p44"/>
          <p:cNvSpPr txBox="1"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Interest Rate Regressor Explanation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SHAP feature attribution identifies the main drivers of the predicted interest rate: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Prior Default (default_on_file_binary) (Rank 1): Strongest positive driver. Borrowers with historical defaults are charged higher rates.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Mortgage (Rank 3): Strongest rate reducer. Having a mortgage indicates asset stability and reduces rates.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Rent Status (Rank 4): Renting increases risk and pushes interest rates higher.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Loan Intent: Education and Medical loans reduce interest rates, while Debt Consolidation increases them.</a:t>
            </a:r>
            <a:endParaRPr/>
          </a:p>
        </p:txBody>
      </p:sp>
      <p:pic>
        <p:nvPicPr>
          <p:cNvPr descr="shap_regression.png" id="337" name="Google Shape;33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965960"/>
            <a:ext cx="521208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4"/>
          <p:cNvSpPr txBox="1"/>
          <p:nvPr/>
        </p:nvSpPr>
        <p:spPr>
          <a:xfrm>
            <a:off x="6217920" y="571500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Figure 37: Mean absolute SHAP values for top 10 features influencing interest rate predictions.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5"/>
          <p:cNvSpPr txBox="1"/>
          <p:nvPr>
            <p:ph type="title"/>
          </p:nvPr>
        </p:nvSpPr>
        <p:spPr>
          <a:xfrm>
            <a:off x="914400" y="1600200"/>
            <a:ext cx="10363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-US"/>
              <a:t>Section 4:</a:t>
            </a:r>
            <a:endParaRPr/>
          </a:p>
          <a:p>
            <a:pPr indent="0" lvl="0" marL="0" rtl="0" algn="ctr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-US"/>
              <a:t>Conclusion &amp; References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6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Operations: Example Applicant</a:t>
            </a:r>
            <a:endParaRPr/>
          </a:p>
        </p:txBody>
      </p:sp>
      <p:sp>
        <p:nvSpPr>
          <p:cNvPr id="351" name="Google Shape;351;p46"/>
          <p:cNvSpPr txBox="1"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Model Inference on Sample Applicant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We run our saved pipelines on an example applicant to test operations: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CatBoost ML Pipeline: Predicts default probability = 98.60%, resulting in a Default decision.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Bayesian Network: Predicts default probability = 85.36%, agreeing with a Default decision.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Regression Benchmarks: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Predicted Loan Amount = $8,943.68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Income-Based Limit = $8,952.72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Conservative Recommended Loan = $8,943.68 (the lower of the two values).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  - Estimated Interest Rate = 10.13%</a:t>
            </a:r>
            <a:endParaRPr/>
          </a:p>
        </p:txBody>
      </p:sp>
      <p:graphicFrame>
        <p:nvGraphicFramePr>
          <p:cNvPr id="352" name="Google Shape;352;p46"/>
          <p:cNvGraphicFramePr/>
          <p:nvPr/>
        </p:nvGraphicFramePr>
        <p:xfrm>
          <a:off x="6217920" y="19659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{57690EF6-6D9E-45FB-AB7F-457ED2B3F4E2}</a:tableStyleId>
              </a:tblPr>
              <a:tblGrid>
                <a:gridCol w="1645925"/>
                <a:gridCol w="1097275"/>
                <a:gridCol w="1097275"/>
                <a:gridCol w="1645925"/>
              </a:tblGrid>
              <a:tr h="96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 / Value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Decision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Interpretation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70B9"/>
                    </a:solidFill>
                  </a:tcPr>
                </a:tc>
              </a:tr>
              <a:tr h="96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CatBoost ML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98.60%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Risk exceeds cutoff (0.50)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  <a:tr h="96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Bayesian Net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85.36%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Agrees with ML output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96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Loan Amount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$8,943.68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Review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u="none" cap="none" strike="noStrike">
                          <a:solidFill>
                            <a:srgbClr val="32323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Conservative rate limit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"/>
          <p:cNvSpPr txBox="1"/>
          <p:nvPr>
            <p:ph type="title"/>
          </p:nvPr>
        </p:nvSpPr>
        <p:spPr>
          <a:xfrm>
            <a:off x="914400" y="6858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Conclusion, Limitations &amp; Recommendations</a:t>
            </a:r>
            <a:endParaRPr/>
          </a:p>
        </p:txBody>
      </p:sp>
      <p:sp>
        <p:nvSpPr>
          <p:cNvPr id="359" name="Google Shape;359;p47"/>
          <p:cNvSpPr txBox="1"/>
          <p:nvPr/>
        </p:nvSpPr>
        <p:spPr>
          <a:xfrm>
            <a:off x="731520" y="196596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Key Findings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CatBoost classifier is production-ready, achieving a ROC-AUC of 0.9429 and precision of 99.08% at a 0.50 threshold.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OLS regression provides unbiased interest rate estimates (MAE = 2.06 percentage points), with error rising for higher-risk grades.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SHAP feature attribution identifies economic leverage and prior default history as the strongest drivers of interest rates and risk.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Methodological Limitations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Observational data limits: Learned parameters reflect historical lending decisions, which may carry systemic biases.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Data filtering: IQR filters removed 9.25% of observations, including some high-income profiles.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Actionable Operational Recommendations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Operational Threshold: Deploy at a 0.50 threshold (F1 = 0.8403) for standard portfolios. Use 0.24 (recall = 78.45%) for high-risk portfolios.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Feature engineering: Add credit score bins and macroeconomic variables to improve interest rate predictions.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8"/>
          <p:cNvSpPr txBox="1"/>
          <p:nvPr>
            <p:ph type="title"/>
          </p:nvPr>
        </p:nvSpPr>
        <p:spPr>
          <a:xfrm>
            <a:off x="731525" y="685800"/>
            <a:ext cx="10546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366" name="Google Shape;366;p48"/>
          <p:cNvSpPr txBox="1"/>
          <p:nvPr/>
        </p:nvSpPr>
        <p:spPr>
          <a:xfrm>
            <a:off x="731520" y="1965960"/>
            <a:ext cx="10698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0B9"/>
                </a:solidFill>
                <a:latin typeface="Arial"/>
                <a:ea typeface="Arial"/>
                <a:cs typeface="Arial"/>
                <a:sym typeface="Arial"/>
              </a:rPr>
              <a:t>Key References &amp; Citations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Altman, E. I. (1968). Financial ratios, discriminant analysis and the prediction of corporate bankruptcy. The Journal of Finance, 23(4), 589-609.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Baesens, B., et al. (2003). Benchmarking state-of-the-art credit scoring models. Journal of the Operational Research Society, 54(6), 627-635.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Breiman, L. (2001). Random forests. Machine Learning, 45(1), 5-32.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Brier, G. W. (1950). Verification of forecasts expressed in terms of probability. Monthly Weather Review, 78(1), 1-3.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Friedman, J. H. (2001). Greedy function approximation: A Gradient Boosting machine. Annals of Statistics, 29(5), 1189-1232.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Heckerman, D. (1997). Bayesian Networks for data mining. Data Mining and Knowledge Discovery, 1(1), 79-119.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Little, R. J., &amp; Rubin, D. B. (2019). Statistical analysis with missing data (3rd ed.). Wiley.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Lundberg, S. M., &amp; Lee, S.-I. (2017). A unified approach to interpreting model predictions. NeurIPS, 30, 4765-4774.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Prokhorenkova, L., et al. (2018). CatBoost: unbiased boosting with categorical features. NeurIPS, 31, 6638-6648.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Shapiro, S. S., &amp; Wilk, M. B. (1965). An analysis of variance test for normality. Biometrika, 52(3/4), 591-611.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• Tukey, J. W. (1977). Exploratory data analysis. Addison-Wesley.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Theme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