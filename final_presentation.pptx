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30"/>
    <p:sldId id="257" r:id="rId31"/>
    <p:sldId id="258" r:id="rId32"/>
    <p:sldId id="259" r:id="rId33"/>
    <p:sldId id="260" r:id="rId34"/>
    <p:sldId id="261"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1" r:id="rId55"/>
    <p:sldId id="282" r:id="rId56"/>
    <p:sldId id="283" r:id="rId57"/>
    <p:sldId id="284" r:id="rId58"/>
    <p:sldId id="285" r:id="rId59"/>
    <p:sldId id="286" r:id="rId60"/>
    <p:sldId id="287" r:id="rId61"/>
    <p:sldId id="288" r:id="rId62"/>
    <p:sldId id="289" r:id="rId63"/>
    <p:sldId id="290" r:id="rId64"/>
    <p:sldId id="291" r:id="rId65"/>
    <p:sldId id="292" r:id="rId66"/>
    <p:sldId id="293" r:id="rId67"/>
    <p:sldId id="294" r:id="rId68"/>
    <p:sldId id="295" r:id="rId69"/>
    <p:sldId id="296" r:id="rId7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4A1AB0-D7A8-4616-94D4-31FF06979A7E}">
  <a:tblStyle styleId="{6B4A1AB0-D7A8-4616-94D4-31FF06979A7E}"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20000"/>
            </a:schemeClr>
          </a:solidFill>
        </a:fill>
      </a:tcStyle>
    </a:band1H>
    <a:band2H>
      <a:tcTxStyle/>
    </a:band2H>
    <a:band1V>
      <a:tcTxStyle/>
      <a:tcStyle>
        <a:fill>
          <a:solidFill>
            <a:schemeClr val="accent5">
              <a:alpha val="20000"/>
            </a:schemeClr>
          </a:solidFill>
        </a:fill>
      </a:tcStyle>
    </a:band1V>
    <a:band2V>
      <a:tcTxStyle/>
    </a:band2V>
    <a:lastCol>
      <a:tcTxStyle b="on" i="off"/>
    </a:lastCol>
    <a:firstCol>
      <a:tcTxStyle b="on" i="off"/>
    </a:firstCol>
    <a:lastRow>
      <a:tcTxStyle b="on" i="off"/>
      <a:tcStyle>
        <a:tcBdr>
          <a:top>
            <a:ln cap="flat" cmpd="sng" w="12700">
              <a:solidFill>
                <a:schemeClr val="accent5"/>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5"/>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AE313A01-6C75-4F54-852F-7489BBC36582}"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F9FA"/>
          </a:solidFill>
        </a:fill>
      </a:tcStyle>
    </a:wholeTbl>
    <a:band1H>
      <a:tcTxStyle/>
      <a:tcStyle>
        <a:fill>
          <a:solidFill>
            <a:srgbClr val="E7F3F4"/>
          </a:solidFill>
        </a:fill>
      </a:tcStyle>
    </a:band1H>
    <a:band2H>
      <a:tcTxStyle/>
    </a:band2H>
    <a:band1V>
      <a:tcTxStyle/>
      <a:tcStyle>
        <a:fill>
          <a:solidFill>
            <a:srgbClr val="E7F3F4"/>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51B77167-532D-4C07-BE96-7A436EF12B58}"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D"/>
          </a:solidFill>
        </a:fill>
      </a:tcStyle>
    </a:wholeTbl>
    <a:band1H>
      <a:tcTxStyle/>
      <a:tcStyle>
        <a:fill>
          <a:solidFill>
            <a:srgbClr val="CCCCD9"/>
          </a:solidFill>
        </a:fill>
      </a:tcStyle>
    </a:band1H>
    <a:band2H>
      <a:tcTxStyle/>
    </a:band2H>
    <a:band1V>
      <a:tcTxStyle/>
      <a:tcStyle>
        <a:fill>
          <a:solidFill>
            <a:srgbClr val="CCCCD9"/>
          </a:solidFill>
        </a:fill>
      </a:tcStyle>
    </a:band1V>
    <a:band2V>
      <a:tcTxStyle/>
    </a:band2V>
    <a:lastCol>
      <a:tcTxStyle b="on" i="off">
        <a:font>
          <a:latin typeface="Arial"/>
          <a:ea typeface="Arial"/>
          <a:cs typeface="Arial"/>
        </a:font>
        <a:schemeClr val="lt1"/>
      </a:tcTxStyle>
      <a:tcStyle>
        <a:fill>
          <a:solidFill>
            <a:schemeClr val="accent6"/>
          </a:solidFill>
        </a:fill>
      </a:tcStyle>
    </a:lastCol>
    <a:firstCol>
      <a:tcTxStyle b="on" i="off">
        <a:font>
          <a:latin typeface="Arial"/>
          <a:ea typeface="Arial"/>
          <a:cs typeface="Arial"/>
        </a:font>
        <a:schemeClr val="lt1"/>
      </a:tcTxStyle>
      <a:tcStyle>
        <a:fill>
          <a:solidFill>
            <a:schemeClr val="accent6"/>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7" Type="http://schemas.openxmlformats.org/officeDocument/2006/relationships/slide" Target="slides/slide28.xml"/><Relationship Id="rId58" Type="http://schemas.openxmlformats.org/officeDocument/2006/relationships/slide" Target="slides/slide29.xml"/><Relationship Id="rId59" Type="http://schemas.openxmlformats.org/officeDocument/2006/relationships/slide" Target="slides/slide30.xml"/><Relationship Id="rId60" Type="http://schemas.openxmlformats.org/officeDocument/2006/relationships/slide" Target="slides/slide31.xml"/><Relationship Id="rId61" Type="http://schemas.openxmlformats.org/officeDocument/2006/relationships/slide" Target="slides/slide32.xml"/><Relationship Id="rId62" Type="http://schemas.openxmlformats.org/officeDocument/2006/relationships/slide" Target="slides/slide33.xml"/><Relationship Id="rId63" Type="http://schemas.openxmlformats.org/officeDocument/2006/relationships/slide" Target="slides/slide34.xml"/><Relationship Id="rId64" Type="http://schemas.openxmlformats.org/officeDocument/2006/relationships/slide" Target="slides/slide35.xml"/><Relationship Id="rId65" Type="http://schemas.openxmlformats.org/officeDocument/2006/relationships/slide" Target="slides/slide36.xml"/><Relationship Id="rId66" Type="http://schemas.openxmlformats.org/officeDocument/2006/relationships/slide" Target="slides/slide37.xml"/><Relationship Id="rId67" Type="http://schemas.openxmlformats.org/officeDocument/2006/relationships/slide" Target="slides/slide38.xml"/><Relationship Id="rId68" Type="http://schemas.openxmlformats.org/officeDocument/2006/relationships/slide" Target="slides/slide39.xml"/><Relationship Id="rId69" Type="http://schemas.openxmlformats.org/officeDocument/2006/relationships/slide" Target="slides/slide40.xml"/><Relationship Id="rId70"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SQuAD – Stanford Question Answer Dataset</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action on the duplicated records. Because, there are multiple unique questions with same context. Hence the duplication.</a:t>
            </a:r>
            <a:endParaRPr/>
          </a:p>
          <a:p>
            <a:pPr indent="0" lvl="0" marL="0" rtl="0" algn="l">
              <a:spcBef>
                <a:spcPts val="0"/>
              </a:spcBef>
              <a:spcAft>
                <a:spcPts val="0"/>
              </a:spcAft>
              <a:buNone/>
            </a:pPr>
            <a:r>
              <a:t/>
            </a:r>
            <a:endParaRPr/>
          </a:p>
        </p:txBody>
      </p:sp>
      <p:sp>
        <p:nvSpPr>
          <p:cNvPr id="92" name="Google Shape;9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 tagging also plays an important role in context management in NLP and chatbot development, by providing additional insights into the structure and meaning of user's input.</a:t>
            </a:r>
            <a:endParaRPr/>
          </a:p>
        </p:txBody>
      </p:sp>
      <p:sp>
        <p:nvSpPr>
          <p:cNvPr id="100" name="Google Shape;1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Named Entity Recognition (NER) can significantly help in context management, especially in tasks such as chatbot development, information retrieval, and natural language processing (NLP).</a:t>
            </a:r>
            <a:endParaRPr/>
          </a:p>
        </p:txBody>
      </p:sp>
      <p:sp>
        <p:nvSpPr>
          <p:cNvPr id="108" name="Google Shape;1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evaluating both the models </a:t>
            </a:r>
            <a:endParaRPr/>
          </a:p>
        </p:txBody>
      </p:sp>
      <p:sp>
        <p:nvSpPr>
          <p:cNvPr id="200" name="Google Shape;2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Here, wherever I mention about </a:t>
            </a:r>
            <a:r>
              <a:rPr b="1" i="1" lang="en-US">
                <a:latin typeface="Arial"/>
                <a:ea typeface="Arial"/>
                <a:cs typeface="Arial"/>
                <a:sym typeface="Arial"/>
              </a:rPr>
              <a:t>not matching the predicted answer with actual answer</a:t>
            </a:r>
            <a:r>
              <a:rPr b="0" i="0" lang="en-US">
                <a:latin typeface="Arial"/>
                <a:ea typeface="Arial"/>
                <a:cs typeface="Arial"/>
                <a:sym typeface="Arial"/>
              </a:rPr>
              <a:t> means:</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It could be appending additional response either to the prefix or suffix area of the predicted answer.</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It could be because of predicted answer being displayed as denver and actual answer could be Denver.</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It could be because of predicted answer being displayed as denver and actual answer could be ['Denver', 'Denver', 'Denver'].</a:t>
            </a:r>
            <a:endParaRPr/>
          </a:p>
        </p:txBody>
      </p:sp>
      <p:sp>
        <p:nvSpPr>
          <p:cNvPr id="210" name="Google Shape;21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p>
        </p:txBody>
      </p:sp>
      <p:sp>
        <p:nvSpPr>
          <p:cNvPr id="235" name="Google Shape;23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a:p>
        </p:txBody>
      </p:sp>
      <p:sp>
        <p:nvSpPr>
          <p:cNvPr id="243" name="Google Shape;24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our final project presentation on Credit Risk Modeling and Statistical Diagnostics. Our team consists of Diaesh Antony, Sai Krishna Akula, and Ashok Bhairwal. In this study, we develop a comprehensive predictive modeling framework to estimate default probability and determine interest rates using a Kaggle credit risk dataset of 32,581 records. Let's begin by discussing the business context.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Lending decisions represent a delicate balance of risk. We frame this problem using hypothesis testing. If a lender makes a Type I error and under-prices risk, the borrower defaults, leading to severe capital losses. Conversely, if the lender makes a Type II error and over-pricing risk, a creditworthy borrower is rejected or goes to a competitor, representing lost business. Our modeling workflow aims to minimize both types of errors to optimize profitability.</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slide defines our research scope and target questions. First, we explore the determinants of interest rates using Ordinary Least Squares regression, evaluating which borrower variables play the strongest role. Second, we assess classification models to compute the marginal effect of borrower income on default probability while controlling for other variables. Our analytical pipeline progresses logically from preprocessing to inference, modeling, and diagnostics.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analysis follows a strict four-phase structure. We start with preprocessing, handling outliers and skewness. We then perform exploratory tests to ensure mathematical assumptions hold. In phase 3, we build pipelines to train classification and regression model families. Finally, we assess their performance using diagnostics and game-theoretic SHAP attributions, establishing a transparent workflow.</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now enter our first major section: Data Cleanup and Exploratory Data Analysis. We'll review dataset descriptions, missing values, outliers, log transformations, normality tests, CLT simulations, and correlation matrices. This section covers 10 detailed slides.</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dataset contains 32,581 borrower profiles across 12 features. The default rate is 22.44%, creating a moderate class imbalance. The right-hand table displays the primary features, including borrower demographics and loan characteristics. Let's look at how we handled missing values in these fields.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During our initial data audit, we found that two fields contained missing values: employment length (2.75%) and interest rate (9.56%). Because dropping these would result in losing over 12% of the dataset, we decided to impute them. The next slide explains the statistical logic behind choosing the median.</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selected median imputation rather than mean imputation. Because financial variables in this dataset are right-skewed, the mean is inflated by high-value outliers. The median, being rank-based, is statistically resistant. We filled missing employment lengths with 4.0 years and interest rates with 10.99%, completing our imputation process.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Outlier detection is vital. We used Tukey's IQR fences to identify extreme values in borrower age and income. For age, the upper bound was calculated at 40.5 years, identifying 1,494 outliers. For income, the upper bound was $140,250, identifying 1,484 outliers. These outliers were removed to avoid coefficient distortions in OLS regression.</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performed extensive data integrity audits. Beyond outlier filtering, we removed 156 exact duplicate rows to prevent artificial overfitting. We also applied a logical consistency check, removing a record where the employment length was longer than the borrower's age. In total, our dataset size was reduced by 9.25% to 29,567 observations, representing our finalized clean sample.</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Income is characteristically right-skewed. OLS regression assumes normality of residuals and homoscedasticity. A highly skewed predictor violates these assumptions. To resolve this, we applied a log-transformation, compressing the right tail. As seen in Figure 11, this shifted the skewness from a positive 0.74 to a mild -0.44, providing a symmetric input for OLS.</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verify normality, we applied the Shapiro-Wilk test to a random subset of 5,000 records. For both raw and log-transformed income, the null hypothesis of normality was strongly rejected with p-values near zero. This indicates that while the log-transform makes the shape symmetric, it does not achieve true mathematical normality. This directs us to look at the Central Limit Theorem to justify parametric linear models.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Central Limit Theorem provides the foundation for our parametric tests. We ran a bootstrap simulation drawing 5,000 samples at sizes 5, 30, and 200. As shown in Figure 13, at n=5, the distribution of means is heavily skewed. By n=200, the distribution converges to a normal bell-shape, and the Shapiro-Wilk test fails to reject normality (p &gt; 0.05). This validates our downstream t-tests and ANOVA.</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computed a Pearson correlation matrix to review linear relationships. The strongest positive correlations with default are loan percent of income (0.38) and interest rate (0.33). We also identified a strong relationship between borrower age and credit history length (0.836), warning of potential multicollinearity in our regression models that we will test using VIF.</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analyzed default rates across categorical factors. Renters default at a rate of 31%, compared to only 7% for homeowners, indicating asset stability plays a major role. For loan intent, debt consolidation and medical loans default at 28%, representing emergency funding needs, while venture and education default at 15%. Figure 15 displays these risk patterns, which justify encoding home ownership and loan intent.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now enter our second major section: Model Selection. We'll review our preprocessing pipeline, data splitting, baseline and ensemble classifiers (Logistic, RF, GB, CatBoost), regression families (OLS, Ridge, RF, GB, CatBoost), and Bayesian network structure learning. This section covers 10 detailed slides.</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guarantee consistency, we engineered a shared preprocessing pipeline using Scikit-Learn. Numeric columns are standard scaled. Nominal variables like home ownership and loan intent are one-hot encoded, while ordinal loan grades are mapped to a numeric scale to retain their ordering. This pipeline is saved using joblib, bundling the preprocessing parameters and estimator together.</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partitioned the cleaned dataset using an 80/20 train/test split. For classification, we applied stratified split, which ensures the default rate is exactly 22.44% in both splits. For regression, only non-default cases were used to model standard interest rate and loan behaviors. We locked in the split using random seed 42 to ensure exact reproducibility of our metrics.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Logistic regression is our baseline classifier. It calculates the log-odds of default as a linear combination of input features. To handle the class imbalance, we applied balanced class weights. This scales the default class loss during optimization, forcing the L-BFGS solver to focus on minority default records.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Random Forest is our first ensemble classifier. It builds 300 decision trees using bootstrap aggregation, where each node evaluates a random subset of features. This helps reduce variance and avoids overfitting. We also applied balanced class weights to help trees capture risk interactions among the variables.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Gradient Boosting builds trees sequentially rather than in parallel. Each new tree fits to the residuals of the loss function, minimizing cross-entropy log-loss. We trained a standard Scikit-Learn Gradient Boosting model as a benchmark for comparison.</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CatBoost is our champion classifier. It utilizes symmetric or oblivious trees, applying the same split criteria across an entire depth level. This speeds up prediction times and reduces overfitting. We set iterations to 300 and learning rate to a gradual 0.05 to ensure stable convergence, monitoring AUC-ROC during the process.</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For regression targets, we fit an OLS model as our parametric baseline, minimizing the sum of squared residuals. To protect against multicollinearity (such as age vs. credit history length), we also trained a Ridge regressor. This adds an L2 regularization penalty, shrinking coefficients to provide more stable estimates.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Random Forest Regressor averages predictions from 300 trees. We regularized the model by requiring at least 10 samples per leaf node, preventing trees from memorizing individual observations. This smooths out predictions and handles potential non-linear structures in lending amounts and interest rates.</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trained Gradient Boosting and CatBoost regressors. Gradient Boosting was selected for predicting loan amount and percent of income. CatBoost, using root mean squared error loss, was selected for interest rate prediction. This split approach uses the best saved regressor for each specific continuous target.</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provide auditable probability reasoning, we trained a Bayesian Network. We used HillClimbSearch to explore graph structures, scoring them using the Bayesian Information Criterion. To maintain simplicity, we capped the maximum parent nodes at three. We fit conditional probability tables using Maximum Likelihood estimation, enabling exact inference.</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now enter our third major section: Model Analysis &amp; Diagnostics. We'll review classifier performance (ROC/PR), calibration (Brier), threshold tuning, segment grade errors, classification SHAP feature attributions, Bayesian DAG results, regression performance, residual diagnostics, interest rate grades, and regression SHAP attributions. This section covers 10 detailed slides.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CatBoost classifier achieved the highest overall performance on the test set. It reached a ROC-AUC of 0.9429, showing strong class separation. In Figure 28, the PR-AUC of 0.9003 shows that the model maintains near-perfect precision for recall values up to 70%. This allows us to identify a large share of default risks with very few false alarms.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risk management, raw probabilities are used directly for interest rate pricing. Therefore, our model must be well-calibrated. The Brier Score of 0.0532 is far below the 0.15 threshold, confirming excellent calibration. Figure 29 shows that the model follows the diagonal line closely, making it highly reliable for risk-based pricing.</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evaluated three decision thresholds to balance precision and recall. A threshold of 0.50 provides the highest F1-score of 0.8403 and limits false alarms to 9. If a lender wants to catch more defaults, a threshold of 0.24 increases recall to 78.45% in exchange for 157 false alarms. Figure 30 shows the confusion matrix heatmaps for these two choices.</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performed segment-level error analysis to ensure fairness and robustness. Model accuracy remains high across all grades, peaking at 96.41% for Grade A. Grade C represents the most challenging segment at 89.70% accuracy due to higher overlap. Figure 31 shows the accuracy and default rates for each grade.</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used SHAP values to explain the CatBoost model. The income-to-loan ratio is the most important predictor, where a higher ratio reduces default risk. Renting is the second most important feature, acting as a positive driver of risk. Figure 32 displays the top 10 features sorted by their average absolute impact.</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built a Bayesian Network to add an auditable reasoning layer. Using HillClimbSearch and BIC, the model identified three direct parents of default status: home ownership, credit grade, and loan burden. As shown in Figure 33, this creates a clear, transparent structure that avoids black-box complexity.</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evaluated regression models for loan amount, loan-to-income percentage, and interest rate. The interest rate model performed best, achieving an R2 of 0.222. The loan-to-income ratio is the weakest model at 0.092. These moderate scores suggest that lending amounts are driven by lender policies and market factors not in our data. The OLS interest rate model is explored next.</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performed residual diagnostics on our interest rate OLS model. The residuals vs. fitted plot shows a random distribution around the zero line with mild heteroscedasticity. The Q-Q plot confirms that residuals follow a normal distribution. The histogram, centered at -0.0003, shows that the model is unbiased. This validates our regression assumptions.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evaluated interest rate errors by loan grade. Grade B achieved the lowest MAE of 1.17 percentage points, benefiting from its large sample size. Grades E and F show the largest errors, exceeding 5.4 percentage points. This risk gradient indicates that prediction error increases for higher-risk borrowers due to higher volatility and fewer samples.</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applied SHAP values to explain our interest rate regression. The strongest feature pushing rates higher is the presence of a prior default. Mortgage ownership acts as the strongest rate dampener. Figure 37 displays the top 10 features sorted by their impact on interest rates.</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now enter our final section: Conclusion and References. We'll review operational inference on a custom applicant, summarize final findings, limits, and recommendations, and present our formal academic references.</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ran our saved pipelines on an example applicant. CatBoost predicted a 98.60% default probability, while the Bayesian Network estimated 85.36%. Both models agree on a default risk label, suggesting a reject decision. The regression model recommended a conservative loan limit of $8,943.68. This showcases our pipeline's deployment readiness.</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conclusion, our CatBoost default classifier is production-ready. Our OLS interest rate regression is unbiased but moderate in strength. We recommend deploying the classifier at 0.50 threshold for balanced portfolios, and 0.24 when capital safety is prioritized. Future improvements should collect external macroeconomic indicators and FICO scores. Thank you. We are open to questions.</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the list of key academic references and citations that support our statistical methods and model selections. This includes foundational papers on Random Forest, Gradient Boosting, CatBoost, Brier Score calibration, Little and Rubin's missing data theory, and Tukey's exploratory data analysis. This completes our presentation. Thank you very much.</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
          <p:cNvSpPr txBox="1"/>
          <p:nvPr>
            <p:ph type="ctrTitle"/>
          </p:nvPr>
        </p:nvSpPr>
        <p:spPr>
          <a:xfrm>
            <a:off x="1065491" y="1828800"/>
            <a:ext cx="8231744" cy="2895600"/>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SzPts val="1400"/>
              <a:buNone/>
              <a:defRPr sz="6600">
                <a:solidFill>
                  <a:schemeClr val="dk1"/>
                </a:solidFill>
              </a:defRPr>
            </a:lvl1pPr>
            <a:lvl2pPr lvl="1" algn="l">
              <a:lnSpc>
                <a:spcPct val="233333"/>
              </a:lnSpc>
              <a:spcBef>
                <a:spcPts val="0"/>
              </a:spcBef>
              <a:spcAft>
                <a:spcPts val="0"/>
              </a:spcAft>
              <a:buSzPts val="1400"/>
              <a:buNone/>
              <a:defRPr/>
            </a:lvl2pPr>
            <a:lvl3pPr lvl="2" algn="l">
              <a:lnSpc>
                <a:spcPct val="233333"/>
              </a:lnSpc>
              <a:spcBef>
                <a:spcPts val="0"/>
              </a:spcBef>
              <a:spcAft>
                <a:spcPts val="0"/>
              </a:spcAft>
              <a:buSzPts val="1400"/>
              <a:buNone/>
              <a:defRPr/>
            </a:lvl3pPr>
            <a:lvl4pPr lvl="3" algn="l">
              <a:lnSpc>
                <a:spcPct val="233333"/>
              </a:lnSpc>
              <a:spcBef>
                <a:spcPts val="0"/>
              </a:spcBef>
              <a:spcAft>
                <a:spcPts val="0"/>
              </a:spcAft>
              <a:buSzPts val="1400"/>
              <a:buNone/>
              <a:defRPr/>
            </a:lvl4pPr>
            <a:lvl5pPr lvl="4" algn="l">
              <a:lnSpc>
                <a:spcPct val="233333"/>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 type="subTitle"/>
          </p:nvPr>
        </p:nvSpPr>
        <p:spPr>
          <a:xfrm>
            <a:off x="1065490" y="4800600"/>
            <a:ext cx="8231744" cy="1219200"/>
          </a:xfrm>
          <a:prstGeom prst="rect">
            <a:avLst/>
          </a:prstGeom>
          <a:noFill/>
          <a:ln>
            <a:noFill/>
          </a:ln>
        </p:spPr>
        <p:txBody>
          <a:bodyPr anchorCtr="0" anchor="t" bIns="0" lIns="0" spcFirstLastPara="1" rIns="0" wrap="square" tIns="0">
            <a:normAutofit/>
          </a:bodyPr>
          <a:lstStyle>
            <a:lvl1pPr lvl="0" algn="l">
              <a:lnSpc>
                <a:spcPct val="160000"/>
              </a:lnSpc>
              <a:spcBef>
                <a:spcPts val="0"/>
              </a:spcBef>
              <a:spcAft>
                <a:spcPts val="0"/>
              </a:spcAft>
              <a:buSzPts val="500"/>
              <a:buNone/>
              <a:defRPr sz="2000" cap="none">
                <a:solidFill>
                  <a:schemeClr val="accent1"/>
                </a:solidFill>
              </a:defRPr>
            </a:lvl1pPr>
            <a:lvl2pPr lvl="1" algn="ctr">
              <a:lnSpc>
                <a:spcPct val="114285"/>
              </a:lnSpc>
              <a:spcBef>
                <a:spcPts val="600"/>
              </a:spcBef>
              <a:spcAft>
                <a:spcPts val="0"/>
              </a:spcAft>
              <a:buSzPts val="2800"/>
              <a:buNone/>
              <a:defRPr>
                <a:solidFill>
                  <a:srgbClr val="888888"/>
                </a:solidFill>
              </a:defRPr>
            </a:lvl2pPr>
            <a:lvl3pPr lvl="2" algn="ctr">
              <a:lnSpc>
                <a:spcPct val="114285"/>
              </a:lnSpc>
              <a:spcBef>
                <a:spcPts val="600"/>
              </a:spcBef>
              <a:spcAft>
                <a:spcPts val="0"/>
              </a:spcAft>
              <a:buClr>
                <a:srgbClr val="888888"/>
              </a:buClr>
              <a:buSzPts val="2800"/>
              <a:buNone/>
              <a:defRPr>
                <a:solidFill>
                  <a:srgbClr val="888888"/>
                </a:solidFill>
              </a:defRPr>
            </a:lvl3pPr>
            <a:lvl4pPr lvl="3" algn="ctr">
              <a:lnSpc>
                <a:spcPct val="114285"/>
              </a:lnSpc>
              <a:spcBef>
                <a:spcPts val="600"/>
              </a:spcBef>
              <a:spcAft>
                <a:spcPts val="0"/>
              </a:spcAft>
              <a:buClr>
                <a:srgbClr val="888888"/>
              </a:buClr>
              <a:buSzPts val="2800"/>
              <a:buNone/>
              <a:defRPr>
                <a:solidFill>
                  <a:srgbClr val="888888"/>
                </a:solidFill>
              </a:defRPr>
            </a:lvl4pPr>
            <a:lvl5pPr lvl="4" algn="ctr">
              <a:lnSpc>
                <a:spcPct val="114285"/>
              </a:lnSpc>
              <a:spcBef>
                <a:spcPts val="600"/>
              </a:spcBef>
              <a:spcAft>
                <a:spcPts val="0"/>
              </a:spcAft>
              <a:buClr>
                <a:srgbClr val="888888"/>
              </a:buClr>
              <a:buSzPts val="2800"/>
              <a:buNone/>
              <a:defRPr>
                <a:solidFill>
                  <a:srgbClr val="888888"/>
                </a:solidFill>
              </a:defRPr>
            </a:lvl5pPr>
            <a:lvl6pPr lvl="5" algn="ctr">
              <a:spcBef>
                <a:spcPts val="600"/>
              </a:spcBef>
              <a:spcAft>
                <a:spcPts val="0"/>
              </a:spcAft>
              <a:buClr>
                <a:srgbClr val="888888"/>
              </a:buClr>
              <a:buSzPts val="2200"/>
              <a:buFont typeface="Arial"/>
              <a:buNone/>
              <a:defRPr>
                <a:solidFill>
                  <a:srgbClr val="888888"/>
                </a:solidFill>
              </a:defRPr>
            </a:lvl6pPr>
            <a:lvl7pPr lvl="6" algn="ctr">
              <a:spcBef>
                <a:spcPts val="440"/>
              </a:spcBef>
              <a:spcAft>
                <a:spcPts val="0"/>
              </a:spcAft>
              <a:buClr>
                <a:srgbClr val="888888"/>
              </a:buClr>
              <a:buSzPts val="2200"/>
              <a:buFont typeface="Arial"/>
              <a:buNone/>
              <a:defRPr>
                <a:solidFill>
                  <a:srgbClr val="888888"/>
                </a:solidFill>
              </a:defRPr>
            </a:lvl7pPr>
            <a:lvl8pPr lvl="7" algn="ctr">
              <a:spcBef>
                <a:spcPts val="440"/>
              </a:spcBef>
              <a:spcAft>
                <a:spcPts val="0"/>
              </a:spcAft>
              <a:buClr>
                <a:srgbClr val="888888"/>
              </a:buClr>
              <a:buSzPts val="2200"/>
              <a:buFont typeface="Arial"/>
              <a:buNone/>
              <a:defRPr>
                <a:solidFill>
                  <a:srgbClr val="888888"/>
                </a:solidFill>
              </a:defRPr>
            </a:lvl8pPr>
            <a:lvl9pPr lvl="8" algn="ctr">
              <a:spcBef>
                <a:spcPts val="440"/>
              </a:spcBef>
              <a:spcAft>
                <a:spcPts val="0"/>
              </a:spcAft>
              <a:buClr>
                <a:srgbClr val="888888"/>
              </a:buClr>
              <a:buSzPts val="2200"/>
              <a:buFont typeface="Arial"/>
              <a:buNone/>
              <a:defRPr>
                <a:solidFill>
                  <a:srgbClr val="888888"/>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Title and Content">
  <p:cSld name="2 - Title and Content">
    <p:spTree>
      <p:nvGrpSpPr>
        <p:cNvPr id="20" name="Shape 20"/>
        <p:cNvGrpSpPr/>
        <p:nvPr/>
      </p:nvGrpSpPr>
      <p:grpSpPr>
        <a:xfrm>
          <a:off x="0" y="0"/>
          <a:ext cx="0" cy="0"/>
          <a:chOff x="0" y="0"/>
          <a:chExt cx="0" cy="0"/>
        </a:xfrm>
      </p:grpSpPr>
      <p:sp>
        <p:nvSpPr>
          <p:cNvPr id="21" name="Google Shape;21;p3"/>
          <p:cNvSpPr txBox="1"/>
          <p:nvPr>
            <p:ph type="title"/>
          </p:nvPr>
        </p:nvSpPr>
        <p:spPr>
          <a:xfrm>
            <a:off x="914400" y="685800"/>
            <a:ext cx="10363200" cy="1143000"/>
          </a:xfrm>
          <a:prstGeom prst="rect">
            <a:avLst/>
          </a:prstGeom>
          <a:noFill/>
          <a:ln>
            <a:noFill/>
          </a:ln>
        </p:spPr>
        <p:txBody>
          <a:bodyPr anchorCtr="0" anchor="ctr" bIns="0" lIns="0" spcFirstLastPara="1" rIns="0" wrap="square" tIns="0">
            <a:noAutofit/>
          </a:bodyPr>
          <a:lstStyle>
            <a:lvl1pPr lvl="0" algn="l">
              <a:lnSpc>
                <a:spcPct val="233333"/>
              </a:lnSpc>
              <a:spcBef>
                <a:spcPts val="0"/>
              </a:spcBef>
              <a:spcAft>
                <a:spcPts val="0"/>
              </a:spcAft>
              <a:buSzPts val="1400"/>
              <a:buNone/>
              <a:defRPr/>
            </a:lvl1pPr>
            <a:lvl2pPr lvl="1" algn="l">
              <a:lnSpc>
                <a:spcPct val="233333"/>
              </a:lnSpc>
              <a:spcBef>
                <a:spcPts val="0"/>
              </a:spcBef>
              <a:spcAft>
                <a:spcPts val="0"/>
              </a:spcAft>
              <a:buSzPts val="1400"/>
              <a:buNone/>
              <a:defRPr/>
            </a:lvl2pPr>
            <a:lvl3pPr lvl="2" algn="l">
              <a:lnSpc>
                <a:spcPct val="233333"/>
              </a:lnSpc>
              <a:spcBef>
                <a:spcPts val="0"/>
              </a:spcBef>
              <a:spcAft>
                <a:spcPts val="0"/>
              </a:spcAft>
              <a:buSzPts val="1400"/>
              <a:buNone/>
              <a:defRPr/>
            </a:lvl3pPr>
            <a:lvl4pPr lvl="3" algn="l">
              <a:lnSpc>
                <a:spcPct val="233333"/>
              </a:lnSpc>
              <a:spcBef>
                <a:spcPts val="0"/>
              </a:spcBef>
              <a:spcAft>
                <a:spcPts val="0"/>
              </a:spcAft>
              <a:buSzPts val="1400"/>
              <a:buNone/>
              <a:defRPr/>
            </a:lvl4pPr>
            <a:lvl5pPr lvl="4" algn="l">
              <a:lnSpc>
                <a:spcPct val="233333"/>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 type="body"/>
          </p:nvPr>
        </p:nvSpPr>
        <p:spPr>
          <a:xfrm>
            <a:off x="768096" y="1947672"/>
            <a:ext cx="10509504" cy="3776472"/>
          </a:xfrm>
          <a:prstGeom prst="rect">
            <a:avLst/>
          </a:prstGeom>
          <a:noFill/>
          <a:ln>
            <a:noFill/>
          </a:ln>
        </p:spPr>
        <p:txBody>
          <a:bodyPr anchorCtr="0" anchor="t" bIns="0" lIns="0" spcFirstLastPara="1" rIns="0" wrap="square" tIns="0">
            <a:noAutofit/>
          </a:bodyPr>
          <a:lstStyle>
            <a:lvl1pPr indent="-257175" lvl="0" marL="457200" algn="l">
              <a:lnSpc>
                <a:spcPct val="177777"/>
              </a:lnSpc>
              <a:spcBef>
                <a:spcPts val="0"/>
              </a:spcBef>
              <a:spcAft>
                <a:spcPts val="0"/>
              </a:spcAft>
              <a:buSzPts val="450"/>
              <a:buChar char=" "/>
              <a:defRPr/>
            </a:lvl1pPr>
            <a:lvl2pPr indent="-342900" lvl="1" marL="914400" algn="l">
              <a:lnSpc>
                <a:spcPct val="177777"/>
              </a:lnSpc>
              <a:spcBef>
                <a:spcPts val="600"/>
              </a:spcBef>
              <a:spcAft>
                <a:spcPts val="0"/>
              </a:spcAft>
              <a:buSzPts val="1800"/>
              <a:buChar char="•"/>
              <a:defRPr/>
            </a:lvl2pPr>
            <a:lvl3pPr indent="-342900" lvl="2" marL="1371600" algn="l">
              <a:lnSpc>
                <a:spcPct val="177777"/>
              </a:lnSpc>
              <a:spcBef>
                <a:spcPts val="600"/>
              </a:spcBef>
              <a:spcAft>
                <a:spcPts val="0"/>
              </a:spcAft>
              <a:buClr>
                <a:srgbClr val="003B70"/>
              </a:buClr>
              <a:buSzPts val="1800"/>
              <a:buChar char="-"/>
              <a:defRPr/>
            </a:lvl3pPr>
            <a:lvl4pPr indent="-342900" lvl="3" marL="1828800" algn="l">
              <a:lnSpc>
                <a:spcPct val="177777"/>
              </a:lnSpc>
              <a:spcBef>
                <a:spcPts val="600"/>
              </a:spcBef>
              <a:spcAft>
                <a:spcPts val="0"/>
              </a:spcAft>
              <a:buClr>
                <a:srgbClr val="003B70"/>
              </a:buClr>
              <a:buSzPts val="1800"/>
              <a:buChar char="-"/>
              <a:defRPr/>
            </a:lvl4pPr>
            <a:lvl5pPr indent="-342900" lvl="4" marL="2286000" algn="l">
              <a:lnSpc>
                <a:spcPct val="177777"/>
              </a:lnSpc>
              <a:spcBef>
                <a:spcPts val="600"/>
              </a:spcBef>
              <a:spcAft>
                <a:spcPts val="0"/>
              </a:spcAft>
              <a:buClr>
                <a:srgbClr val="003B70"/>
              </a:buClr>
              <a:buSzPts val="1800"/>
              <a:buChar char="-"/>
              <a:defRPr/>
            </a:lvl5pPr>
            <a:lvl6pPr indent="-228600" lvl="5" marL="2743200" algn="l">
              <a:spcBef>
                <a:spcPts val="60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23" name="Google Shape;23;p3"/>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algn="r">
              <a:spcBef>
                <a:spcPts val="0"/>
              </a:spcBef>
              <a:buNone/>
              <a:defRPr sz="1000">
                <a:solidFill>
                  <a:srgbClr val="898989"/>
                </a:solidFill>
                <a:latin typeface="Arial"/>
                <a:ea typeface="Arial"/>
                <a:cs typeface="Arial"/>
                <a:sym typeface="Arial"/>
              </a:defRPr>
            </a:lvl1pPr>
            <a:lvl2pPr indent="0" lvl="1" marL="0" algn="r">
              <a:spcBef>
                <a:spcPts val="0"/>
              </a:spcBef>
              <a:buNone/>
              <a:defRPr sz="1000">
                <a:solidFill>
                  <a:srgbClr val="898989"/>
                </a:solidFill>
                <a:latin typeface="Arial"/>
                <a:ea typeface="Arial"/>
                <a:cs typeface="Arial"/>
                <a:sym typeface="Arial"/>
              </a:defRPr>
            </a:lvl2pPr>
            <a:lvl3pPr indent="0" lvl="2" marL="0" algn="r">
              <a:spcBef>
                <a:spcPts val="0"/>
              </a:spcBef>
              <a:buNone/>
              <a:defRPr sz="1000">
                <a:solidFill>
                  <a:srgbClr val="898989"/>
                </a:solidFill>
                <a:latin typeface="Arial"/>
                <a:ea typeface="Arial"/>
                <a:cs typeface="Arial"/>
                <a:sym typeface="Arial"/>
              </a:defRPr>
            </a:lvl3pPr>
            <a:lvl4pPr indent="0" lvl="3" marL="0" algn="r">
              <a:spcBef>
                <a:spcPts val="0"/>
              </a:spcBef>
              <a:buNone/>
              <a:defRPr sz="1000">
                <a:solidFill>
                  <a:srgbClr val="898989"/>
                </a:solidFill>
                <a:latin typeface="Arial"/>
                <a:ea typeface="Arial"/>
                <a:cs typeface="Arial"/>
                <a:sym typeface="Arial"/>
              </a:defRPr>
            </a:lvl4pPr>
            <a:lvl5pPr indent="0" lvl="4" marL="0" algn="r">
              <a:spcBef>
                <a:spcPts val="0"/>
              </a:spcBef>
              <a:buNone/>
              <a:defRPr sz="1000">
                <a:solidFill>
                  <a:srgbClr val="898989"/>
                </a:solidFill>
                <a:latin typeface="Arial"/>
                <a:ea typeface="Arial"/>
                <a:cs typeface="Arial"/>
                <a:sym typeface="Arial"/>
              </a:defRPr>
            </a:lvl5pPr>
            <a:lvl6pPr indent="0" lvl="5" marL="0" algn="r">
              <a:spcBef>
                <a:spcPts val="0"/>
              </a:spcBef>
              <a:buNone/>
              <a:defRPr sz="1000">
                <a:solidFill>
                  <a:srgbClr val="898989"/>
                </a:solidFill>
                <a:latin typeface="Arial"/>
                <a:ea typeface="Arial"/>
                <a:cs typeface="Arial"/>
                <a:sym typeface="Arial"/>
              </a:defRPr>
            </a:lvl6pPr>
            <a:lvl7pPr indent="0" lvl="6" marL="0" algn="r">
              <a:spcBef>
                <a:spcPts val="0"/>
              </a:spcBef>
              <a:buNone/>
              <a:defRPr sz="1000">
                <a:solidFill>
                  <a:srgbClr val="898989"/>
                </a:solidFill>
                <a:latin typeface="Arial"/>
                <a:ea typeface="Arial"/>
                <a:cs typeface="Arial"/>
                <a:sym typeface="Arial"/>
              </a:defRPr>
            </a:lvl7pPr>
            <a:lvl8pPr indent="0" lvl="7" marL="0" algn="r">
              <a:spcBef>
                <a:spcPts val="0"/>
              </a:spcBef>
              <a:buNone/>
              <a:defRPr sz="1000">
                <a:solidFill>
                  <a:srgbClr val="898989"/>
                </a:solidFill>
                <a:latin typeface="Arial"/>
                <a:ea typeface="Arial"/>
                <a:cs typeface="Arial"/>
                <a:sym typeface="Arial"/>
              </a:defRPr>
            </a:lvl8pPr>
            <a:lvl9pPr indent="0" lvl="8" marL="0" algn="r">
              <a:spcBef>
                <a:spcPts val="0"/>
              </a:spcBef>
              <a:buNone/>
              <a:defRPr sz="10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 Section Header">
  <p:cSld name="1 - Section Header">
    <p:spTree>
      <p:nvGrpSpPr>
        <p:cNvPr id="26" name="Shape 26"/>
        <p:cNvGrpSpPr/>
        <p:nvPr/>
      </p:nvGrpSpPr>
      <p:grpSpPr>
        <a:xfrm>
          <a:off x="0" y="0"/>
          <a:ext cx="0" cy="0"/>
          <a:chOff x="0" y="0"/>
          <a:chExt cx="0" cy="0"/>
        </a:xfrm>
      </p:grpSpPr>
      <p:sp>
        <p:nvSpPr>
          <p:cNvPr id="27" name="Google Shape;27;p4"/>
          <p:cNvSpPr txBox="1"/>
          <p:nvPr>
            <p:ph type="title"/>
          </p:nvPr>
        </p:nvSpPr>
        <p:spPr>
          <a:xfrm>
            <a:off x="914400" y="1600200"/>
            <a:ext cx="10363200" cy="2743200"/>
          </a:xfrm>
          <a:prstGeom prst="rect">
            <a:avLst/>
          </a:prstGeom>
          <a:noFill/>
          <a:ln>
            <a:noFill/>
          </a:ln>
        </p:spPr>
        <p:txBody>
          <a:bodyPr anchorCtr="0" anchor="ctr" bIns="0" lIns="0" spcFirstLastPara="1" rIns="0" wrap="square" tIns="0">
            <a:noAutofit/>
          </a:bodyPr>
          <a:lstStyle>
            <a:lvl1pPr lvl="0" algn="ctr">
              <a:lnSpc>
                <a:spcPct val="104999"/>
              </a:lnSpc>
              <a:spcBef>
                <a:spcPts val="0"/>
              </a:spcBef>
              <a:spcAft>
                <a:spcPts val="0"/>
              </a:spcAft>
              <a:buSzPts val="1400"/>
              <a:buNone/>
              <a:defRPr b="1" i="0"/>
            </a:lvl1pPr>
            <a:lvl2pPr lvl="1" algn="l">
              <a:lnSpc>
                <a:spcPct val="233333"/>
              </a:lnSpc>
              <a:spcBef>
                <a:spcPts val="0"/>
              </a:spcBef>
              <a:spcAft>
                <a:spcPts val="0"/>
              </a:spcAft>
              <a:buSzPts val="1400"/>
              <a:buNone/>
              <a:defRPr/>
            </a:lvl2pPr>
            <a:lvl3pPr lvl="2" algn="l">
              <a:lnSpc>
                <a:spcPct val="233333"/>
              </a:lnSpc>
              <a:spcBef>
                <a:spcPts val="0"/>
              </a:spcBef>
              <a:spcAft>
                <a:spcPts val="0"/>
              </a:spcAft>
              <a:buSzPts val="1400"/>
              <a:buNone/>
              <a:defRPr/>
            </a:lvl3pPr>
            <a:lvl4pPr lvl="3" algn="l">
              <a:lnSpc>
                <a:spcPct val="233333"/>
              </a:lnSpc>
              <a:spcBef>
                <a:spcPts val="0"/>
              </a:spcBef>
              <a:spcAft>
                <a:spcPts val="0"/>
              </a:spcAft>
              <a:buSzPts val="1400"/>
              <a:buNone/>
              <a:defRPr/>
            </a:lvl4pPr>
            <a:lvl5pPr lvl="4" algn="l">
              <a:lnSpc>
                <a:spcPct val="233333"/>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algn="r">
              <a:spcBef>
                <a:spcPts val="0"/>
              </a:spcBef>
              <a:buNone/>
              <a:defRPr sz="1000">
                <a:solidFill>
                  <a:srgbClr val="898989"/>
                </a:solidFill>
                <a:latin typeface="Arial"/>
                <a:ea typeface="Arial"/>
                <a:cs typeface="Arial"/>
                <a:sym typeface="Arial"/>
              </a:defRPr>
            </a:lvl1pPr>
            <a:lvl2pPr indent="0" lvl="1" marL="0" algn="r">
              <a:spcBef>
                <a:spcPts val="0"/>
              </a:spcBef>
              <a:buNone/>
              <a:defRPr sz="1000">
                <a:solidFill>
                  <a:srgbClr val="898989"/>
                </a:solidFill>
                <a:latin typeface="Arial"/>
                <a:ea typeface="Arial"/>
                <a:cs typeface="Arial"/>
                <a:sym typeface="Arial"/>
              </a:defRPr>
            </a:lvl2pPr>
            <a:lvl3pPr indent="0" lvl="2" marL="0" algn="r">
              <a:spcBef>
                <a:spcPts val="0"/>
              </a:spcBef>
              <a:buNone/>
              <a:defRPr sz="1000">
                <a:solidFill>
                  <a:srgbClr val="898989"/>
                </a:solidFill>
                <a:latin typeface="Arial"/>
                <a:ea typeface="Arial"/>
                <a:cs typeface="Arial"/>
                <a:sym typeface="Arial"/>
              </a:defRPr>
            </a:lvl3pPr>
            <a:lvl4pPr indent="0" lvl="3" marL="0" algn="r">
              <a:spcBef>
                <a:spcPts val="0"/>
              </a:spcBef>
              <a:buNone/>
              <a:defRPr sz="1000">
                <a:solidFill>
                  <a:srgbClr val="898989"/>
                </a:solidFill>
                <a:latin typeface="Arial"/>
                <a:ea typeface="Arial"/>
                <a:cs typeface="Arial"/>
                <a:sym typeface="Arial"/>
              </a:defRPr>
            </a:lvl4pPr>
            <a:lvl5pPr indent="0" lvl="4" marL="0" algn="r">
              <a:spcBef>
                <a:spcPts val="0"/>
              </a:spcBef>
              <a:buNone/>
              <a:defRPr sz="1000">
                <a:solidFill>
                  <a:srgbClr val="898989"/>
                </a:solidFill>
                <a:latin typeface="Arial"/>
                <a:ea typeface="Arial"/>
                <a:cs typeface="Arial"/>
                <a:sym typeface="Arial"/>
              </a:defRPr>
            </a:lvl5pPr>
            <a:lvl6pPr indent="0" lvl="5" marL="0" algn="r">
              <a:spcBef>
                <a:spcPts val="0"/>
              </a:spcBef>
              <a:buNone/>
              <a:defRPr sz="1000">
                <a:solidFill>
                  <a:srgbClr val="898989"/>
                </a:solidFill>
                <a:latin typeface="Arial"/>
                <a:ea typeface="Arial"/>
                <a:cs typeface="Arial"/>
                <a:sym typeface="Arial"/>
              </a:defRPr>
            </a:lvl6pPr>
            <a:lvl7pPr indent="0" lvl="6" marL="0" algn="r">
              <a:spcBef>
                <a:spcPts val="0"/>
              </a:spcBef>
              <a:buNone/>
              <a:defRPr sz="1000">
                <a:solidFill>
                  <a:srgbClr val="898989"/>
                </a:solidFill>
                <a:latin typeface="Arial"/>
                <a:ea typeface="Arial"/>
                <a:cs typeface="Arial"/>
                <a:sym typeface="Arial"/>
              </a:defRPr>
            </a:lvl7pPr>
            <a:lvl8pPr indent="0" lvl="7" marL="0" algn="r">
              <a:spcBef>
                <a:spcPts val="0"/>
              </a:spcBef>
              <a:buNone/>
              <a:defRPr sz="1000">
                <a:solidFill>
                  <a:srgbClr val="898989"/>
                </a:solidFill>
                <a:latin typeface="Arial"/>
                <a:ea typeface="Arial"/>
                <a:cs typeface="Arial"/>
                <a:sym typeface="Arial"/>
              </a:defRPr>
            </a:lvl8pPr>
            <a:lvl9pPr indent="0" lvl="8" marL="0" algn="r">
              <a:spcBef>
                <a:spcPts val="0"/>
              </a:spcBef>
              <a:buNone/>
              <a:defRPr sz="10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 Comparison">
  <p:cSld name="3 - Comparison">
    <p:spTree>
      <p:nvGrpSpPr>
        <p:cNvPr id="31" name="Shape 31"/>
        <p:cNvGrpSpPr/>
        <p:nvPr/>
      </p:nvGrpSpPr>
      <p:grpSpPr>
        <a:xfrm>
          <a:off x="0" y="0"/>
          <a:ext cx="0" cy="0"/>
          <a:chOff x="0" y="0"/>
          <a:chExt cx="0" cy="0"/>
        </a:xfrm>
      </p:grpSpPr>
      <p:sp>
        <p:nvSpPr>
          <p:cNvPr id="32" name="Google Shape;32;p5"/>
          <p:cNvSpPr txBox="1"/>
          <p:nvPr>
            <p:ph idx="1" type="body"/>
          </p:nvPr>
        </p:nvSpPr>
        <p:spPr>
          <a:xfrm>
            <a:off x="914400" y="1828800"/>
            <a:ext cx="5080000" cy="639762"/>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SzPts val="600"/>
              <a:buNone/>
              <a:defRPr b="1" sz="2400"/>
            </a:lvl1pPr>
            <a:lvl2pPr indent="-228600" lvl="1" marL="914400" algn="l">
              <a:lnSpc>
                <a:spcPct val="160000"/>
              </a:lnSpc>
              <a:spcBef>
                <a:spcPts val="600"/>
              </a:spcBef>
              <a:spcAft>
                <a:spcPts val="0"/>
              </a:spcAft>
              <a:buSzPts val="2000"/>
              <a:buNone/>
              <a:defRPr b="1" sz="2000"/>
            </a:lvl2pPr>
            <a:lvl3pPr indent="-228600" lvl="2" marL="1371600" algn="l">
              <a:lnSpc>
                <a:spcPct val="177777"/>
              </a:lnSpc>
              <a:spcBef>
                <a:spcPts val="600"/>
              </a:spcBef>
              <a:spcAft>
                <a:spcPts val="0"/>
              </a:spcAft>
              <a:buClr>
                <a:srgbClr val="003B70"/>
              </a:buClr>
              <a:buSzPts val="1800"/>
              <a:buNone/>
              <a:defRPr b="1" sz="1800"/>
            </a:lvl3pPr>
            <a:lvl4pPr indent="-228600" lvl="3" marL="1828800" algn="l">
              <a:lnSpc>
                <a:spcPct val="200000"/>
              </a:lnSpc>
              <a:spcBef>
                <a:spcPts val="600"/>
              </a:spcBef>
              <a:spcAft>
                <a:spcPts val="0"/>
              </a:spcAft>
              <a:buClr>
                <a:srgbClr val="003B70"/>
              </a:buClr>
              <a:buSzPts val="1600"/>
              <a:buNone/>
              <a:defRPr b="1" sz="1600"/>
            </a:lvl4pPr>
            <a:lvl5pPr indent="-228600" lvl="4" marL="2286000" algn="l">
              <a:lnSpc>
                <a:spcPct val="200000"/>
              </a:lnSpc>
              <a:spcBef>
                <a:spcPts val="600"/>
              </a:spcBef>
              <a:spcAft>
                <a:spcPts val="0"/>
              </a:spcAft>
              <a:buClr>
                <a:srgbClr val="003B70"/>
              </a:buClr>
              <a:buSzPts val="1600"/>
              <a:buNone/>
              <a:defRPr b="1" sz="1600"/>
            </a:lvl5pPr>
            <a:lvl6pPr indent="-228600" lvl="5" marL="2743200" algn="l">
              <a:spcBef>
                <a:spcPts val="60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3" name="Google Shape;33;p5"/>
          <p:cNvSpPr txBox="1"/>
          <p:nvPr>
            <p:ph idx="2" type="body"/>
          </p:nvPr>
        </p:nvSpPr>
        <p:spPr>
          <a:xfrm>
            <a:off x="810684" y="2533650"/>
            <a:ext cx="5183717" cy="3276600"/>
          </a:xfrm>
          <a:prstGeom prst="rect">
            <a:avLst/>
          </a:prstGeom>
          <a:noFill/>
          <a:ln>
            <a:noFill/>
          </a:ln>
        </p:spPr>
        <p:txBody>
          <a:bodyPr anchorCtr="0" anchor="t" bIns="0" lIns="0" spcFirstLastPara="1" rIns="0" wrap="square" tIns="0">
            <a:noAutofit/>
          </a:bodyPr>
          <a:lstStyle>
            <a:lvl1pPr indent="-266700" lvl="0" marL="457200" algn="l">
              <a:lnSpc>
                <a:spcPct val="116666"/>
              </a:lnSpc>
              <a:spcBef>
                <a:spcPts val="0"/>
              </a:spcBef>
              <a:spcAft>
                <a:spcPts val="0"/>
              </a:spcAft>
              <a:buSzPts val="600"/>
              <a:buChar char=" "/>
              <a:defRPr sz="2400">
                <a:latin typeface="Arial"/>
                <a:ea typeface="Arial"/>
                <a:cs typeface="Arial"/>
                <a:sym typeface="Arial"/>
              </a:defRPr>
            </a:lvl1pPr>
            <a:lvl2pPr indent="-381000" lvl="1" marL="914400" algn="l">
              <a:lnSpc>
                <a:spcPct val="116666"/>
              </a:lnSpc>
              <a:spcBef>
                <a:spcPts val="600"/>
              </a:spcBef>
              <a:spcAft>
                <a:spcPts val="0"/>
              </a:spcAft>
              <a:buSzPts val="2400"/>
              <a:buChar char="•"/>
              <a:defRPr sz="2400">
                <a:latin typeface="Arial"/>
                <a:ea typeface="Arial"/>
                <a:cs typeface="Arial"/>
                <a:sym typeface="Arial"/>
              </a:defRPr>
            </a:lvl2pPr>
            <a:lvl3pPr indent="-381000" lvl="2" marL="1371600" algn="l">
              <a:lnSpc>
                <a:spcPct val="116666"/>
              </a:lnSpc>
              <a:spcBef>
                <a:spcPts val="600"/>
              </a:spcBef>
              <a:spcAft>
                <a:spcPts val="0"/>
              </a:spcAft>
              <a:buClr>
                <a:srgbClr val="003B70"/>
              </a:buClr>
              <a:buSzPts val="2400"/>
              <a:buChar char="-"/>
              <a:defRPr sz="2400">
                <a:latin typeface="Arial"/>
                <a:ea typeface="Arial"/>
                <a:cs typeface="Arial"/>
                <a:sym typeface="Arial"/>
              </a:defRPr>
            </a:lvl3pPr>
            <a:lvl4pPr indent="-381000" lvl="3" marL="1828800" algn="l">
              <a:lnSpc>
                <a:spcPct val="116666"/>
              </a:lnSpc>
              <a:spcBef>
                <a:spcPts val="600"/>
              </a:spcBef>
              <a:spcAft>
                <a:spcPts val="0"/>
              </a:spcAft>
              <a:buClr>
                <a:srgbClr val="003B70"/>
              </a:buClr>
              <a:buSzPts val="2400"/>
              <a:buChar char="-"/>
              <a:defRPr sz="2400">
                <a:latin typeface="Arial"/>
                <a:ea typeface="Arial"/>
                <a:cs typeface="Arial"/>
                <a:sym typeface="Arial"/>
              </a:defRPr>
            </a:lvl4pPr>
            <a:lvl5pPr indent="-381000" lvl="4" marL="2286000" algn="l">
              <a:lnSpc>
                <a:spcPct val="116666"/>
              </a:lnSpc>
              <a:spcBef>
                <a:spcPts val="600"/>
              </a:spcBef>
              <a:spcAft>
                <a:spcPts val="0"/>
              </a:spcAft>
              <a:buClr>
                <a:srgbClr val="003B70"/>
              </a:buClr>
              <a:buSzPts val="2400"/>
              <a:buChar char="-"/>
              <a:defRPr sz="2400">
                <a:latin typeface="Arial"/>
                <a:ea typeface="Arial"/>
                <a:cs typeface="Arial"/>
                <a:sym typeface="Arial"/>
              </a:defRPr>
            </a:lvl5pPr>
            <a:lvl6pPr indent="-228600" lvl="5" marL="2743200" algn="l">
              <a:spcBef>
                <a:spcPts val="600"/>
              </a:spcBef>
              <a:spcAft>
                <a:spcPts val="0"/>
              </a:spcAft>
              <a:buSzPts val="1400"/>
              <a:buNone/>
              <a:defRPr sz="1600"/>
            </a:lvl6pPr>
            <a:lvl7pPr indent="-228600" lvl="6" marL="3200400" algn="l">
              <a:spcBef>
                <a:spcPts val="320"/>
              </a:spcBef>
              <a:spcAft>
                <a:spcPts val="0"/>
              </a:spcAft>
              <a:buSzPts val="1400"/>
              <a:buNone/>
              <a:defRPr sz="1600"/>
            </a:lvl7pPr>
            <a:lvl8pPr indent="-228600" lvl="7" marL="3657600" algn="l">
              <a:spcBef>
                <a:spcPts val="320"/>
              </a:spcBef>
              <a:spcAft>
                <a:spcPts val="0"/>
              </a:spcAft>
              <a:buSzPts val="1400"/>
              <a:buNone/>
              <a:defRPr sz="1600"/>
            </a:lvl8pPr>
            <a:lvl9pPr indent="-228600" lvl="8" marL="4114800" algn="l">
              <a:spcBef>
                <a:spcPts val="320"/>
              </a:spcBef>
              <a:spcAft>
                <a:spcPts val="0"/>
              </a:spcAft>
              <a:buSzPts val="1400"/>
              <a:buNone/>
              <a:defRPr sz="1600"/>
            </a:lvl9pPr>
          </a:lstStyle>
          <a:p/>
        </p:txBody>
      </p:sp>
      <p:sp>
        <p:nvSpPr>
          <p:cNvPr id="34" name="Google Shape;34;p5"/>
          <p:cNvSpPr txBox="1"/>
          <p:nvPr>
            <p:ph type="title"/>
          </p:nvPr>
        </p:nvSpPr>
        <p:spPr>
          <a:xfrm>
            <a:off x="914400" y="685800"/>
            <a:ext cx="10363200" cy="1143000"/>
          </a:xfrm>
          <a:prstGeom prst="rect">
            <a:avLst/>
          </a:prstGeom>
          <a:noFill/>
          <a:ln>
            <a:noFill/>
          </a:ln>
        </p:spPr>
        <p:txBody>
          <a:bodyPr anchorCtr="0" anchor="ctr" bIns="0" lIns="0" spcFirstLastPara="1" rIns="0" wrap="square" tIns="0">
            <a:noAutofit/>
          </a:bodyPr>
          <a:lstStyle>
            <a:lvl1pPr lvl="0" algn="l">
              <a:lnSpc>
                <a:spcPct val="233333"/>
              </a:lnSpc>
              <a:spcBef>
                <a:spcPts val="0"/>
              </a:spcBef>
              <a:spcAft>
                <a:spcPts val="0"/>
              </a:spcAft>
              <a:buSzPts val="1400"/>
              <a:buNone/>
              <a:defRPr/>
            </a:lvl1pPr>
            <a:lvl2pPr lvl="1" algn="l">
              <a:lnSpc>
                <a:spcPct val="233333"/>
              </a:lnSpc>
              <a:spcBef>
                <a:spcPts val="0"/>
              </a:spcBef>
              <a:spcAft>
                <a:spcPts val="0"/>
              </a:spcAft>
              <a:buSzPts val="1400"/>
              <a:buNone/>
              <a:defRPr/>
            </a:lvl2pPr>
            <a:lvl3pPr lvl="2" algn="l">
              <a:lnSpc>
                <a:spcPct val="233333"/>
              </a:lnSpc>
              <a:spcBef>
                <a:spcPts val="0"/>
              </a:spcBef>
              <a:spcAft>
                <a:spcPts val="0"/>
              </a:spcAft>
              <a:buSzPts val="1400"/>
              <a:buNone/>
              <a:defRPr/>
            </a:lvl3pPr>
            <a:lvl4pPr lvl="3" algn="l">
              <a:lnSpc>
                <a:spcPct val="233333"/>
              </a:lnSpc>
              <a:spcBef>
                <a:spcPts val="0"/>
              </a:spcBef>
              <a:spcAft>
                <a:spcPts val="0"/>
              </a:spcAft>
              <a:buSzPts val="1400"/>
              <a:buNone/>
              <a:defRPr/>
            </a:lvl4pPr>
            <a:lvl5pPr lvl="4" algn="l">
              <a:lnSpc>
                <a:spcPct val="233333"/>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3" type="body"/>
          </p:nvPr>
        </p:nvSpPr>
        <p:spPr>
          <a:xfrm>
            <a:off x="6197600" y="1828800"/>
            <a:ext cx="5080000" cy="639762"/>
          </a:xfrm>
          <a:prstGeom prst="rect">
            <a:avLst/>
          </a:prstGeom>
          <a:noFill/>
          <a:ln>
            <a:noFill/>
          </a:ln>
        </p:spPr>
        <p:txBody>
          <a:bodyPr anchorCtr="0" anchor="t" bIns="0" lIns="0" spcFirstLastPara="1" rIns="0" wrap="square" tIns="0">
            <a:noAutofit/>
          </a:bodyPr>
          <a:lstStyle>
            <a:lvl1pPr indent="-228600" lvl="0" marL="457200" algn="l">
              <a:lnSpc>
                <a:spcPct val="116666"/>
              </a:lnSpc>
              <a:spcBef>
                <a:spcPts val="0"/>
              </a:spcBef>
              <a:spcAft>
                <a:spcPts val="0"/>
              </a:spcAft>
              <a:buSzPts val="600"/>
              <a:buNone/>
              <a:defRPr b="1" sz="2400"/>
            </a:lvl1pPr>
            <a:lvl2pPr indent="-228600" lvl="1" marL="914400" algn="l">
              <a:lnSpc>
                <a:spcPct val="160000"/>
              </a:lnSpc>
              <a:spcBef>
                <a:spcPts val="600"/>
              </a:spcBef>
              <a:spcAft>
                <a:spcPts val="0"/>
              </a:spcAft>
              <a:buSzPts val="2000"/>
              <a:buNone/>
              <a:defRPr b="1" sz="2000"/>
            </a:lvl2pPr>
            <a:lvl3pPr indent="-228600" lvl="2" marL="1371600" algn="l">
              <a:lnSpc>
                <a:spcPct val="177777"/>
              </a:lnSpc>
              <a:spcBef>
                <a:spcPts val="600"/>
              </a:spcBef>
              <a:spcAft>
                <a:spcPts val="0"/>
              </a:spcAft>
              <a:buClr>
                <a:srgbClr val="003B70"/>
              </a:buClr>
              <a:buSzPts val="1800"/>
              <a:buNone/>
              <a:defRPr b="1" sz="1800"/>
            </a:lvl3pPr>
            <a:lvl4pPr indent="-228600" lvl="3" marL="1828800" algn="l">
              <a:lnSpc>
                <a:spcPct val="200000"/>
              </a:lnSpc>
              <a:spcBef>
                <a:spcPts val="600"/>
              </a:spcBef>
              <a:spcAft>
                <a:spcPts val="0"/>
              </a:spcAft>
              <a:buClr>
                <a:srgbClr val="003B70"/>
              </a:buClr>
              <a:buSzPts val="1600"/>
              <a:buNone/>
              <a:defRPr b="1" sz="1600"/>
            </a:lvl4pPr>
            <a:lvl5pPr indent="-228600" lvl="4" marL="2286000" algn="l">
              <a:lnSpc>
                <a:spcPct val="200000"/>
              </a:lnSpc>
              <a:spcBef>
                <a:spcPts val="600"/>
              </a:spcBef>
              <a:spcAft>
                <a:spcPts val="0"/>
              </a:spcAft>
              <a:buClr>
                <a:srgbClr val="003B70"/>
              </a:buClr>
              <a:buSzPts val="1600"/>
              <a:buNone/>
              <a:defRPr b="1" sz="1600"/>
            </a:lvl5pPr>
            <a:lvl6pPr indent="-228600" lvl="5" marL="2743200" algn="l">
              <a:spcBef>
                <a:spcPts val="60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6" name="Google Shape;36;p5"/>
          <p:cNvSpPr txBox="1"/>
          <p:nvPr>
            <p:ph idx="4" type="body"/>
          </p:nvPr>
        </p:nvSpPr>
        <p:spPr>
          <a:xfrm>
            <a:off x="6093884" y="2533650"/>
            <a:ext cx="5183717" cy="3276600"/>
          </a:xfrm>
          <a:prstGeom prst="rect">
            <a:avLst/>
          </a:prstGeom>
          <a:noFill/>
          <a:ln>
            <a:noFill/>
          </a:ln>
        </p:spPr>
        <p:txBody>
          <a:bodyPr anchorCtr="0" anchor="t" bIns="0" lIns="0" spcFirstLastPara="1" rIns="0" wrap="square" tIns="0">
            <a:noAutofit/>
          </a:bodyPr>
          <a:lstStyle>
            <a:lvl1pPr indent="-266700" lvl="0" marL="457200" algn="l">
              <a:lnSpc>
                <a:spcPct val="116666"/>
              </a:lnSpc>
              <a:spcBef>
                <a:spcPts val="0"/>
              </a:spcBef>
              <a:spcAft>
                <a:spcPts val="0"/>
              </a:spcAft>
              <a:buSzPts val="600"/>
              <a:buChar char=" "/>
              <a:defRPr sz="2400">
                <a:latin typeface="Arial"/>
                <a:ea typeface="Arial"/>
                <a:cs typeface="Arial"/>
                <a:sym typeface="Arial"/>
              </a:defRPr>
            </a:lvl1pPr>
            <a:lvl2pPr indent="-381000" lvl="1" marL="914400" algn="l">
              <a:lnSpc>
                <a:spcPct val="116666"/>
              </a:lnSpc>
              <a:spcBef>
                <a:spcPts val="600"/>
              </a:spcBef>
              <a:spcAft>
                <a:spcPts val="0"/>
              </a:spcAft>
              <a:buSzPts val="2400"/>
              <a:buChar char="•"/>
              <a:defRPr sz="2400">
                <a:latin typeface="Arial"/>
                <a:ea typeface="Arial"/>
                <a:cs typeface="Arial"/>
                <a:sym typeface="Arial"/>
              </a:defRPr>
            </a:lvl2pPr>
            <a:lvl3pPr indent="-381000" lvl="2" marL="1371600" algn="l">
              <a:lnSpc>
                <a:spcPct val="116666"/>
              </a:lnSpc>
              <a:spcBef>
                <a:spcPts val="600"/>
              </a:spcBef>
              <a:spcAft>
                <a:spcPts val="0"/>
              </a:spcAft>
              <a:buClr>
                <a:srgbClr val="003B70"/>
              </a:buClr>
              <a:buSzPts val="2400"/>
              <a:buChar char="-"/>
              <a:defRPr sz="2400">
                <a:latin typeface="Arial"/>
                <a:ea typeface="Arial"/>
                <a:cs typeface="Arial"/>
                <a:sym typeface="Arial"/>
              </a:defRPr>
            </a:lvl3pPr>
            <a:lvl4pPr indent="-381000" lvl="3" marL="1828800" algn="l">
              <a:lnSpc>
                <a:spcPct val="116666"/>
              </a:lnSpc>
              <a:spcBef>
                <a:spcPts val="600"/>
              </a:spcBef>
              <a:spcAft>
                <a:spcPts val="0"/>
              </a:spcAft>
              <a:buClr>
                <a:srgbClr val="003B70"/>
              </a:buClr>
              <a:buSzPts val="2400"/>
              <a:buChar char="-"/>
              <a:defRPr sz="2400">
                <a:latin typeface="Arial"/>
                <a:ea typeface="Arial"/>
                <a:cs typeface="Arial"/>
                <a:sym typeface="Arial"/>
              </a:defRPr>
            </a:lvl4pPr>
            <a:lvl5pPr indent="-381000" lvl="4" marL="2286000" algn="l">
              <a:lnSpc>
                <a:spcPct val="116666"/>
              </a:lnSpc>
              <a:spcBef>
                <a:spcPts val="600"/>
              </a:spcBef>
              <a:spcAft>
                <a:spcPts val="0"/>
              </a:spcAft>
              <a:buClr>
                <a:srgbClr val="003B70"/>
              </a:buClr>
              <a:buSzPts val="2400"/>
              <a:buChar char="-"/>
              <a:defRPr sz="2400">
                <a:latin typeface="Arial"/>
                <a:ea typeface="Arial"/>
                <a:cs typeface="Arial"/>
                <a:sym typeface="Arial"/>
              </a:defRPr>
            </a:lvl5pPr>
            <a:lvl6pPr indent="-228600" lvl="5" marL="2743200" algn="l">
              <a:spcBef>
                <a:spcPts val="600"/>
              </a:spcBef>
              <a:spcAft>
                <a:spcPts val="0"/>
              </a:spcAft>
              <a:buSzPts val="1400"/>
              <a:buNone/>
              <a:defRPr sz="1600"/>
            </a:lvl6pPr>
            <a:lvl7pPr indent="-228600" lvl="6" marL="3200400" algn="l">
              <a:spcBef>
                <a:spcPts val="320"/>
              </a:spcBef>
              <a:spcAft>
                <a:spcPts val="0"/>
              </a:spcAft>
              <a:buSzPts val="1400"/>
              <a:buNone/>
              <a:defRPr sz="1600"/>
            </a:lvl7pPr>
            <a:lvl8pPr indent="-228600" lvl="7" marL="3657600" algn="l">
              <a:spcBef>
                <a:spcPts val="320"/>
              </a:spcBef>
              <a:spcAft>
                <a:spcPts val="0"/>
              </a:spcAft>
              <a:buSzPts val="1400"/>
              <a:buNone/>
              <a:defRPr sz="1600"/>
            </a:lvl8pPr>
            <a:lvl9pPr indent="-228600" lvl="8" marL="4114800" algn="l">
              <a:spcBef>
                <a:spcPts val="320"/>
              </a:spcBef>
              <a:spcAft>
                <a:spcPts val="0"/>
              </a:spcAft>
              <a:buSzPts val="1400"/>
              <a:buNone/>
              <a:defRPr sz="1600"/>
            </a:lvl9pPr>
          </a:lstStyle>
          <a:p/>
        </p:txBody>
      </p:sp>
      <p:sp>
        <p:nvSpPr>
          <p:cNvPr id="37" name="Google Shape;37;p5"/>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algn="r">
              <a:spcBef>
                <a:spcPts val="0"/>
              </a:spcBef>
              <a:buNone/>
              <a:defRPr sz="1000">
                <a:solidFill>
                  <a:srgbClr val="898989"/>
                </a:solidFill>
                <a:latin typeface="Arial"/>
                <a:ea typeface="Arial"/>
                <a:cs typeface="Arial"/>
                <a:sym typeface="Arial"/>
              </a:defRPr>
            </a:lvl1pPr>
            <a:lvl2pPr indent="0" lvl="1" marL="0" algn="r">
              <a:spcBef>
                <a:spcPts val="0"/>
              </a:spcBef>
              <a:buNone/>
              <a:defRPr sz="1000">
                <a:solidFill>
                  <a:srgbClr val="898989"/>
                </a:solidFill>
                <a:latin typeface="Arial"/>
                <a:ea typeface="Arial"/>
                <a:cs typeface="Arial"/>
                <a:sym typeface="Arial"/>
              </a:defRPr>
            </a:lvl2pPr>
            <a:lvl3pPr indent="0" lvl="2" marL="0" algn="r">
              <a:spcBef>
                <a:spcPts val="0"/>
              </a:spcBef>
              <a:buNone/>
              <a:defRPr sz="1000">
                <a:solidFill>
                  <a:srgbClr val="898989"/>
                </a:solidFill>
                <a:latin typeface="Arial"/>
                <a:ea typeface="Arial"/>
                <a:cs typeface="Arial"/>
                <a:sym typeface="Arial"/>
              </a:defRPr>
            </a:lvl3pPr>
            <a:lvl4pPr indent="0" lvl="3" marL="0" algn="r">
              <a:spcBef>
                <a:spcPts val="0"/>
              </a:spcBef>
              <a:buNone/>
              <a:defRPr sz="1000">
                <a:solidFill>
                  <a:srgbClr val="898989"/>
                </a:solidFill>
                <a:latin typeface="Arial"/>
                <a:ea typeface="Arial"/>
                <a:cs typeface="Arial"/>
                <a:sym typeface="Arial"/>
              </a:defRPr>
            </a:lvl4pPr>
            <a:lvl5pPr indent="0" lvl="4" marL="0" algn="r">
              <a:spcBef>
                <a:spcPts val="0"/>
              </a:spcBef>
              <a:buNone/>
              <a:defRPr sz="1000">
                <a:solidFill>
                  <a:srgbClr val="898989"/>
                </a:solidFill>
                <a:latin typeface="Arial"/>
                <a:ea typeface="Arial"/>
                <a:cs typeface="Arial"/>
                <a:sym typeface="Arial"/>
              </a:defRPr>
            </a:lvl5pPr>
            <a:lvl6pPr indent="0" lvl="5" marL="0" algn="r">
              <a:spcBef>
                <a:spcPts val="0"/>
              </a:spcBef>
              <a:buNone/>
              <a:defRPr sz="1000">
                <a:solidFill>
                  <a:srgbClr val="898989"/>
                </a:solidFill>
                <a:latin typeface="Arial"/>
                <a:ea typeface="Arial"/>
                <a:cs typeface="Arial"/>
                <a:sym typeface="Arial"/>
              </a:defRPr>
            </a:lvl6pPr>
            <a:lvl7pPr indent="0" lvl="6" marL="0" algn="r">
              <a:spcBef>
                <a:spcPts val="0"/>
              </a:spcBef>
              <a:buNone/>
              <a:defRPr sz="1000">
                <a:solidFill>
                  <a:srgbClr val="898989"/>
                </a:solidFill>
                <a:latin typeface="Arial"/>
                <a:ea typeface="Arial"/>
                <a:cs typeface="Arial"/>
                <a:sym typeface="Arial"/>
              </a:defRPr>
            </a:lvl7pPr>
            <a:lvl8pPr indent="0" lvl="7" marL="0" algn="r">
              <a:spcBef>
                <a:spcPts val="0"/>
              </a:spcBef>
              <a:buNone/>
              <a:defRPr sz="1000">
                <a:solidFill>
                  <a:srgbClr val="898989"/>
                </a:solidFill>
                <a:latin typeface="Arial"/>
                <a:ea typeface="Arial"/>
                <a:cs typeface="Arial"/>
                <a:sym typeface="Arial"/>
              </a:defRPr>
            </a:lvl8pPr>
            <a:lvl9pPr indent="0" lvl="8" marL="0" algn="r">
              <a:spcBef>
                <a:spcPts val="0"/>
              </a:spcBef>
              <a:buNone/>
              <a:defRPr sz="10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sp>
        <p:nvSpPr>
          <p:cNvPr id="41" name="Google Shape;41;p6"/>
          <p:cNvSpPr txBox="1"/>
          <p:nvPr>
            <p:ph type="title"/>
          </p:nvPr>
        </p:nvSpPr>
        <p:spPr>
          <a:xfrm>
            <a:off x="914400" y="685800"/>
            <a:ext cx="10363200" cy="1143000"/>
          </a:xfrm>
          <a:prstGeom prst="rect">
            <a:avLst/>
          </a:prstGeom>
          <a:noFill/>
          <a:ln>
            <a:noFill/>
          </a:ln>
        </p:spPr>
        <p:txBody>
          <a:bodyPr anchorCtr="0" anchor="ctr" bIns="0" lIns="0" spcFirstLastPara="1" rIns="0" wrap="square" tIns="0">
            <a:noAutofit/>
          </a:bodyPr>
          <a:lstStyle>
            <a:lvl1pPr lvl="0" algn="l">
              <a:lnSpc>
                <a:spcPct val="233333"/>
              </a:lnSpc>
              <a:spcBef>
                <a:spcPts val="0"/>
              </a:spcBef>
              <a:spcAft>
                <a:spcPts val="0"/>
              </a:spcAft>
              <a:buSzPts val="1400"/>
              <a:buNone/>
              <a:defRPr/>
            </a:lvl1pPr>
            <a:lvl2pPr lvl="1" algn="l">
              <a:lnSpc>
                <a:spcPct val="233333"/>
              </a:lnSpc>
              <a:spcBef>
                <a:spcPts val="0"/>
              </a:spcBef>
              <a:spcAft>
                <a:spcPts val="0"/>
              </a:spcAft>
              <a:buSzPts val="1400"/>
              <a:buNone/>
              <a:defRPr/>
            </a:lvl2pPr>
            <a:lvl3pPr lvl="2" algn="l">
              <a:lnSpc>
                <a:spcPct val="233333"/>
              </a:lnSpc>
              <a:spcBef>
                <a:spcPts val="0"/>
              </a:spcBef>
              <a:spcAft>
                <a:spcPts val="0"/>
              </a:spcAft>
              <a:buSzPts val="1400"/>
              <a:buNone/>
              <a:defRPr/>
            </a:lvl3pPr>
            <a:lvl4pPr lvl="3" algn="l">
              <a:lnSpc>
                <a:spcPct val="233333"/>
              </a:lnSpc>
              <a:spcBef>
                <a:spcPts val="0"/>
              </a:spcBef>
              <a:spcAft>
                <a:spcPts val="0"/>
              </a:spcAft>
              <a:buSzPts val="1400"/>
              <a:buNone/>
              <a:defRPr/>
            </a:lvl4pPr>
            <a:lvl5pPr lvl="4" algn="l">
              <a:lnSpc>
                <a:spcPct val="233333"/>
              </a:lnSpc>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lank">
  <p:cSld name="4- Blank">
    <p:spTree>
      <p:nvGrpSpPr>
        <p:cNvPr id="45" name="Shape 45"/>
        <p:cNvGrpSpPr/>
        <p:nvPr/>
      </p:nvGrpSpPr>
      <p:grpSpPr>
        <a:xfrm>
          <a:off x="0" y="0"/>
          <a:ext cx="0" cy="0"/>
          <a:chOff x="0" y="0"/>
          <a:chExt cx="0" cy="0"/>
        </a:xfrm>
      </p:grpSpPr>
      <p:sp>
        <p:nvSpPr>
          <p:cNvPr id="46" name="Google Shape;46;p7"/>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algn="r">
              <a:spcBef>
                <a:spcPts val="0"/>
              </a:spcBef>
              <a:buNone/>
              <a:defRPr sz="1000">
                <a:solidFill>
                  <a:srgbClr val="898989"/>
                </a:solidFill>
                <a:latin typeface="Arial"/>
                <a:ea typeface="Arial"/>
                <a:cs typeface="Arial"/>
                <a:sym typeface="Arial"/>
              </a:defRPr>
            </a:lvl1pPr>
            <a:lvl2pPr indent="0" lvl="1" marL="0" algn="r">
              <a:spcBef>
                <a:spcPts val="0"/>
              </a:spcBef>
              <a:buNone/>
              <a:defRPr sz="1000">
                <a:solidFill>
                  <a:srgbClr val="898989"/>
                </a:solidFill>
                <a:latin typeface="Arial"/>
                <a:ea typeface="Arial"/>
                <a:cs typeface="Arial"/>
                <a:sym typeface="Arial"/>
              </a:defRPr>
            </a:lvl2pPr>
            <a:lvl3pPr indent="0" lvl="2" marL="0" algn="r">
              <a:spcBef>
                <a:spcPts val="0"/>
              </a:spcBef>
              <a:buNone/>
              <a:defRPr sz="1000">
                <a:solidFill>
                  <a:srgbClr val="898989"/>
                </a:solidFill>
                <a:latin typeface="Arial"/>
                <a:ea typeface="Arial"/>
                <a:cs typeface="Arial"/>
                <a:sym typeface="Arial"/>
              </a:defRPr>
            </a:lvl3pPr>
            <a:lvl4pPr indent="0" lvl="3" marL="0" algn="r">
              <a:spcBef>
                <a:spcPts val="0"/>
              </a:spcBef>
              <a:buNone/>
              <a:defRPr sz="1000">
                <a:solidFill>
                  <a:srgbClr val="898989"/>
                </a:solidFill>
                <a:latin typeface="Arial"/>
                <a:ea typeface="Arial"/>
                <a:cs typeface="Arial"/>
                <a:sym typeface="Arial"/>
              </a:defRPr>
            </a:lvl4pPr>
            <a:lvl5pPr indent="0" lvl="4" marL="0" algn="r">
              <a:spcBef>
                <a:spcPts val="0"/>
              </a:spcBef>
              <a:buNone/>
              <a:defRPr sz="1000">
                <a:solidFill>
                  <a:srgbClr val="898989"/>
                </a:solidFill>
                <a:latin typeface="Arial"/>
                <a:ea typeface="Arial"/>
                <a:cs typeface="Arial"/>
                <a:sym typeface="Arial"/>
              </a:defRPr>
            </a:lvl5pPr>
            <a:lvl6pPr indent="0" lvl="5" marL="0" algn="r">
              <a:spcBef>
                <a:spcPts val="0"/>
              </a:spcBef>
              <a:buNone/>
              <a:defRPr sz="1000">
                <a:solidFill>
                  <a:srgbClr val="898989"/>
                </a:solidFill>
                <a:latin typeface="Arial"/>
                <a:ea typeface="Arial"/>
                <a:cs typeface="Arial"/>
                <a:sym typeface="Arial"/>
              </a:defRPr>
            </a:lvl6pPr>
            <a:lvl7pPr indent="0" lvl="6" marL="0" algn="r">
              <a:spcBef>
                <a:spcPts val="0"/>
              </a:spcBef>
              <a:buNone/>
              <a:defRPr sz="1000">
                <a:solidFill>
                  <a:srgbClr val="898989"/>
                </a:solidFill>
                <a:latin typeface="Arial"/>
                <a:ea typeface="Arial"/>
                <a:cs typeface="Arial"/>
                <a:sym typeface="Arial"/>
              </a:defRPr>
            </a:lvl7pPr>
            <a:lvl8pPr indent="0" lvl="7" marL="0" algn="r">
              <a:spcBef>
                <a:spcPts val="0"/>
              </a:spcBef>
              <a:buNone/>
              <a:defRPr sz="1000">
                <a:solidFill>
                  <a:srgbClr val="898989"/>
                </a:solidFill>
                <a:latin typeface="Arial"/>
                <a:ea typeface="Arial"/>
                <a:cs typeface="Arial"/>
                <a:sym typeface="Arial"/>
              </a:defRPr>
            </a:lvl8pPr>
            <a:lvl9pPr indent="0" lvl="8" marL="0" algn="r">
              <a:spcBef>
                <a:spcPts val="0"/>
              </a:spcBef>
              <a:buNone/>
              <a:defRPr sz="1000">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5999168"/>
            <a:ext cx="12192000" cy="914400"/>
          </a:xfrm>
          <a:prstGeom prst="rect">
            <a:avLst/>
          </a:prstGeom>
          <a:solidFill>
            <a:srgbClr val="003B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304800" y="6167437"/>
            <a:ext cx="2762250" cy="574305"/>
          </a:xfrm>
          <a:prstGeom prst="rect">
            <a:avLst/>
          </a:prstGeom>
          <a:noFill/>
          <a:ln>
            <a:noFill/>
          </a:ln>
        </p:spPr>
      </p:pic>
      <p:sp>
        <p:nvSpPr>
          <p:cNvPr id="12" name="Google Shape;12;p1"/>
          <p:cNvSpPr txBox="1"/>
          <p:nvPr>
            <p:ph idx="1" type="body"/>
          </p:nvPr>
        </p:nvSpPr>
        <p:spPr>
          <a:xfrm>
            <a:off x="768353" y="1947863"/>
            <a:ext cx="10509249" cy="3810000"/>
          </a:xfrm>
          <a:prstGeom prst="rect">
            <a:avLst/>
          </a:prstGeom>
          <a:noFill/>
          <a:ln>
            <a:noFill/>
          </a:ln>
        </p:spPr>
        <p:txBody>
          <a:bodyPr anchorCtr="0" anchor="t" bIns="0" lIns="0" spcFirstLastPara="1" rIns="0" wrap="square" tIns="0">
            <a:noAutofit/>
          </a:bodyPr>
          <a:lstStyle>
            <a:lvl1pPr indent="-273050" lvl="0" marL="457200" marR="0" rtl="0" algn="l">
              <a:lnSpc>
                <a:spcPct val="114285"/>
              </a:lnSpc>
              <a:spcBef>
                <a:spcPts val="0"/>
              </a:spcBef>
              <a:spcAft>
                <a:spcPts val="0"/>
              </a:spcAft>
              <a:buClr>
                <a:srgbClr val="173063"/>
              </a:buClr>
              <a:buSzPts val="700"/>
              <a:buFont typeface="Merriweather Sans"/>
              <a:buChar char=" "/>
              <a:defRPr b="0" i="0" sz="2800" u="none" cap="none" strike="noStrike">
                <a:solidFill>
                  <a:srgbClr val="003B70"/>
                </a:solidFill>
                <a:latin typeface="Arial"/>
                <a:ea typeface="Arial"/>
                <a:cs typeface="Arial"/>
                <a:sym typeface="Arial"/>
              </a:defRPr>
            </a:lvl1pPr>
            <a:lvl2pPr indent="-406400" lvl="1" marL="914400" marR="0" rtl="0" algn="l">
              <a:lnSpc>
                <a:spcPct val="114285"/>
              </a:lnSpc>
              <a:spcBef>
                <a:spcPts val="600"/>
              </a:spcBef>
              <a:spcAft>
                <a:spcPts val="0"/>
              </a:spcAft>
              <a:buClr>
                <a:srgbClr val="173063"/>
              </a:buClr>
              <a:buSzPts val="2800"/>
              <a:buFont typeface="Arial"/>
              <a:buChar char="•"/>
              <a:defRPr b="0" i="0" sz="2800" u="none" cap="none" strike="noStrike">
                <a:solidFill>
                  <a:srgbClr val="003B70"/>
                </a:solidFill>
                <a:latin typeface="Arial"/>
                <a:ea typeface="Arial"/>
                <a:cs typeface="Arial"/>
                <a:sym typeface="Arial"/>
              </a:defRPr>
            </a:lvl2pPr>
            <a:lvl3pPr indent="-406400" lvl="2" marL="1371600" marR="0" rtl="0" algn="l">
              <a:lnSpc>
                <a:spcPct val="114285"/>
              </a:lnSpc>
              <a:spcBef>
                <a:spcPts val="600"/>
              </a:spcBef>
              <a:spcAft>
                <a:spcPts val="0"/>
              </a:spcAft>
              <a:buClr>
                <a:srgbClr val="003B70"/>
              </a:buClr>
              <a:buSzPts val="2800"/>
              <a:buFont typeface="Merriweather Sans"/>
              <a:buChar char="-"/>
              <a:defRPr b="0" i="0" sz="2800" u="none" cap="none" strike="noStrike">
                <a:solidFill>
                  <a:srgbClr val="003B70"/>
                </a:solidFill>
                <a:latin typeface="Arial"/>
                <a:ea typeface="Arial"/>
                <a:cs typeface="Arial"/>
                <a:sym typeface="Arial"/>
              </a:defRPr>
            </a:lvl3pPr>
            <a:lvl4pPr indent="-406400" lvl="3" marL="1828800" marR="0" rtl="0" algn="l">
              <a:lnSpc>
                <a:spcPct val="114285"/>
              </a:lnSpc>
              <a:spcBef>
                <a:spcPts val="600"/>
              </a:spcBef>
              <a:spcAft>
                <a:spcPts val="0"/>
              </a:spcAft>
              <a:buClr>
                <a:srgbClr val="003B70"/>
              </a:buClr>
              <a:buSzPts val="2800"/>
              <a:buFont typeface="Merriweather Sans"/>
              <a:buChar char="-"/>
              <a:defRPr b="0" i="0" sz="2800" u="none" cap="none" strike="noStrike">
                <a:solidFill>
                  <a:srgbClr val="003B70"/>
                </a:solidFill>
                <a:latin typeface="Arial"/>
                <a:ea typeface="Arial"/>
                <a:cs typeface="Arial"/>
                <a:sym typeface="Arial"/>
              </a:defRPr>
            </a:lvl4pPr>
            <a:lvl5pPr indent="-406400" lvl="4" marL="2286000" marR="0" rtl="0" algn="l">
              <a:lnSpc>
                <a:spcPct val="114285"/>
              </a:lnSpc>
              <a:spcBef>
                <a:spcPts val="600"/>
              </a:spcBef>
              <a:spcAft>
                <a:spcPts val="0"/>
              </a:spcAft>
              <a:buClr>
                <a:srgbClr val="003B70"/>
              </a:buClr>
              <a:buSzPts val="2800"/>
              <a:buFont typeface="Merriweather Sans"/>
              <a:buChar char="-"/>
              <a:defRPr b="0" i="0" sz="2800" u="none" cap="none" strike="noStrike">
                <a:solidFill>
                  <a:srgbClr val="003B70"/>
                </a:solidFill>
                <a:latin typeface="Arial"/>
                <a:ea typeface="Arial"/>
                <a:cs typeface="Arial"/>
                <a:sym typeface="Arial"/>
              </a:defRPr>
            </a:lvl5pPr>
            <a:lvl6pPr indent="-228600" lvl="5" marL="2743200" marR="0" rtl="0" algn="l">
              <a:spcBef>
                <a:spcPts val="600"/>
              </a:spcBef>
              <a:spcAft>
                <a:spcPts val="0"/>
              </a:spcAft>
              <a:buSzPts val="1400"/>
              <a:buNone/>
              <a:defRPr b="0" i="0" sz="2200" u="none" cap="none" strike="noStrike">
                <a:solidFill>
                  <a:schemeClr val="dk1"/>
                </a:solidFill>
                <a:latin typeface="Arial"/>
                <a:ea typeface="Arial"/>
                <a:cs typeface="Arial"/>
                <a:sym typeface="Arial"/>
              </a:defRPr>
            </a:lvl6pPr>
            <a:lvl7pPr indent="-228600" lvl="6" marL="3200400" marR="0" rtl="0" algn="l">
              <a:spcBef>
                <a:spcPts val="440"/>
              </a:spcBef>
              <a:spcAft>
                <a:spcPts val="0"/>
              </a:spcAft>
              <a:buSzPts val="1400"/>
              <a:buNone/>
              <a:defRPr b="0" i="0" sz="2200" u="none" cap="none" strike="noStrike">
                <a:solidFill>
                  <a:schemeClr val="dk1"/>
                </a:solidFill>
                <a:latin typeface="Arial"/>
                <a:ea typeface="Arial"/>
                <a:cs typeface="Arial"/>
                <a:sym typeface="Arial"/>
              </a:defRPr>
            </a:lvl7pPr>
            <a:lvl8pPr indent="-228600" lvl="7" marL="3657600" marR="0" rtl="0" algn="l">
              <a:spcBef>
                <a:spcPts val="440"/>
              </a:spcBef>
              <a:spcAft>
                <a:spcPts val="0"/>
              </a:spcAft>
              <a:buSzPts val="1400"/>
              <a:buNone/>
              <a:defRPr b="0" i="0" sz="2200" u="none" cap="none" strike="noStrike">
                <a:solidFill>
                  <a:schemeClr val="dk1"/>
                </a:solidFill>
                <a:latin typeface="Arial"/>
                <a:ea typeface="Arial"/>
                <a:cs typeface="Arial"/>
                <a:sym typeface="Arial"/>
              </a:defRPr>
            </a:lvl8pPr>
            <a:lvl9pPr indent="-228600" lvl="8" marL="4114800" marR="0" rtl="0" algn="l">
              <a:spcBef>
                <a:spcPts val="440"/>
              </a:spcBef>
              <a:spcAft>
                <a:spcPts val="0"/>
              </a:spcAft>
              <a:buSzPts val="1400"/>
              <a:buNone/>
              <a:defRPr b="0" i="0" sz="2200" u="none" cap="none" strike="noStrike">
                <a:solidFill>
                  <a:schemeClr val="dk1"/>
                </a:solidFill>
                <a:latin typeface="Arial"/>
                <a:ea typeface="Arial"/>
                <a:cs typeface="Arial"/>
                <a:sym typeface="Arial"/>
              </a:defRPr>
            </a:lvl9pPr>
          </a:lstStyle>
          <a:p/>
        </p:txBody>
      </p:sp>
      <p:sp>
        <p:nvSpPr>
          <p:cNvPr id="13" name="Google Shape;13;p1"/>
          <p:cNvSpPr txBox="1"/>
          <p:nvPr>
            <p:ph type="title"/>
          </p:nvPr>
        </p:nvSpPr>
        <p:spPr>
          <a:xfrm>
            <a:off x="914400" y="685800"/>
            <a:ext cx="10363200" cy="1143000"/>
          </a:xfrm>
          <a:prstGeom prst="rect">
            <a:avLst/>
          </a:prstGeom>
          <a:noFill/>
          <a:ln>
            <a:noFill/>
          </a:ln>
        </p:spPr>
        <p:txBody>
          <a:bodyPr anchorCtr="0" anchor="ctr" bIns="0" lIns="0" spcFirstLastPara="1" rIns="0" wrap="square" tIns="0">
            <a:noAutofit/>
          </a:bodyPr>
          <a:lstStyle>
            <a:lvl1pPr lvl="0" marR="0" rtl="0" algn="l">
              <a:lnSpc>
                <a:spcPct val="104999"/>
              </a:lnSpc>
              <a:spcBef>
                <a:spcPts val="0"/>
              </a:spcBef>
              <a:spcAft>
                <a:spcPts val="0"/>
              </a:spcAft>
              <a:buSzPts val="1400"/>
              <a:buNone/>
              <a:defRPr b="0" i="0" sz="4000" u="none" cap="none" strike="noStrike">
                <a:solidFill>
                  <a:srgbClr val="003B70"/>
                </a:solidFill>
                <a:latin typeface="Arial"/>
                <a:ea typeface="Arial"/>
                <a:cs typeface="Arial"/>
                <a:sym typeface="Arial"/>
              </a:defRPr>
            </a:lvl1pPr>
            <a:lvl2pPr lvl="1" marR="0" rtl="0" algn="l">
              <a:lnSpc>
                <a:spcPct val="104999"/>
              </a:lnSpc>
              <a:spcBef>
                <a:spcPts val="0"/>
              </a:spcBef>
              <a:spcAft>
                <a:spcPts val="0"/>
              </a:spcAft>
              <a:buSzPts val="1400"/>
              <a:buNone/>
              <a:defRPr b="0" i="0" sz="4000" u="none" cap="none" strike="noStrike">
                <a:solidFill>
                  <a:srgbClr val="003B70"/>
                </a:solidFill>
                <a:latin typeface="Arial"/>
                <a:ea typeface="Arial"/>
                <a:cs typeface="Arial"/>
                <a:sym typeface="Arial"/>
              </a:defRPr>
            </a:lvl2pPr>
            <a:lvl3pPr lvl="2" marR="0" rtl="0" algn="l">
              <a:lnSpc>
                <a:spcPct val="104999"/>
              </a:lnSpc>
              <a:spcBef>
                <a:spcPts val="0"/>
              </a:spcBef>
              <a:spcAft>
                <a:spcPts val="0"/>
              </a:spcAft>
              <a:buSzPts val="1400"/>
              <a:buNone/>
              <a:defRPr b="0" i="0" sz="4000" u="none" cap="none" strike="noStrike">
                <a:solidFill>
                  <a:srgbClr val="003B70"/>
                </a:solidFill>
                <a:latin typeface="Arial"/>
                <a:ea typeface="Arial"/>
                <a:cs typeface="Arial"/>
                <a:sym typeface="Arial"/>
              </a:defRPr>
            </a:lvl3pPr>
            <a:lvl4pPr lvl="3" marR="0" rtl="0" algn="l">
              <a:lnSpc>
                <a:spcPct val="104999"/>
              </a:lnSpc>
              <a:spcBef>
                <a:spcPts val="0"/>
              </a:spcBef>
              <a:spcAft>
                <a:spcPts val="0"/>
              </a:spcAft>
              <a:buSzPts val="1400"/>
              <a:buNone/>
              <a:defRPr b="0" i="0" sz="4000" u="none" cap="none" strike="noStrike">
                <a:solidFill>
                  <a:srgbClr val="003B70"/>
                </a:solidFill>
                <a:latin typeface="Arial"/>
                <a:ea typeface="Arial"/>
                <a:cs typeface="Arial"/>
                <a:sym typeface="Arial"/>
              </a:defRPr>
            </a:lvl4pPr>
            <a:lvl5pPr lvl="4" marR="0" rtl="0" algn="l">
              <a:lnSpc>
                <a:spcPct val="104999"/>
              </a:lnSpc>
              <a:spcBef>
                <a:spcPts val="0"/>
              </a:spcBef>
              <a:spcAft>
                <a:spcPts val="0"/>
              </a:spcAft>
              <a:buSzPts val="1400"/>
              <a:buNone/>
              <a:defRPr b="0" i="0" sz="4000" u="none" cap="none" strike="noStrike">
                <a:solidFill>
                  <a:srgbClr val="003B70"/>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71BEFF"/>
                </a:solidFill>
                <a:latin typeface="Palatino"/>
                <a:ea typeface="Palatino"/>
                <a:cs typeface="Palatino"/>
                <a:sym typeface="Palatino"/>
              </a:defRPr>
            </a:lvl6pPr>
            <a:lvl7pPr lvl="6" marR="0" rtl="0" algn="l">
              <a:spcBef>
                <a:spcPts val="0"/>
              </a:spcBef>
              <a:spcAft>
                <a:spcPts val="0"/>
              </a:spcAft>
              <a:buSzPts val="1400"/>
              <a:buNone/>
              <a:defRPr b="1" i="0" sz="3200" u="none" cap="none" strike="noStrike">
                <a:solidFill>
                  <a:srgbClr val="71BEFF"/>
                </a:solidFill>
                <a:latin typeface="Palatino"/>
                <a:ea typeface="Palatino"/>
                <a:cs typeface="Palatino"/>
                <a:sym typeface="Palatino"/>
              </a:defRPr>
            </a:lvl7pPr>
            <a:lvl8pPr lvl="7" marR="0" rtl="0" algn="l">
              <a:spcBef>
                <a:spcPts val="0"/>
              </a:spcBef>
              <a:spcAft>
                <a:spcPts val="0"/>
              </a:spcAft>
              <a:buSzPts val="1400"/>
              <a:buNone/>
              <a:defRPr b="1" i="0" sz="3200" u="none" cap="none" strike="noStrike">
                <a:solidFill>
                  <a:srgbClr val="71BEFF"/>
                </a:solidFill>
                <a:latin typeface="Palatino"/>
                <a:ea typeface="Palatino"/>
                <a:cs typeface="Palatino"/>
                <a:sym typeface="Palatino"/>
              </a:defRPr>
            </a:lvl8pPr>
            <a:lvl9pPr lvl="8" marR="0" rtl="0" algn="l">
              <a:spcBef>
                <a:spcPts val="0"/>
              </a:spcBef>
              <a:spcAft>
                <a:spcPts val="0"/>
              </a:spcAft>
              <a:buSzPts val="1400"/>
              <a:buNone/>
              <a:defRPr b="1" i="0" sz="3200" u="none" cap="none" strike="noStrike">
                <a:solidFill>
                  <a:srgbClr val="71BEFF"/>
                </a:solidFill>
                <a:latin typeface="Palatino"/>
                <a:ea typeface="Palatino"/>
                <a:cs typeface="Palatino"/>
                <a:sym typeface="Palatino"/>
              </a:defRPr>
            </a:lvl9pPr>
          </a:lstStyle>
          <a:p/>
        </p:txBody>
      </p:sp>
      <p:sp>
        <p:nvSpPr>
          <p:cNvPr id="14" name="Google Shape;14;p1"/>
          <p:cNvSpPr txBox="1"/>
          <p:nvPr>
            <p:ph idx="10" type="dt"/>
          </p:nvPr>
        </p:nvSpPr>
        <p:spPr>
          <a:xfrm>
            <a:off x="304800" y="6629403"/>
            <a:ext cx="2844800" cy="1365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000" u="none" cap="none" strike="noStrike">
                <a:solidFill>
                  <a:srgbClr val="89898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
          <p:cNvSpPr txBox="1"/>
          <p:nvPr>
            <p:ph idx="11" type="ftr"/>
          </p:nvPr>
        </p:nvSpPr>
        <p:spPr>
          <a:xfrm>
            <a:off x="4165600" y="6629403"/>
            <a:ext cx="3860800" cy="136525"/>
          </a:xfrm>
          <a:prstGeom prst="rect">
            <a:avLst/>
          </a:prstGeom>
          <a:noFill/>
          <a:ln>
            <a:noFill/>
          </a:ln>
        </p:spPr>
        <p:txBody>
          <a:bodyPr anchorCtr="0" anchor="ctr" bIns="0" lIns="0" spcFirstLastPara="1" rIns="0" wrap="square" tIns="0">
            <a:noAutofit/>
          </a:bodyPr>
          <a:lstStyle>
            <a:lvl1pPr lvl="0" marR="0" rtl="0" algn="ctr">
              <a:spcBef>
                <a:spcPts val="0"/>
              </a:spcBef>
              <a:spcAft>
                <a:spcPts val="0"/>
              </a:spcAft>
              <a:buSzPts val="1400"/>
              <a:buNone/>
              <a:defRPr b="0" i="0" sz="10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1"/>
          <p:cNvSpPr txBox="1"/>
          <p:nvPr>
            <p:ph idx="12" type="sldNum"/>
          </p:nvPr>
        </p:nvSpPr>
        <p:spPr>
          <a:xfrm>
            <a:off x="9144000" y="6629403"/>
            <a:ext cx="2844800" cy="136525"/>
          </a:xfrm>
          <a:prstGeom prst="rect">
            <a:avLst/>
          </a:prstGeom>
          <a:noFill/>
          <a:ln>
            <a:noFill/>
          </a:ln>
        </p:spPr>
        <p:txBody>
          <a:bodyPr anchorCtr="0" anchor="ctr" bIns="0" lIns="0" spcFirstLastPara="1" rIns="0" wrap="square" tIns="0">
            <a:noAutofit/>
          </a:bodyPr>
          <a:lstStyle>
            <a:lvl1pPr indent="0" lvl="0" marL="0" marR="0" rtl="0" algn="r">
              <a:spcBef>
                <a:spcPts val="0"/>
              </a:spcBef>
              <a:buNone/>
              <a:defRPr b="0" i="0" sz="1000" u="none" cap="none" strike="noStrike">
                <a:solidFill>
                  <a:srgbClr val="898989"/>
                </a:solidFill>
                <a:latin typeface="Arial"/>
                <a:ea typeface="Arial"/>
                <a:cs typeface="Arial"/>
                <a:sym typeface="Arial"/>
              </a:defRPr>
            </a:lvl1pPr>
            <a:lvl2pPr indent="0" lvl="1" marL="0" marR="0" rtl="0" algn="r">
              <a:spcBef>
                <a:spcPts val="0"/>
              </a:spcBef>
              <a:buNone/>
              <a:defRPr b="0" i="0" sz="1000" u="none" cap="none" strike="noStrike">
                <a:solidFill>
                  <a:srgbClr val="898989"/>
                </a:solidFill>
                <a:latin typeface="Arial"/>
                <a:ea typeface="Arial"/>
                <a:cs typeface="Arial"/>
                <a:sym typeface="Arial"/>
              </a:defRPr>
            </a:lvl2pPr>
            <a:lvl3pPr indent="0" lvl="2" marL="0" marR="0" rtl="0" algn="r">
              <a:spcBef>
                <a:spcPts val="0"/>
              </a:spcBef>
              <a:buNone/>
              <a:defRPr b="0" i="0" sz="1000" u="none" cap="none" strike="noStrike">
                <a:solidFill>
                  <a:srgbClr val="898989"/>
                </a:solidFill>
                <a:latin typeface="Arial"/>
                <a:ea typeface="Arial"/>
                <a:cs typeface="Arial"/>
                <a:sym typeface="Arial"/>
              </a:defRPr>
            </a:lvl3pPr>
            <a:lvl4pPr indent="0" lvl="3" marL="0" marR="0" rtl="0" algn="r">
              <a:spcBef>
                <a:spcPts val="0"/>
              </a:spcBef>
              <a:buNone/>
              <a:defRPr b="0" i="0" sz="1000" u="none" cap="none" strike="noStrike">
                <a:solidFill>
                  <a:srgbClr val="898989"/>
                </a:solidFill>
                <a:latin typeface="Arial"/>
                <a:ea typeface="Arial"/>
                <a:cs typeface="Arial"/>
                <a:sym typeface="Arial"/>
              </a:defRPr>
            </a:lvl4pPr>
            <a:lvl5pPr indent="0" lvl="4" marL="0" marR="0" rtl="0" algn="r">
              <a:spcBef>
                <a:spcPts val="0"/>
              </a:spcBef>
              <a:buNone/>
              <a:defRPr b="0" i="0" sz="1000" u="none" cap="none" strike="noStrike">
                <a:solidFill>
                  <a:srgbClr val="898989"/>
                </a:solidFill>
                <a:latin typeface="Arial"/>
                <a:ea typeface="Arial"/>
                <a:cs typeface="Arial"/>
                <a:sym typeface="Arial"/>
              </a:defRPr>
            </a:lvl5pPr>
            <a:lvl6pPr indent="0" lvl="5" marL="0" marR="0" rtl="0" algn="r">
              <a:spcBef>
                <a:spcPts val="0"/>
              </a:spcBef>
              <a:buNone/>
              <a:defRPr b="0" i="0" sz="1000" u="none" cap="none" strike="noStrike">
                <a:solidFill>
                  <a:srgbClr val="898989"/>
                </a:solidFill>
                <a:latin typeface="Arial"/>
                <a:ea typeface="Arial"/>
                <a:cs typeface="Arial"/>
                <a:sym typeface="Arial"/>
              </a:defRPr>
            </a:lvl6pPr>
            <a:lvl7pPr indent="0" lvl="6" marL="0" marR="0" rtl="0" algn="r">
              <a:spcBef>
                <a:spcPts val="0"/>
              </a:spcBef>
              <a:buNone/>
              <a:defRPr b="0" i="0" sz="1000" u="none" cap="none" strike="noStrike">
                <a:solidFill>
                  <a:srgbClr val="898989"/>
                </a:solidFill>
                <a:latin typeface="Arial"/>
                <a:ea typeface="Arial"/>
                <a:cs typeface="Arial"/>
                <a:sym typeface="Arial"/>
              </a:defRPr>
            </a:lvl7pPr>
            <a:lvl8pPr indent="0" lvl="7" marL="0" marR="0" rtl="0" algn="r">
              <a:spcBef>
                <a:spcPts val="0"/>
              </a:spcBef>
              <a:buNone/>
              <a:defRPr b="0" i="0" sz="1000" u="none" cap="none" strike="noStrike">
                <a:solidFill>
                  <a:srgbClr val="898989"/>
                </a:solidFill>
                <a:latin typeface="Arial"/>
                <a:ea typeface="Arial"/>
                <a:cs typeface="Arial"/>
                <a:sym typeface="Arial"/>
              </a:defRPr>
            </a:lvl8pPr>
            <a:lvl9pPr indent="0" lvl="8" marL="0" marR="0" rtl="0" algn="r">
              <a:spcBef>
                <a:spcPts val="0"/>
              </a:spcBef>
              <a:buNone/>
              <a:defRPr b="0" i="0" sz="10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5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Predictive Modeling for Credit Risk</a:t>
            </a:r>
          </a:p>
        </p:txBody>
      </p:sp>
      <p:sp>
        <p:nvSpPr>
          <p:cNvPr id="3" name="Subtitle 2"/>
          <p:cNvSpPr>
            <a:spLocks noGrp="1"/>
          </p:cNvSpPr>
          <p:nvPr>
            <p:ph type="subTitle" idx="1"/>
          </p:nvPr>
        </p:nvSpPr>
        <p:spPr/>
        <p:txBody>
          <a:bodyPr/>
          <a:lstStyle/>
          <a:p>
            <a:pPr>
              <a:spcAft>
                <a:spcPts val="800"/>
              </a:spcAft>
              <a:defRPr sz="1600" b="1">
                <a:solidFill>
                  <a:srgbClr val="646464"/>
                </a:solidFill>
                <a:latin typeface="Arial"/>
              </a:defRPr>
            </a:pPr>
            <a:r>
              <a:t>Applied Probability and Statistics for AI (AAI-500-IN1)</a:t>
            </a:r>
          </a:p>
          <a:p>
            <a:pPr>
              <a:spcAft>
                <a:spcPts val="800"/>
              </a:spcAft>
              <a:defRPr sz="1400" b="0">
                <a:solidFill>
                  <a:srgbClr val="1E1E1E"/>
                </a:solidFill>
                <a:latin typeface="Arial"/>
              </a:defRPr>
            </a:pPr>
            <a:r>
              <a:t>Presenters: Diaesh Antony | N L N Sai Krishna Akula | Ashok Kumar Bhairwal</a:t>
            </a:r>
          </a:p>
          <a:p>
            <a:pPr>
              <a:spcAft>
                <a:spcPts val="800"/>
              </a:spcAft>
              <a:defRPr sz="1400" b="1">
                <a:solidFill>
                  <a:srgbClr val="0070B9"/>
                </a:solidFill>
                <a:latin typeface="Arial"/>
              </a:defRPr>
            </a:pPr>
            <a:r>
              <a:t>University of San Diego</a:t>
            </a:r>
          </a:p>
          <a:p>
            <a:pPr>
              <a:spcAft>
                <a:spcPts val="800"/>
              </a:spcAft>
              <a:defRPr sz="1200" b="0">
                <a:solidFill>
                  <a:srgbClr val="646464"/>
                </a:solidFill>
                <a:latin typeface="Arial"/>
              </a:defRPr>
            </a:pPr>
            <a:r>
              <a:t>Instructor: Dr. Ebrahim Tarshizi | Date: June 15, 2026</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Predictive Modeling for Credit Risk</a:t>
            </a:r>
          </a:p>
        </p:txBody>
      </p:sp>
      <p:sp>
        <p:nvSpPr>
          <p:cNvPr id="3" name="Subtitle 2"/>
          <p:cNvSpPr>
            <a:spLocks noGrp="1"/>
          </p:cNvSpPr>
          <p:nvPr>
            <p:ph type="subTitle" idx="1"/>
          </p:nvPr>
        </p:nvSpPr>
        <p:spPr/>
        <p:txBody>
          <a:bodyPr/>
          <a:lstStyle/>
          <a:p>
            <a:pPr>
              <a:spcAft>
                <a:spcPts val="800"/>
              </a:spcAft>
              <a:defRPr sz="1600" b="1">
                <a:solidFill>
                  <a:srgbClr val="646464"/>
                </a:solidFill>
                <a:latin typeface="Arial"/>
              </a:defRPr>
            </a:pPr>
            <a:r>
              <a:t>Applied Probability and Statistics for AI (AAI-500-IN1)</a:t>
            </a:r>
          </a:p>
          <a:p>
            <a:pPr>
              <a:spcAft>
                <a:spcPts val="800"/>
              </a:spcAft>
              <a:defRPr sz="1400" b="0">
                <a:solidFill>
                  <a:srgbClr val="1E1E1E"/>
                </a:solidFill>
                <a:latin typeface="Arial"/>
              </a:defRPr>
            </a:pPr>
            <a:r>
              <a:t>Presenters: Diaesh Antony | N L N Sai Krishna Akula | Ashok Kumar Bhairwal</a:t>
            </a:r>
          </a:p>
          <a:p>
            <a:pPr>
              <a:spcAft>
                <a:spcPts val="800"/>
              </a:spcAft>
              <a:defRPr sz="1400" b="1">
                <a:solidFill>
                  <a:srgbClr val="0070B9"/>
                </a:solidFill>
                <a:latin typeface="Arial"/>
              </a:defRPr>
            </a:pPr>
            <a:r>
              <a:t>University of San Diego</a:t>
            </a:r>
          </a:p>
          <a:p>
            <a:pPr>
              <a:spcAft>
                <a:spcPts val="800"/>
              </a:spcAft>
              <a:defRPr sz="1200" b="0">
                <a:solidFill>
                  <a:srgbClr val="646464"/>
                </a:solidFill>
                <a:latin typeface="Arial"/>
              </a:defRPr>
            </a:pPr>
            <a:r>
              <a:t>Instructor: Dr. Ebrahim Tarshizi | Date: June 15,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Business Context &amp; Errors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Lending Decisions Under Uncertainty</a:t>
            </a:r>
          </a:p>
          <a:p>
            <a:pPr>
              <a:spcAft>
                <a:spcPts val="800"/>
              </a:spcAft>
              <a:defRPr sz="1300" b="0">
                <a:solidFill>
                  <a:srgbClr val="1E1E1E"/>
                </a:solidFill>
                <a:latin typeface="Arial"/>
              </a:defRPr>
            </a:pPr>
            <a:r>
              <a:t>Lenders must answer two central questions when reviewing a loan application:</a:t>
            </a:r>
          </a:p>
          <a:p>
            <a:pPr lvl="1">
              <a:spcAft>
                <a:spcPts val="800"/>
              </a:spcAft>
              <a:defRPr sz="1300" b="0">
                <a:solidFill>
                  <a:srgbClr val="1E1E1E"/>
                </a:solidFill>
                <a:latin typeface="Arial"/>
              </a:defRPr>
            </a:pPr>
            <a:r>
              <a:t>1. Is this borrower likely to default on their loan obligation?</a:t>
            </a:r>
          </a:p>
          <a:p>
            <a:pPr lvl="1">
              <a:spcAft>
                <a:spcPts val="800"/>
              </a:spcAft>
              <a:defRPr sz="1300" b="0">
                <a:solidFill>
                  <a:srgbClr val="1E1E1E"/>
                </a:solidFill>
                <a:latin typeface="Arial"/>
              </a:defRPr>
            </a:pPr>
            <a:r>
              <a:t>2. What interest rate reflects their risk without driving creditworthy borrowers away?</a:t>
            </a:r>
          </a:p>
          <a:p>
            <a:pPr>
              <a:spcAft>
                <a:spcPts val="800"/>
              </a:spcAft>
              <a:defRPr sz="1600" b="1">
                <a:solidFill>
                  <a:srgbClr val="0070B9"/>
                </a:solidFill>
                <a:latin typeface="Arial"/>
              </a:defRPr>
            </a:pPr>
            <a:r>
              <a:t>Statistical Hypothesis Framework</a:t>
            </a:r>
          </a:p>
          <a:p>
            <a:pPr>
              <a:spcAft>
                <a:spcPts val="800"/>
              </a:spcAft>
              <a:defRPr sz="1300" b="0">
                <a:solidFill>
                  <a:srgbClr val="1E1E1E"/>
                </a:solidFill>
                <a:latin typeface="Arial"/>
              </a:defRPr>
            </a:pPr>
            <a:r>
              <a:t>We map lending outcomes to classical error reasoning:</a:t>
            </a:r>
          </a:p>
          <a:p>
            <a:pPr lvl="1">
              <a:spcAft>
                <a:spcPts val="800"/>
              </a:spcAft>
              <a:defRPr sz="1200" b="0">
                <a:solidFill>
                  <a:srgbClr val="1E1E1E"/>
                </a:solidFill>
                <a:latin typeface="Arial"/>
              </a:defRPr>
            </a:pPr>
            <a:r>
              <a:t>* Type I Error (Under-pricing risk): Lender treats a risky borrower as safe, setting too low of a rate. Borrower subsequently defaults, causing principal loss.</a:t>
            </a:r>
          </a:p>
          <a:p>
            <a:pPr lvl="1">
              <a:spcAft>
                <a:spcPts val="800"/>
              </a:spcAft>
              <a:defRPr sz="1200" b="0">
                <a:solidFill>
                  <a:srgbClr val="1E1E1E"/>
                </a:solidFill>
                <a:latin typeface="Arial"/>
              </a:defRPr>
            </a:pPr>
            <a:r>
              <a:t>* Type II Error (Over-pricing risk): Lender treats a safe borrower as risky, setting too high of a rate. The borrower walks to a competitor, causing lost business opportunity.</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691640"/>
                <a:gridCol w="1691640"/>
              </a:tblGrid>
              <a:tr h="1371600">
                <a:tc>
                  <a:txBody>
                    <a:bodyPr/>
                    <a:lstStyle/>
                    <a:p>
                      <a:pPr algn="ctr">
                        <a:defRPr sz="1100" b="1">
                          <a:solidFill>
                            <a:srgbClr val="FFFFFF"/>
                          </a:solidFill>
                          <a:latin typeface="Arial"/>
                        </a:defRPr>
                      </a:pPr>
                      <a:r>
                        <a:t>Decision / Reality</a:t>
                      </a:r>
                    </a:p>
                  </a:txBody>
                  <a:tcPr>
                    <a:solidFill>
                      <a:srgbClr val="0070B9"/>
                    </a:solidFill>
                  </a:tcPr>
                </a:tc>
                <a:tc>
                  <a:txBody>
                    <a:bodyPr/>
                    <a:lstStyle/>
                    <a:p>
                      <a:pPr algn="ctr">
                        <a:defRPr sz="1100" b="1">
                          <a:solidFill>
                            <a:srgbClr val="FFFFFF"/>
                          </a:solidFill>
                          <a:latin typeface="Arial"/>
                        </a:defRPr>
                      </a:pPr>
                      <a:r>
                        <a:t>Default (Risky)</a:t>
                      </a:r>
                    </a:p>
                  </a:txBody>
                  <a:tcPr>
                    <a:solidFill>
                      <a:srgbClr val="0070B9"/>
                    </a:solidFill>
                  </a:tcPr>
                </a:tc>
                <a:tc>
                  <a:txBody>
                    <a:bodyPr/>
                    <a:lstStyle/>
                    <a:p>
                      <a:pPr algn="ctr">
                        <a:defRPr sz="1100" b="1">
                          <a:solidFill>
                            <a:srgbClr val="FFFFFF"/>
                          </a:solidFill>
                          <a:latin typeface="Arial"/>
                        </a:defRPr>
                      </a:pPr>
                      <a:r>
                        <a:t>Repay (Safe)</a:t>
                      </a:r>
                    </a:p>
                  </a:txBody>
                  <a:tcPr>
                    <a:solidFill>
                      <a:srgbClr val="0070B9"/>
                    </a:solidFill>
                  </a:tcPr>
                </a:tc>
              </a:tr>
              <a:tr h="1371600">
                <a:tc>
                  <a:txBody>
                    <a:bodyPr/>
                    <a:lstStyle/>
                    <a:p>
                      <a:pPr algn="ctr">
                        <a:defRPr sz="950">
                          <a:solidFill>
                            <a:srgbClr val="323232"/>
                          </a:solidFill>
                          <a:latin typeface="Arial"/>
                        </a:defRPr>
                      </a:pPr>
                      <a:r>
                        <a:t>Approve Loan</a:t>
                      </a:r>
                    </a:p>
                  </a:txBody>
                  <a:tcPr>
                    <a:solidFill>
                      <a:srgbClr val="F5F5F5"/>
                    </a:solidFill>
                  </a:tcPr>
                </a:tc>
                <a:tc>
                  <a:txBody>
                    <a:bodyPr/>
                    <a:lstStyle/>
                    <a:p>
                      <a:pPr algn="ctr">
                        <a:defRPr sz="950">
                          <a:solidFill>
                            <a:srgbClr val="323232"/>
                          </a:solidFill>
                          <a:latin typeface="Arial"/>
                        </a:defRPr>
                      </a:pPr>
                      <a:r>
                        <a:t>Type I Error</a:t>
                      </a:r>
                    </a:p>
                    <a:p>
                      <a:r>
                        <a:t>(Missed Default)</a:t>
                      </a:r>
                    </a:p>
                  </a:txBody>
                  <a:tcPr>
                    <a:solidFill>
                      <a:srgbClr val="F5F5F5"/>
                    </a:solidFill>
                  </a:tcPr>
                </a:tc>
                <a:tc>
                  <a:txBody>
                    <a:bodyPr/>
                    <a:lstStyle/>
                    <a:p>
                      <a:pPr algn="ctr">
                        <a:defRPr sz="950">
                          <a:solidFill>
                            <a:srgbClr val="323232"/>
                          </a:solidFill>
                          <a:latin typeface="Arial"/>
                        </a:defRPr>
                      </a:pPr>
                      <a:r>
                        <a:t>Correct Decision</a:t>
                      </a:r>
                    </a:p>
                    <a:p>
                      <a:r>
                        <a:t>(Interest Income)</a:t>
                      </a:r>
                    </a:p>
                  </a:txBody>
                  <a:tcPr>
                    <a:solidFill>
                      <a:srgbClr val="F5F5F5"/>
                    </a:solidFill>
                  </a:tcPr>
                </a:tc>
              </a:tr>
              <a:tr h="1371600">
                <a:tc>
                  <a:txBody>
                    <a:bodyPr/>
                    <a:lstStyle/>
                    <a:p>
                      <a:pPr algn="ctr">
                        <a:defRPr sz="950">
                          <a:solidFill>
                            <a:srgbClr val="323232"/>
                          </a:solidFill>
                          <a:latin typeface="Arial"/>
                        </a:defRPr>
                      </a:pPr>
                      <a:r>
                        <a:t>Deny / High Rate</a:t>
                      </a:r>
                    </a:p>
                  </a:txBody>
                  <a:tcPr>
                    <a:solidFill>
                      <a:srgbClr val="FFFFFF"/>
                    </a:solidFill>
                  </a:tcPr>
                </a:tc>
                <a:tc>
                  <a:txBody>
                    <a:bodyPr/>
                    <a:lstStyle/>
                    <a:p>
                      <a:pPr algn="ctr">
                        <a:defRPr sz="950">
                          <a:solidFill>
                            <a:srgbClr val="323232"/>
                          </a:solidFill>
                          <a:latin typeface="Arial"/>
                        </a:defRPr>
                      </a:pPr>
                      <a:r>
                        <a:t>Correct Decision</a:t>
                      </a:r>
                    </a:p>
                    <a:p>
                      <a:r>
                        <a:t>(Risk Mitigated)</a:t>
                      </a:r>
                    </a:p>
                  </a:txBody>
                  <a:tcPr>
                    <a:solidFill>
                      <a:srgbClr val="FFFFFF"/>
                    </a:solidFill>
                  </a:tcPr>
                </a:tc>
                <a:tc>
                  <a:txBody>
                    <a:bodyPr/>
                    <a:lstStyle/>
                    <a:p>
                      <a:pPr algn="ctr">
                        <a:defRPr sz="950">
                          <a:solidFill>
                            <a:srgbClr val="323232"/>
                          </a:solidFill>
                          <a:latin typeface="Arial"/>
                        </a:defRPr>
                      </a:pPr>
                      <a:r>
                        <a:t>Type II Error</a:t>
                      </a:r>
                    </a:p>
                    <a:p>
                      <a:r>
                        <a:t>(Lost Business)</a:t>
                      </a:r>
                    </a:p>
                  </a:txBody>
                  <a:tcPr>
                    <a:solidFill>
                      <a:srgbClr val="FFFFFF"/>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Business Context &amp; Errors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Lending Decisions Under Uncertainty</a:t>
            </a:r>
          </a:p>
          <a:p>
            <a:pPr>
              <a:spcAft>
                <a:spcPts val="800"/>
              </a:spcAft>
              <a:defRPr sz="1300" b="0">
                <a:solidFill>
                  <a:srgbClr val="1E1E1E"/>
                </a:solidFill>
                <a:latin typeface="Arial"/>
              </a:defRPr>
            </a:pPr>
            <a:r>
              <a:t>Lenders must answer two central questions when reviewing a loan application:</a:t>
            </a:r>
          </a:p>
          <a:p>
            <a:pPr lvl="1">
              <a:spcAft>
                <a:spcPts val="800"/>
              </a:spcAft>
              <a:defRPr sz="1300" b="0">
                <a:solidFill>
                  <a:srgbClr val="1E1E1E"/>
                </a:solidFill>
                <a:latin typeface="Arial"/>
              </a:defRPr>
            </a:pPr>
            <a:r>
              <a:t>1. Is this borrower likely to default on their loan obligation?</a:t>
            </a:r>
          </a:p>
          <a:p>
            <a:pPr lvl="1">
              <a:spcAft>
                <a:spcPts val="800"/>
              </a:spcAft>
              <a:defRPr sz="1300" b="0">
                <a:solidFill>
                  <a:srgbClr val="1E1E1E"/>
                </a:solidFill>
                <a:latin typeface="Arial"/>
              </a:defRPr>
            </a:pPr>
            <a:r>
              <a:t>2. What interest rate reflects their risk without driving creditworthy borrowers away?</a:t>
            </a:r>
          </a:p>
          <a:p>
            <a:pPr>
              <a:spcAft>
                <a:spcPts val="800"/>
              </a:spcAft>
              <a:defRPr sz="1600" b="1">
                <a:solidFill>
                  <a:srgbClr val="0070B9"/>
                </a:solidFill>
                <a:latin typeface="Arial"/>
              </a:defRPr>
            </a:pPr>
            <a:r>
              <a:t>Statistical Hypothesis Framework</a:t>
            </a:r>
          </a:p>
          <a:p>
            <a:pPr>
              <a:spcAft>
                <a:spcPts val="800"/>
              </a:spcAft>
              <a:defRPr sz="1300" b="0">
                <a:solidFill>
                  <a:srgbClr val="1E1E1E"/>
                </a:solidFill>
                <a:latin typeface="Arial"/>
              </a:defRPr>
            </a:pPr>
            <a:r>
              <a:t>We map lending outcomes to classical error reasoning:</a:t>
            </a:r>
          </a:p>
          <a:p>
            <a:pPr lvl="1">
              <a:spcAft>
                <a:spcPts val="800"/>
              </a:spcAft>
              <a:defRPr sz="1200" b="0">
                <a:solidFill>
                  <a:srgbClr val="1E1E1E"/>
                </a:solidFill>
                <a:latin typeface="Arial"/>
              </a:defRPr>
            </a:pPr>
            <a:r>
              <a:t>* Type I Error (Under-pricing risk): Lender treats a risky borrower as safe, setting too low of a rate. Borrower subsequently defaults, causing principal loss.</a:t>
            </a:r>
          </a:p>
          <a:p>
            <a:pPr lvl="1">
              <a:spcAft>
                <a:spcPts val="800"/>
              </a:spcAft>
              <a:defRPr sz="1200" b="0">
                <a:solidFill>
                  <a:srgbClr val="1E1E1E"/>
                </a:solidFill>
                <a:latin typeface="Arial"/>
              </a:defRPr>
            </a:pPr>
            <a:r>
              <a:t>* Type II Error (Over-pricing risk): Lender treats a safe borrower as risky, setting too high of a rate. The borrower walks to a competitor, causing lost business opportunity.</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691640"/>
                <a:gridCol w="1691640"/>
              </a:tblGrid>
              <a:tr h="1371600">
                <a:tc>
                  <a:txBody>
                    <a:bodyPr/>
                    <a:lstStyle/>
                    <a:p>
                      <a:pPr algn="ctr">
                        <a:defRPr sz="1100" b="1">
                          <a:solidFill>
                            <a:srgbClr val="FFFFFF"/>
                          </a:solidFill>
                          <a:latin typeface="Arial"/>
                        </a:defRPr>
                      </a:pPr>
                      <a:r>
                        <a:t>Decision / Reality</a:t>
                      </a:r>
                    </a:p>
                  </a:txBody>
                  <a:tcPr>
                    <a:solidFill>
                      <a:srgbClr val="0070B9"/>
                    </a:solidFill>
                  </a:tcPr>
                </a:tc>
                <a:tc>
                  <a:txBody>
                    <a:bodyPr/>
                    <a:lstStyle/>
                    <a:p>
                      <a:pPr algn="ctr">
                        <a:defRPr sz="1100" b="1">
                          <a:solidFill>
                            <a:srgbClr val="FFFFFF"/>
                          </a:solidFill>
                          <a:latin typeface="Arial"/>
                        </a:defRPr>
                      </a:pPr>
                      <a:r>
                        <a:t>Default (Risky)</a:t>
                      </a:r>
                    </a:p>
                  </a:txBody>
                  <a:tcPr>
                    <a:solidFill>
                      <a:srgbClr val="0070B9"/>
                    </a:solidFill>
                  </a:tcPr>
                </a:tc>
                <a:tc>
                  <a:txBody>
                    <a:bodyPr/>
                    <a:lstStyle/>
                    <a:p>
                      <a:pPr algn="ctr">
                        <a:defRPr sz="1100" b="1">
                          <a:solidFill>
                            <a:srgbClr val="FFFFFF"/>
                          </a:solidFill>
                          <a:latin typeface="Arial"/>
                        </a:defRPr>
                      </a:pPr>
                      <a:r>
                        <a:t>Repay (Safe)</a:t>
                      </a:r>
                    </a:p>
                  </a:txBody>
                  <a:tcPr>
                    <a:solidFill>
                      <a:srgbClr val="0070B9"/>
                    </a:solidFill>
                  </a:tcPr>
                </a:tc>
              </a:tr>
              <a:tr h="1371600">
                <a:tc>
                  <a:txBody>
                    <a:bodyPr/>
                    <a:lstStyle/>
                    <a:p>
                      <a:pPr algn="ctr">
                        <a:defRPr sz="950">
                          <a:solidFill>
                            <a:srgbClr val="323232"/>
                          </a:solidFill>
                          <a:latin typeface="Arial"/>
                        </a:defRPr>
                      </a:pPr>
                      <a:r>
                        <a:t>Approve Loan</a:t>
                      </a:r>
                    </a:p>
                  </a:txBody>
                  <a:tcPr>
                    <a:solidFill>
                      <a:srgbClr val="F5F5F5"/>
                    </a:solidFill>
                  </a:tcPr>
                </a:tc>
                <a:tc>
                  <a:txBody>
                    <a:bodyPr/>
                    <a:lstStyle/>
                    <a:p>
                      <a:pPr algn="ctr">
                        <a:defRPr sz="950">
                          <a:solidFill>
                            <a:srgbClr val="323232"/>
                          </a:solidFill>
                          <a:latin typeface="Arial"/>
                        </a:defRPr>
                      </a:pPr>
                      <a:r>
                        <a:t>Type I Error</a:t>
                      </a:r>
                    </a:p>
                    <a:p>
                      <a:r>
                        <a:t>(Missed Default)</a:t>
                      </a:r>
                    </a:p>
                  </a:txBody>
                  <a:tcPr>
                    <a:solidFill>
                      <a:srgbClr val="F5F5F5"/>
                    </a:solidFill>
                  </a:tcPr>
                </a:tc>
                <a:tc>
                  <a:txBody>
                    <a:bodyPr/>
                    <a:lstStyle/>
                    <a:p>
                      <a:pPr algn="ctr">
                        <a:defRPr sz="950">
                          <a:solidFill>
                            <a:srgbClr val="323232"/>
                          </a:solidFill>
                          <a:latin typeface="Arial"/>
                        </a:defRPr>
                      </a:pPr>
                      <a:r>
                        <a:t>Correct Decision</a:t>
                      </a:r>
                    </a:p>
                    <a:p>
                      <a:r>
                        <a:t>(Interest Income)</a:t>
                      </a:r>
                    </a:p>
                  </a:txBody>
                  <a:tcPr>
                    <a:solidFill>
                      <a:srgbClr val="F5F5F5"/>
                    </a:solidFill>
                  </a:tcPr>
                </a:tc>
              </a:tr>
              <a:tr h="1371600">
                <a:tc>
                  <a:txBody>
                    <a:bodyPr/>
                    <a:lstStyle/>
                    <a:p>
                      <a:pPr algn="ctr">
                        <a:defRPr sz="950">
                          <a:solidFill>
                            <a:srgbClr val="323232"/>
                          </a:solidFill>
                          <a:latin typeface="Arial"/>
                        </a:defRPr>
                      </a:pPr>
                      <a:r>
                        <a:t>Deny / High Rate</a:t>
                      </a:r>
                    </a:p>
                  </a:txBody>
                  <a:tcPr>
                    <a:solidFill>
                      <a:srgbClr val="FFFFFF"/>
                    </a:solidFill>
                  </a:tcPr>
                </a:tc>
                <a:tc>
                  <a:txBody>
                    <a:bodyPr/>
                    <a:lstStyle/>
                    <a:p>
                      <a:pPr algn="ctr">
                        <a:defRPr sz="950">
                          <a:solidFill>
                            <a:srgbClr val="323232"/>
                          </a:solidFill>
                          <a:latin typeface="Arial"/>
                        </a:defRPr>
                      </a:pPr>
                      <a:r>
                        <a:t>Correct Decision</a:t>
                      </a:r>
                    </a:p>
                    <a:p>
                      <a:r>
                        <a:t>(Risk Mitigated)</a:t>
                      </a:r>
                    </a:p>
                  </a:txBody>
                  <a:tcPr>
                    <a:solidFill>
                      <a:srgbClr val="FFFFFF"/>
                    </a:solidFill>
                  </a:tcPr>
                </a:tc>
                <a:tc>
                  <a:txBody>
                    <a:bodyPr/>
                    <a:lstStyle/>
                    <a:p>
                      <a:pPr algn="ctr">
                        <a:defRPr sz="950">
                          <a:solidFill>
                            <a:srgbClr val="323232"/>
                          </a:solidFill>
                          <a:latin typeface="Arial"/>
                        </a:defRPr>
                      </a:pPr>
                      <a:r>
                        <a:t>Type II Error</a:t>
                      </a:r>
                    </a:p>
                    <a:p>
                      <a:r>
                        <a:t>(Lost Business)</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Scope &amp; Research Questions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Core Research Questions</a:t>
            </a:r>
          </a:p>
          <a:p>
            <a:pPr>
              <a:spcAft>
                <a:spcPts val="800"/>
              </a:spcAft>
              <a:defRPr sz="1500" b="1">
                <a:solidFill>
                  <a:srgbClr val="1E1E1E"/>
                </a:solidFill>
                <a:latin typeface="Arial"/>
              </a:defRPr>
            </a:pPr>
            <a:r>
              <a:t>• Research Question 1 (Regression Target):</a:t>
            </a:r>
          </a:p>
          <a:p>
            <a:pPr lvl="1">
              <a:spcAft>
                <a:spcPts val="800"/>
              </a:spcAft>
              <a:defRPr sz="1400" b="0">
                <a:solidFill>
                  <a:srgbClr val="1E1E1E"/>
                </a:solidFill>
                <a:latin typeface="Arial"/>
              </a:defRPr>
            </a:pPr>
            <a:r>
              <a:t>Which borrower socio-demographic and financial characteristics (age, income, employment length, loan grade) are the strongest determinants of the interest rate charged on a loan?</a:t>
            </a:r>
          </a:p>
          <a:p>
            <a:pPr>
              <a:spcAft>
                <a:spcPts val="800"/>
              </a:spcAft>
              <a:defRPr sz="1500" b="1">
                <a:solidFill>
                  <a:srgbClr val="1E1E1E"/>
                </a:solidFill>
                <a:latin typeface="Arial"/>
              </a:defRPr>
            </a:pPr>
            <a:r>
              <a:t>• Research Question 2 (Classification Target):</a:t>
            </a:r>
          </a:p>
          <a:p>
            <a:pPr lvl="1">
              <a:spcAft>
                <a:spcPts val="800"/>
              </a:spcAft>
              <a:defRPr sz="1400" b="0">
                <a:solidFill>
                  <a:srgbClr val="1E1E1E"/>
                </a:solidFill>
                <a:latin typeface="Arial"/>
              </a:defRPr>
            </a:pPr>
            <a:r>
              <a:t>What is the marginal effect of borrower income on the probability of loan default, after controlling for loan amount and credit grade?</a:t>
            </a:r>
          </a:p>
          <a:p>
            <a:pPr>
              <a:spcAft>
                <a:spcPts val="800"/>
              </a:spcAft>
              <a:defRPr sz="1600" b="1">
                <a:solidFill>
                  <a:srgbClr val="0070B9"/>
                </a:solidFill>
                <a:latin typeface="Arial"/>
              </a:defRPr>
            </a:pPr>
            <a:r>
              <a:t>Analytical Scope of This Presentation</a:t>
            </a:r>
          </a:p>
          <a:p>
            <a:pPr lvl="1">
              <a:spcAft>
                <a:spcPts val="800"/>
              </a:spcAft>
              <a:defRPr sz="1300" b="0">
                <a:solidFill>
                  <a:srgbClr val="1E1E1E"/>
                </a:solidFill>
                <a:latin typeface="Arial"/>
              </a:defRPr>
            </a:pPr>
            <a:r>
              <a:t>We walk through the entire credit risk pipeline: Data prep, Exploratory statistics, Model selection (classifiers and regressors), Causal network learning, and multi-dimensional Diagnostics.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Scope &amp; Research Questions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Core Research Questions</a:t>
            </a:r>
          </a:p>
          <a:p>
            <a:pPr>
              <a:spcAft>
                <a:spcPts val="800"/>
              </a:spcAft>
              <a:defRPr sz="1500" b="1">
                <a:solidFill>
                  <a:srgbClr val="1E1E1E"/>
                </a:solidFill>
                <a:latin typeface="Arial"/>
              </a:defRPr>
            </a:pPr>
            <a:r>
              <a:t>• Research Question 1 (Regression Target):</a:t>
            </a:r>
          </a:p>
          <a:p>
            <a:pPr lvl="1">
              <a:spcAft>
                <a:spcPts val="800"/>
              </a:spcAft>
              <a:defRPr sz="1400" b="0">
                <a:solidFill>
                  <a:srgbClr val="1E1E1E"/>
                </a:solidFill>
                <a:latin typeface="Arial"/>
              </a:defRPr>
            </a:pPr>
            <a:r>
              <a:t>Which borrower socio-demographic and financial characteristics (age, income, employment length, loan grade) are the strongest determinants of the interest rate charged on a loan?</a:t>
            </a:r>
          </a:p>
          <a:p>
            <a:pPr>
              <a:spcAft>
                <a:spcPts val="800"/>
              </a:spcAft>
              <a:defRPr sz="1500" b="1">
                <a:solidFill>
                  <a:srgbClr val="1E1E1E"/>
                </a:solidFill>
                <a:latin typeface="Arial"/>
              </a:defRPr>
            </a:pPr>
            <a:r>
              <a:t>• Research Question 2 (Classification Target):</a:t>
            </a:r>
          </a:p>
          <a:p>
            <a:pPr lvl="1">
              <a:spcAft>
                <a:spcPts val="800"/>
              </a:spcAft>
              <a:defRPr sz="1400" b="0">
                <a:solidFill>
                  <a:srgbClr val="1E1E1E"/>
                </a:solidFill>
                <a:latin typeface="Arial"/>
              </a:defRPr>
            </a:pPr>
            <a:r>
              <a:t>What is the marginal effect of borrower income on the probability of loan default, after controlling for loan amount and credit grade?</a:t>
            </a:r>
          </a:p>
          <a:p>
            <a:pPr>
              <a:spcAft>
                <a:spcPts val="800"/>
              </a:spcAft>
              <a:defRPr sz="1600" b="1">
                <a:solidFill>
                  <a:srgbClr val="0070B9"/>
                </a:solidFill>
                <a:latin typeface="Arial"/>
              </a:defRPr>
            </a:pPr>
            <a:r>
              <a:t>Analytical Scope of This Presentation</a:t>
            </a:r>
          </a:p>
          <a:p>
            <a:pPr lvl="1">
              <a:spcAft>
                <a:spcPts val="800"/>
              </a:spcAft>
              <a:defRPr sz="1300" b="0">
                <a:solidFill>
                  <a:srgbClr val="1E1E1E"/>
                </a:solidFill>
                <a:latin typeface="Arial"/>
              </a:defRPr>
            </a:pPr>
            <a:r>
              <a:t>We walk through the entire credit risk pipeline: Data prep, Exploratory statistics, Model selection (classifiers and regressors), Causal network learning, and multi-dimensional Diagnostics.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Analytical Scope &amp; Pipeline</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End-to-End Analytical Pipeline</a:t>
            </a:r>
          </a:p>
          <a:p>
            <a:pPr>
              <a:spcAft>
                <a:spcPts val="800"/>
              </a:spcAft>
              <a:defRPr sz="1500" b="1">
                <a:solidFill>
                  <a:srgbClr val="1E1E1E"/>
                </a:solidFill>
                <a:latin typeface="Arial"/>
              </a:defRPr>
            </a:pPr>
            <a:r>
              <a:t>• Phase 1: Data Acquisition &amp; Preprocessing</a:t>
            </a:r>
          </a:p>
          <a:p>
            <a:pPr lvl="1">
              <a:spcAft>
                <a:spcPts val="800"/>
              </a:spcAft>
              <a:defRPr sz="1300" b="0">
                <a:solidFill>
                  <a:srgbClr val="1E1E1E"/>
                </a:solidFill>
                <a:latin typeface="Arial"/>
              </a:defRPr>
            </a:pPr>
            <a:r>
              <a:t>Auditing missing data, applying median imputation, filtering outliers with Tukey's fences, and log-scaling skewed income distributions.</a:t>
            </a:r>
          </a:p>
          <a:p>
            <a:pPr>
              <a:spcAft>
                <a:spcPts val="800"/>
              </a:spcAft>
              <a:defRPr sz="1500" b="1">
                <a:solidFill>
                  <a:srgbClr val="1E1E1E"/>
                </a:solidFill>
                <a:latin typeface="Arial"/>
              </a:defRPr>
            </a:pPr>
            <a:r>
              <a:t>• Phase 2: Exploratory Data Analysis &amp; Inferential Statistics</a:t>
            </a:r>
          </a:p>
          <a:p>
            <a:pPr lvl="1">
              <a:spcAft>
                <a:spcPts val="800"/>
              </a:spcAft>
              <a:defRPr sz="1300" b="0">
                <a:solidFill>
                  <a:srgbClr val="1E1E1E"/>
                </a:solidFill>
                <a:latin typeface="Arial"/>
              </a:defRPr>
            </a:pPr>
            <a:r>
              <a:t>Running normality tests, simulating CLT bootstrap convergence, and testing grade-level variance differences using Welch t-tests and ANOVA.</a:t>
            </a:r>
          </a:p>
          <a:p>
            <a:pPr>
              <a:spcAft>
                <a:spcPts val="800"/>
              </a:spcAft>
              <a:defRPr sz="1500" b="1">
                <a:solidFill>
                  <a:srgbClr val="1E1E1E"/>
                </a:solidFill>
                <a:latin typeface="Arial"/>
              </a:defRPr>
            </a:pPr>
            <a:r>
              <a:t>• Phase 3: Model Selection &amp; Training</a:t>
            </a:r>
          </a:p>
          <a:p>
            <a:pPr lvl="1">
              <a:spcAft>
                <a:spcPts val="800"/>
              </a:spcAft>
              <a:defRPr sz="1300" b="0">
                <a:solidFill>
                  <a:srgbClr val="1E1E1E"/>
                </a:solidFill>
                <a:latin typeface="Arial"/>
              </a:defRPr>
            </a:pPr>
            <a:r>
              <a:t>Training classifiers (Logistic Regression, Random Forest, Gradient Boosting, CatBoost) and regressors (OLS, Ridge, RF, GB, CatBoost) with a pipeline.</a:t>
            </a:r>
          </a:p>
          <a:p>
            <a:pPr>
              <a:spcAft>
                <a:spcPts val="800"/>
              </a:spcAft>
              <a:defRPr sz="1500" b="1">
                <a:solidFill>
                  <a:srgbClr val="1E1E1E"/>
                </a:solidFill>
                <a:latin typeface="Arial"/>
              </a:defRPr>
            </a:pPr>
            <a:r>
              <a:t>• Phase 4: Model Diagnostics &amp; Interpretability</a:t>
            </a:r>
          </a:p>
          <a:p>
            <a:pPr lvl="1">
              <a:spcAft>
                <a:spcPts val="800"/>
              </a:spcAft>
              <a:defRPr sz="1300" b="0">
                <a:solidFill>
                  <a:srgbClr val="1E1E1E"/>
                </a:solidFill>
                <a:latin typeface="Arial"/>
              </a:defRPr>
            </a:pPr>
            <a:r>
              <a:t>Evaluating classification calibration (Brier), ROC/PR performance, segment errors, and explaining feature importance via SHAP attributions.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Analytical Scope &amp; Pipeline</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End-to-End Analytical Pipeline</a:t>
            </a:r>
          </a:p>
          <a:p>
            <a:pPr>
              <a:spcAft>
                <a:spcPts val="800"/>
              </a:spcAft>
              <a:defRPr sz="1500" b="1">
                <a:solidFill>
                  <a:srgbClr val="1E1E1E"/>
                </a:solidFill>
                <a:latin typeface="Arial"/>
              </a:defRPr>
            </a:pPr>
            <a:r>
              <a:t>• Phase 1: Data Acquisition &amp; Preprocessing</a:t>
            </a:r>
          </a:p>
          <a:p>
            <a:pPr lvl="1">
              <a:spcAft>
                <a:spcPts val="800"/>
              </a:spcAft>
              <a:defRPr sz="1300" b="0">
                <a:solidFill>
                  <a:srgbClr val="1E1E1E"/>
                </a:solidFill>
                <a:latin typeface="Arial"/>
              </a:defRPr>
            </a:pPr>
            <a:r>
              <a:t>Auditing missing data, applying median imputation, filtering outliers with Tukey's fences, and log-scaling skewed income distributions.</a:t>
            </a:r>
          </a:p>
          <a:p>
            <a:pPr>
              <a:spcAft>
                <a:spcPts val="800"/>
              </a:spcAft>
              <a:defRPr sz="1500" b="1">
                <a:solidFill>
                  <a:srgbClr val="1E1E1E"/>
                </a:solidFill>
                <a:latin typeface="Arial"/>
              </a:defRPr>
            </a:pPr>
            <a:r>
              <a:t>• Phase 2: Exploratory Data Analysis &amp; Inferential Statistics</a:t>
            </a:r>
          </a:p>
          <a:p>
            <a:pPr lvl="1">
              <a:spcAft>
                <a:spcPts val="800"/>
              </a:spcAft>
              <a:defRPr sz="1300" b="0">
                <a:solidFill>
                  <a:srgbClr val="1E1E1E"/>
                </a:solidFill>
                <a:latin typeface="Arial"/>
              </a:defRPr>
            </a:pPr>
            <a:r>
              <a:t>Running normality tests, simulating CLT bootstrap convergence, and testing grade-level variance differences using Welch t-tests and ANOVA.</a:t>
            </a:r>
          </a:p>
          <a:p>
            <a:pPr>
              <a:spcAft>
                <a:spcPts val="800"/>
              </a:spcAft>
              <a:defRPr sz="1500" b="1">
                <a:solidFill>
                  <a:srgbClr val="1E1E1E"/>
                </a:solidFill>
                <a:latin typeface="Arial"/>
              </a:defRPr>
            </a:pPr>
            <a:r>
              <a:t>• Phase 3: Model Selection &amp; Training</a:t>
            </a:r>
          </a:p>
          <a:p>
            <a:pPr lvl="1">
              <a:spcAft>
                <a:spcPts val="800"/>
              </a:spcAft>
              <a:defRPr sz="1300" b="0">
                <a:solidFill>
                  <a:srgbClr val="1E1E1E"/>
                </a:solidFill>
                <a:latin typeface="Arial"/>
              </a:defRPr>
            </a:pPr>
            <a:r>
              <a:t>Training classifiers (Logistic Regression, Random Forest, Gradient Boosting, CatBoost) and regressors (OLS, Ridge, RF, GB, CatBoost) with a pipeline.</a:t>
            </a:r>
          </a:p>
          <a:p>
            <a:pPr>
              <a:spcAft>
                <a:spcPts val="800"/>
              </a:spcAft>
              <a:defRPr sz="1500" b="1">
                <a:solidFill>
                  <a:srgbClr val="1E1E1E"/>
                </a:solidFill>
                <a:latin typeface="Arial"/>
              </a:defRPr>
            </a:pPr>
            <a:r>
              <a:t>• Phase 4: Model Diagnostics &amp; Interpretability</a:t>
            </a:r>
          </a:p>
          <a:p>
            <a:pPr lvl="1">
              <a:spcAft>
                <a:spcPts val="800"/>
              </a:spcAft>
              <a:defRPr sz="1300" b="0">
                <a:solidFill>
                  <a:srgbClr val="1E1E1E"/>
                </a:solidFill>
                <a:latin typeface="Arial"/>
              </a:defRPr>
            </a:pPr>
            <a:r>
              <a:t>Evaluating classification calibration (Brier), ROC/PR performance, segment errors, and explaining feature importance via SHAP attributions.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a:t>
            </a:r>
          </a:p>
          <a:p>
            <a:r>
              <a:t>Data Cleanup &amp; Exploratory Data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a:t>
            </a:r>
          </a:p>
          <a:p>
            <a:r>
              <a:t>Data Cleanup &amp; Exploratory Data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Dataset Description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Credit Risk Modeling Dataset</a:t>
            </a:r>
          </a:p>
          <a:p>
            <a:pPr>
              <a:spcAft>
                <a:spcPts val="800"/>
              </a:spcAft>
              <a:defRPr sz="1300" b="0">
                <a:solidFill>
                  <a:srgbClr val="1E1E1E"/>
                </a:solidFill>
                <a:latin typeface="Arial"/>
              </a:defRPr>
            </a:pPr>
            <a:r>
              <a:t>• Sourced from Kaggle repository; stored as data/raw/credit_risk_dataset.csv.</a:t>
            </a:r>
          </a:p>
          <a:p>
            <a:pPr lvl="1">
              <a:spcAft>
                <a:spcPts val="800"/>
              </a:spcAft>
              <a:defRPr sz="1300" b="0">
                <a:solidFill>
                  <a:srgbClr val="1E1E1E"/>
                </a:solidFill>
                <a:latin typeface="Arial"/>
              </a:defRPr>
            </a:pPr>
            <a:r>
              <a:t>• Size: 32,581 raw observations across 12 feature columns.</a:t>
            </a:r>
          </a:p>
          <a:p>
            <a:pPr>
              <a:spcAft>
                <a:spcPts val="800"/>
              </a:spcAft>
              <a:defRPr sz="1600" b="1">
                <a:solidFill>
                  <a:srgbClr val="0070B9"/>
                </a:solidFill>
                <a:latin typeface="Arial"/>
              </a:defRPr>
            </a:pPr>
            <a:r>
              <a:t>Key Characteristics</a:t>
            </a:r>
          </a:p>
          <a:p>
            <a:pPr lvl="1">
              <a:spcAft>
                <a:spcPts val="800"/>
              </a:spcAft>
              <a:defRPr sz="1300" b="0">
                <a:solidFill>
                  <a:srgbClr val="1E1E1E"/>
                </a:solidFill>
                <a:latin typeface="Arial"/>
              </a:defRPr>
            </a:pPr>
            <a:r>
              <a:t>• Target Variable: `loan_status` (Binary: 0 = non-default, 1 = default).</a:t>
            </a:r>
          </a:p>
          <a:p>
            <a:pPr lvl="1">
              <a:spcAft>
                <a:spcPts val="800"/>
              </a:spcAft>
              <a:defRPr sz="1300" b="0">
                <a:solidFill>
                  <a:srgbClr val="1E1E1E"/>
                </a:solidFill>
                <a:latin typeface="Arial"/>
              </a:defRPr>
            </a:pPr>
            <a:r>
              <a:t>• Imbalance Rate: 77.56% non-default (25,273 rows) vs. 22.44% default (7,308 rows).</a:t>
            </a:r>
          </a:p>
          <a:p>
            <a:pPr lvl="1">
              <a:spcAft>
                <a:spcPts val="800"/>
              </a:spcAft>
              <a:defRPr sz="1300" b="0">
                <a:solidFill>
                  <a:srgbClr val="1E1E1E"/>
                </a:solidFill>
                <a:latin typeface="Arial"/>
              </a:defRPr>
            </a:pPr>
            <a:r>
              <a:t>• Features include demographics, loan parameters, and historical default indicators.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371600"/>
                <a:gridCol w="1097280"/>
                <a:gridCol w="2743200"/>
              </a:tblGrid>
              <a:tr h="51435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Type</a:t>
                      </a:r>
                    </a:p>
                  </a:txBody>
                  <a:tcPr>
                    <a:solidFill>
                      <a:srgbClr val="0070B9"/>
                    </a:solidFill>
                  </a:tcPr>
                </a:tc>
                <a:tc>
                  <a:txBody>
                    <a:bodyPr/>
                    <a:lstStyle/>
                    <a:p>
                      <a:pPr algn="ctr">
                        <a:defRPr sz="1100" b="1">
                          <a:solidFill>
                            <a:srgbClr val="FFFFFF"/>
                          </a:solidFill>
                          <a:latin typeface="Arial"/>
                        </a:defRPr>
                      </a:pPr>
                      <a:r>
                        <a:t>Description</a:t>
                      </a:r>
                    </a:p>
                  </a:txBody>
                  <a:tcPr>
                    <a:solidFill>
                      <a:srgbClr val="0070B9"/>
                    </a:solidFill>
                  </a:tcPr>
                </a:tc>
              </a:tr>
              <a:tr h="514350">
                <a:tc>
                  <a:txBody>
                    <a:bodyPr/>
                    <a:lstStyle/>
                    <a:p>
                      <a:pPr algn="ctr">
                        <a:defRPr sz="950">
                          <a:solidFill>
                            <a:srgbClr val="323232"/>
                          </a:solidFill>
                          <a:latin typeface="Arial"/>
                        </a:defRPr>
                      </a:pPr>
                      <a:r>
                        <a:t>person_age</a:t>
                      </a:r>
                    </a:p>
                  </a:txBody>
                  <a:tcPr>
                    <a:solidFill>
                      <a:srgbClr val="F5F5F5"/>
                    </a:solidFill>
                  </a:tcPr>
                </a:tc>
                <a:tc>
                  <a:txBody>
                    <a:bodyPr/>
                    <a:lstStyle/>
                    <a:p>
                      <a:pPr algn="ctr">
                        <a:defRPr sz="950">
                          <a:solidFill>
                            <a:srgbClr val="323232"/>
                          </a:solidFill>
                          <a:latin typeface="Arial"/>
                        </a:defRPr>
                      </a:pPr>
                      <a:r>
                        <a:t>Integer</a:t>
                      </a:r>
                    </a:p>
                  </a:txBody>
                  <a:tcPr>
                    <a:solidFill>
                      <a:srgbClr val="F5F5F5"/>
                    </a:solidFill>
                  </a:tcPr>
                </a:tc>
                <a:tc>
                  <a:txBody>
                    <a:bodyPr/>
                    <a:lstStyle/>
                    <a:p>
                      <a:pPr algn="ctr">
                        <a:defRPr sz="950">
                          <a:solidFill>
                            <a:srgbClr val="323232"/>
                          </a:solidFill>
                          <a:latin typeface="Arial"/>
                        </a:defRPr>
                      </a:pPr>
                      <a:r>
                        <a:t>Borrower age in years</a:t>
                      </a:r>
                    </a:p>
                  </a:txBody>
                  <a:tcPr>
                    <a:solidFill>
                      <a:srgbClr val="F5F5F5"/>
                    </a:solidFill>
                  </a:tcPr>
                </a:tc>
              </a:tr>
              <a:tr h="514350">
                <a:tc>
                  <a:txBody>
                    <a:bodyPr/>
                    <a:lstStyle/>
                    <a:p>
                      <a:pPr algn="ctr">
                        <a:defRPr sz="950">
                          <a:solidFill>
                            <a:srgbClr val="323232"/>
                          </a:solidFill>
                          <a:latin typeface="Arial"/>
                        </a:defRPr>
                      </a:pPr>
                      <a:r>
                        <a:t>person_income</a:t>
                      </a:r>
                    </a:p>
                  </a:txBody>
                  <a:tcPr>
                    <a:solidFill>
                      <a:srgbClr val="FFFFFF"/>
                    </a:solidFill>
                  </a:tcPr>
                </a:tc>
                <a:tc>
                  <a:txBody>
                    <a:bodyPr/>
                    <a:lstStyle/>
                    <a:p>
                      <a:pPr algn="ctr">
                        <a:defRPr sz="950">
                          <a:solidFill>
                            <a:srgbClr val="323232"/>
                          </a:solidFill>
                          <a:latin typeface="Arial"/>
                        </a:defRPr>
                      </a:pPr>
                      <a:r>
                        <a:t>Integer</a:t>
                      </a:r>
                    </a:p>
                  </a:txBody>
                  <a:tcPr>
                    <a:solidFill>
                      <a:srgbClr val="FFFFFF"/>
                    </a:solidFill>
                  </a:tcPr>
                </a:tc>
                <a:tc>
                  <a:txBody>
                    <a:bodyPr/>
                    <a:lstStyle/>
                    <a:p>
                      <a:pPr algn="ctr">
                        <a:defRPr sz="950">
                          <a:solidFill>
                            <a:srgbClr val="323232"/>
                          </a:solidFill>
                          <a:latin typeface="Arial"/>
                        </a:defRPr>
                      </a:pPr>
                      <a:r>
                        <a:t>Annual income in USD</a:t>
                      </a:r>
                    </a:p>
                  </a:txBody>
                  <a:tcPr>
                    <a:solidFill>
                      <a:srgbClr val="FFFFFF"/>
                    </a:solidFill>
                  </a:tcPr>
                </a:tc>
              </a:tr>
              <a:tr h="514350">
                <a:tc>
                  <a:txBody>
                    <a:bodyPr/>
                    <a:lstStyle/>
                    <a:p>
                      <a:pPr algn="ctr">
                        <a:defRPr sz="950">
                          <a:solidFill>
                            <a:srgbClr val="323232"/>
                          </a:solidFill>
                          <a:latin typeface="Arial"/>
                        </a:defRPr>
                      </a:pPr>
                      <a:r>
                        <a:t>person_home_ownership</a:t>
                      </a:r>
                    </a:p>
                  </a:txBody>
                  <a:tcPr>
                    <a:solidFill>
                      <a:srgbClr val="F5F5F5"/>
                    </a:solidFill>
                  </a:tcPr>
                </a:tc>
                <a:tc>
                  <a:txBody>
                    <a:bodyPr/>
                    <a:lstStyle/>
                    <a:p>
                      <a:pPr algn="ctr">
                        <a:defRPr sz="950">
                          <a:solidFill>
                            <a:srgbClr val="323232"/>
                          </a:solidFill>
                          <a:latin typeface="Arial"/>
                        </a:defRPr>
                      </a:pPr>
                      <a:r>
                        <a:t>Nominal</a:t>
                      </a:r>
                    </a:p>
                  </a:txBody>
                  <a:tcPr>
                    <a:solidFill>
                      <a:srgbClr val="F5F5F5"/>
                    </a:solidFill>
                  </a:tcPr>
                </a:tc>
                <a:tc>
                  <a:txBody>
                    <a:bodyPr/>
                    <a:lstStyle/>
                    <a:p>
                      <a:pPr algn="ctr">
                        <a:defRPr sz="950">
                          <a:solidFill>
                            <a:srgbClr val="323232"/>
                          </a:solidFill>
                          <a:latin typeface="Arial"/>
                        </a:defRPr>
                      </a:pPr>
                      <a:r>
                        <a:t>RENT, OWN, MORTGAGE, OTHER</a:t>
                      </a:r>
                    </a:p>
                  </a:txBody>
                  <a:tcPr>
                    <a:solidFill>
                      <a:srgbClr val="F5F5F5"/>
                    </a:solidFill>
                  </a:tcPr>
                </a:tc>
              </a:tr>
              <a:tr h="514350">
                <a:tc>
                  <a:txBody>
                    <a:bodyPr/>
                    <a:lstStyle/>
                    <a:p>
                      <a:pPr algn="ctr">
                        <a:defRPr sz="950">
                          <a:solidFill>
                            <a:srgbClr val="323232"/>
                          </a:solidFill>
                          <a:latin typeface="Arial"/>
                        </a:defRPr>
                      </a:pPr>
                      <a:r>
                        <a:t>person_emp_length</a:t>
                      </a:r>
                    </a:p>
                  </a:txBody>
                  <a:tcPr>
                    <a:solidFill>
                      <a:srgbClr val="FFFFFF"/>
                    </a:solidFill>
                  </a:tcPr>
                </a:tc>
                <a:tc>
                  <a:txBody>
                    <a:bodyPr/>
                    <a:lstStyle/>
                    <a:p>
                      <a:pPr algn="ctr">
                        <a:defRPr sz="950">
                          <a:solidFill>
                            <a:srgbClr val="323232"/>
                          </a:solidFill>
                          <a:latin typeface="Arial"/>
                        </a:defRPr>
                      </a:pPr>
                      <a:r>
                        <a:t>Float</a:t>
                      </a:r>
                    </a:p>
                  </a:txBody>
                  <a:tcPr>
                    <a:solidFill>
                      <a:srgbClr val="FFFFFF"/>
                    </a:solidFill>
                  </a:tcPr>
                </a:tc>
                <a:tc>
                  <a:txBody>
                    <a:bodyPr/>
                    <a:lstStyle/>
                    <a:p>
                      <a:pPr algn="ctr">
                        <a:defRPr sz="950">
                          <a:solidFill>
                            <a:srgbClr val="323232"/>
                          </a:solidFill>
                          <a:latin typeface="Arial"/>
                        </a:defRPr>
                      </a:pPr>
                      <a:r>
                        <a:t>Employment length in years</a:t>
                      </a:r>
                    </a:p>
                  </a:txBody>
                  <a:tcPr>
                    <a:solidFill>
                      <a:srgbClr val="FFFFFF"/>
                    </a:solidFill>
                  </a:tcPr>
                </a:tc>
              </a:tr>
              <a:tr h="514350">
                <a:tc>
                  <a:txBody>
                    <a:bodyPr/>
                    <a:lstStyle/>
                    <a:p>
                      <a:pPr algn="ctr">
                        <a:defRPr sz="950">
                          <a:solidFill>
                            <a:srgbClr val="323232"/>
                          </a:solidFill>
                          <a:latin typeface="Arial"/>
                        </a:defRPr>
                      </a:pPr>
                      <a:r>
                        <a:t>loan_grade</a:t>
                      </a:r>
                    </a:p>
                  </a:txBody>
                  <a:tcPr>
                    <a:solidFill>
                      <a:srgbClr val="F5F5F5"/>
                    </a:solidFill>
                  </a:tcPr>
                </a:tc>
                <a:tc>
                  <a:txBody>
                    <a:bodyPr/>
                    <a:lstStyle/>
                    <a:p>
                      <a:pPr algn="ctr">
                        <a:defRPr sz="950">
                          <a:solidFill>
                            <a:srgbClr val="323232"/>
                          </a:solidFill>
                          <a:latin typeface="Arial"/>
                        </a:defRPr>
                      </a:pPr>
                      <a:r>
                        <a:t>Ordinal</a:t>
                      </a:r>
                    </a:p>
                  </a:txBody>
                  <a:tcPr>
                    <a:solidFill>
                      <a:srgbClr val="F5F5F5"/>
                    </a:solidFill>
                  </a:tcPr>
                </a:tc>
                <a:tc>
                  <a:txBody>
                    <a:bodyPr/>
                    <a:lstStyle/>
                    <a:p>
                      <a:pPr algn="ctr">
                        <a:defRPr sz="950">
                          <a:solidFill>
                            <a:srgbClr val="323232"/>
                          </a:solidFill>
                          <a:latin typeface="Arial"/>
                        </a:defRPr>
                      </a:pPr>
                      <a:r>
                        <a:t>Credit grade A-G (A = lowest risk)</a:t>
                      </a:r>
                    </a:p>
                  </a:txBody>
                  <a:tcPr>
                    <a:solidFill>
                      <a:srgbClr val="F5F5F5"/>
                    </a:solidFill>
                  </a:tcPr>
                </a:tc>
              </a:tr>
              <a:tr h="514350">
                <a:tc>
                  <a:txBody>
                    <a:bodyPr/>
                    <a:lstStyle/>
                    <a:p>
                      <a:pPr algn="ctr">
                        <a:defRPr sz="950">
                          <a:solidFill>
                            <a:srgbClr val="323232"/>
                          </a:solidFill>
                          <a:latin typeface="Arial"/>
                        </a:defRPr>
                      </a:pPr>
                      <a:r>
                        <a:t>loan_amnt</a:t>
                      </a:r>
                    </a:p>
                  </a:txBody>
                  <a:tcPr>
                    <a:solidFill>
                      <a:srgbClr val="FFFFFF"/>
                    </a:solidFill>
                  </a:tcPr>
                </a:tc>
                <a:tc>
                  <a:txBody>
                    <a:bodyPr/>
                    <a:lstStyle/>
                    <a:p>
                      <a:pPr algn="ctr">
                        <a:defRPr sz="950">
                          <a:solidFill>
                            <a:srgbClr val="323232"/>
                          </a:solidFill>
                          <a:latin typeface="Arial"/>
                        </a:defRPr>
                      </a:pPr>
                      <a:r>
                        <a:t>Integer</a:t>
                      </a:r>
                    </a:p>
                  </a:txBody>
                  <a:tcPr>
                    <a:solidFill>
                      <a:srgbClr val="FFFFFF"/>
                    </a:solidFill>
                  </a:tcPr>
                </a:tc>
                <a:tc>
                  <a:txBody>
                    <a:bodyPr/>
                    <a:lstStyle/>
                    <a:p>
                      <a:pPr algn="ctr">
                        <a:defRPr sz="950">
                          <a:solidFill>
                            <a:srgbClr val="323232"/>
                          </a:solidFill>
                          <a:latin typeface="Arial"/>
                        </a:defRPr>
                      </a:pPr>
                      <a:r>
                        <a:t>Loan principal amount ($)</a:t>
                      </a:r>
                    </a:p>
                  </a:txBody>
                  <a:tcPr>
                    <a:solidFill>
                      <a:srgbClr val="FFFFFF"/>
                    </a:solidFill>
                  </a:tcPr>
                </a:tc>
              </a:tr>
              <a:tr h="514350">
                <a:tc>
                  <a:txBody>
                    <a:bodyPr/>
                    <a:lstStyle/>
                    <a:p>
                      <a:pPr algn="ctr">
                        <a:defRPr sz="950">
                          <a:solidFill>
                            <a:srgbClr val="323232"/>
                          </a:solidFill>
                          <a:latin typeface="Arial"/>
                        </a:defRPr>
                      </a:pPr>
                      <a:r>
                        <a:t>loan_int_rate</a:t>
                      </a:r>
                    </a:p>
                  </a:txBody>
                  <a:tcPr>
                    <a:solidFill>
                      <a:srgbClr val="F5F5F5"/>
                    </a:solidFill>
                  </a:tcPr>
                </a:tc>
                <a:tc>
                  <a:txBody>
                    <a:bodyPr/>
                    <a:lstStyle/>
                    <a:p>
                      <a:pPr algn="ctr">
                        <a:defRPr sz="950">
                          <a:solidFill>
                            <a:srgbClr val="323232"/>
                          </a:solidFill>
                          <a:latin typeface="Arial"/>
                        </a:defRPr>
                      </a:pPr>
                      <a:r>
                        <a:t>Float</a:t>
                      </a:r>
                    </a:p>
                  </a:txBody>
                  <a:tcPr>
                    <a:solidFill>
                      <a:srgbClr val="F5F5F5"/>
                    </a:solidFill>
                  </a:tcPr>
                </a:tc>
                <a:tc>
                  <a:txBody>
                    <a:bodyPr/>
                    <a:lstStyle/>
                    <a:p>
                      <a:pPr algn="ctr">
                        <a:defRPr sz="950">
                          <a:solidFill>
                            <a:srgbClr val="323232"/>
                          </a:solidFill>
                          <a:latin typeface="Arial"/>
                        </a:defRPr>
                      </a:pPr>
                      <a:r>
                        <a:t>Interest rate in % (Target)</a:t>
                      </a:r>
                    </a:p>
                  </a:txBody>
                  <a:tcPr>
                    <a:solidFill>
                      <a:srgbClr val="F5F5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Dataset Description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Credit Risk Modeling Dataset</a:t>
            </a:r>
          </a:p>
          <a:p>
            <a:pPr>
              <a:spcAft>
                <a:spcPts val="800"/>
              </a:spcAft>
              <a:defRPr sz="1300" b="0">
                <a:solidFill>
                  <a:srgbClr val="1E1E1E"/>
                </a:solidFill>
                <a:latin typeface="Arial"/>
              </a:defRPr>
            </a:pPr>
            <a:r>
              <a:t>• Sourced from Kaggle repository; stored as data/raw/credit_risk_dataset.csv.</a:t>
            </a:r>
          </a:p>
          <a:p>
            <a:pPr lvl="1">
              <a:spcAft>
                <a:spcPts val="800"/>
              </a:spcAft>
              <a:defRPr sz="1300" b="0">
                <a:solidFill>
                  <a:srgbClr val="1E1E1E"/>
                </a:solidFill>
                <a:latin typeface="Arial"/>
              </a:defRPr>
            </a:pPr>
            <a:r>
              <a:t>• Size: 32,581 raw observations across 12 feature columns.</a:t>
            </a:r>
          </a:p>
          <a:p>
            <a:pPr>
              <a:spcAft>
                <a:spcPts val="800"/>
              </a:spcAft>
              <a:defRPr sz="1600" b="1">
                <a:solidFill>
                  <a:srgbClr val="0070B9"/>
                </a:solidFill>
                <a:latin typeface="Arial"/>
              </a:defRPr>
            </a:pPr>
            <a:r>
              <a:t>Key Characteristics</a:t>
            </a:r>
          </a:p>
          <a:p>
            <a:pPr lvl="1">
              <a:spcAft>
                <a:spcPts val="800"/>
              </a:spcAft>
              <a:defRPr sz="1300" b="0">
                <a:solidFill>
                  <a:srgbClr val="1E1E1E"/>
                </a:solidFill>
                <a:latin typeface="Arial"/>
              </a:defRPr>
            </a:pPr>
            <a:r>
              <a:t>• Target Variable: `loan_status` (Binary: 0 = non-default, 1 = default).</a:t>
            </a:r>
          </a:p>
          <a:p>
            <a:pPr lvl="1">
              <a:spcAft>
                <a:spcPts val="800"/>
              </a:spcAft>
              <a:defRPr sz="1300" b="0">
                <a:solidFill>
                  <a:srgbClr val="1E1E1E"/>
                </a:solidFill>
                <a:latin typeface="Arial"/>
              </a:defRPr>
            </a:pPr>
            <a:r>
              <a:t>• Imbalance Rate: 77.56% non-default (25,273 rows) vs. 22.44% default (7,308 rows).</a:t>
            </a:r>
          </a:p>
          <a:p>
            <a:pPr lvl="1">
              <a:spcAft>
                <a:spcPts val="800"/>
              </a:spcAft>
              <a:defRPr sz="1300" b="0">
                <a:solidFill>
                  <a:srgbClr val="1E1E1E"/>
                </a:solidFill>
                <a:latin typeface="Arial"/>
              </a:defRPr>
            </a:pPr>
            <a:r>
              <a:t>• Features include demographics, loan parameters, and historical default indicators.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371600"/>
                <a:gridCol w="1097280"/>
                <a:gridCol w="2743200"/>
              </a:tblGrid>
              <a:tr h="51435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Type</a:t>
                      </a:r>
                    </a:p>
                  </a:txBody>
                  <a:tcPr>
                    <a:solidFill>
                      <a:srgbClr val="0070B9"/>
                    </a:solidFill>
                  </a:tcPr>
                </a:tc>
                <a:tc>
                  <a:txBody>
                    <a:bodyPr/>
                    <a:lstStyle/>
                    <a:p>
                      <a:pPr algn="ctr">
                        <a:defRPr sz="1100" b="1">
                          <a:solidFill>
                            <a:srgbClr val="FFFFFF"/>
                          </a:solidFill>
                          <a:latin typeface="Arial"/>
                        </a:defRPr>
                      </a:pPr>
                      <a:r>
                        <a:t>Description</a:t>
                      </a:r>
                    </a:p>
                  </a:txBody>
                  <a:tcPr>
                    <a:solidFill>
                      <a:srgbClr val="0070B9"/>
                    </a:solidFill>
                  </a:tcPr>
                </a:tc>
              </a:tr>
              <a:tr h="514350">
                <a:tc>
                  <a:txBody>
                    <a:bodyPr/>
                    <a:lstStyle/>
                    <a:p>
                      <a:pPr algn="ctr">
                        <a:defRPr sz="950">
                          <a:solidFill>
                            <a:srgbClr val="323232"/>
                          </a:solidFill>
                          <a:latin typeface="Arial"/>
                        </a:defRPr>
                      </a:pPr>
                      <a:r>
                        <a:t>person_age</a:t>
                      </a:r>
                    </a:p>
                  </a:txBody>
                  <a:tcPr>
                    <a:solidFill>
                      <a:srgbClr val="F5F5F5"/>
                    </a:solidFill>
                  </a:tcPr>
                </a:tc>
                <a:tc>
                  <a:txBody>
                    <a:bodyPr/>
                    <a:lstStyle/>
                    <a:p>
                      <a:pPr algn="ctr">
                        <a:defRPr sz="950">
                          <a:solidFill>
                            <a:srgbClr val="323232"/>
                          </a:solidFill>
                          <a:latin typeface="Arial"/>
                        </a:defRPr>
                      </a:pPr>
                      <a:r>
                        <a:t>Integer</a:t>
                      </a:r>
                    </a:p>
                  </a:txBody>
                  <a:tcPr>
                    <a:solidFill>
                      <a:srgbClr val="F5F5F5"/>
                    </a:solidFill>
                  </a:tcPr>
                </a:tc>
                <a:tc>
                  <a:txBody>
                    <a:bodyPr/>
                    <a:lstStyle/>
                    <a:p>
                      <a:pPr algn="ctr">
                        <a:defRPr sz="950">
                          <a:solidFill>
                            <a:srgbClr val="323232"/>
                          </a:solidFill>
                          <a:latin typeface="Arial"/>
                        </a:defRPr>
                      </a:pPr>
                      <a:r>
                        <a:t>Borrower age in years</a:t>
                      </a:r>
                    </a:p>
                  </a:txBody>
                  <a:tcPr>
                    <a:solidFill>
                      <a:srgbClr val="F5F5F5"/>
                    </a:solidFill>
                  </a:tcPr>
                </a:tc>
              </a:tr>
              <a:tr h="514350">
                <a:tc>
                  <a:txBody>
                    <a:bodyPr/>
                    <a:lstStyle/>
                    <a:p>
                      <a:pPr algn="ctr">
                        <a:defRPr sz="950">
                          <a:solidFill>
                            <a:srgbClr val="323232"/>
                          </a:solidFill>
                          <a:latin typeface="Arial"/>
                        </a:defRPr>
                      </a:pPr>
                      <a:r>
                        <a:t>person_income</a:t>
                      </a:r>
                    </a:p>
                  </a:txBody>
                  <a:tcPr>
                    <a:solidFill>
                      <a:srgbClr val="FFFFFF"/>
                    </a:solidFill>
                  </a:tcPr>
                </a:tc>
                <a:tc>
                  <a:txBody>
                    <a:bodyPr/>
                    <a:lstStyle/>
                    <a:p>
                      <a:pPr algn="ctr">
                        <a:defRPr sz="950">
                          <a:solidFill>
                            <a:srgbClr val="323232"/>
                          </a:solidFill>
                          <a:latin typeface="Arial"/>
                        </a:defRPr>
                      </a:pPr>
                      <a:r>
                        <a:t>Integer</a:t>
                      </a:r>
                    </a:p>
                  </a:txBody>
                  <a:tcPr>
                    <a:solidFill>
                      <a:srgbClr val="FFFFFF"/>
                    </a:solidFill>
                  </a:tcPr>
                </a:tc>
                <a:tc>
                  <a:txBody>
                    <a:bodyPr/>
                    <a:lstStyle/>
                    <a:p>
                      <a:pPr algn="ctr">
                        <a:defRPr sz="950">
                          <a:solidFill>
                            <a:srgbClr val="323232"/>
                          </a:solidFill>
                          <a:latin typeface="Arial"/>
                        </a:defRPr>
                      </a:pPr>
                      <a:r>
                        <a:t>Annual income in USD</a:t>
                      </a:r>
                    </a:p>
                  </a:txBody>
                  <a:tcPr>
                    <a:solidFill>
                      <a:srgbClr val="FFFFFF"/>
                    </a:solidFill>
                  </a:tcPr>
                </a:tc>
              </a:tr>
              <a:tr h="514350">
                <a:tc>
                  <a:txBody>
                    <a:bodyPr/>
                    <a:lstStyle/>
                    <a:p>
                      <a:pPr algn="ctr">
                        <a:defRPr sz="950">
                          <a:solidFill>
                            <a:srgbClr val="323232"/>
                          </a:solidFill>
                          <a:latin typeface="Arial"/>
                        </a:defRPr>
                      </a:pPr>
                      <a:r>
                        <a:t>person_home_ownership</a:t>
                      </a:r>
                    </a:p>
                  </a:txBody>
                  <a:tcPr>
                    <a:solidFill>
                      <a:srgbClr val="F5F5F5"/>
                    </a:solidFill>
                  </a:tcPr>
                </a:tc>
                <a:tc>
                  <a:txBody>
                    <a:bodyPr/>
                    <a:lstStyle/>
                    <a:p>
                      <a:pPr algn="ctr">
                        <a:defRPr sz="950">
                          <a:solidFill>
                            <a:srgbClr val="323232"/>
                          </a:solidFill>
                          <a:latin typeface="Arial"/>
                        </a:defRPr>
                      </a:pPr>
                      <a:r>
                        <a:t>Nominal</a:t>
                      </a:r>
                    </a:p>
                  </a:txBody>
                  <a:tcPr>
                    <a:solidFill>
                      <a:srgbClr val="F5F5F5"/>
                    </a:solidFill>
                  </a:tcPr>
                </a:tc>
                <a:tc>
                  <a:txBody>
                    <a:bodyPr/>
                    <a:lstStyle/>
                    <a:p>
                      <a:pPr algn="ctr">
                        <a:defRPr sz="950">
                          <a:solidFill>
                            <a:srgbClr val="323232"/>
                          </a:solidFill>
                          <a:latin typeface="Arial"/>
                        </a:defRPr>
                      </a:pPr>
                      <a:r>
                        <a:t>RENT, OWN, MORTGAGE, OTHER</a:t>
                      </a:r>
                    </a:p>
                  </a:txBody>
                  <a:tcPr>
                    <a:solidFill>
                      <a:srgbClr val="F5F5F5"/>
                    </a:solidFill>
                  </a:tcPr>
                </a:tc>
              </a:tr>
              <a:tr h="514350">
                <a:tc>
                  <a:txBody>
                    <a:bodyPr/>
                    <a:lstStyle/>
                    <a:p>
                      <a:pPr algn="ctr">
                        <a:defRPr sz="950">
                          <a:solidFill>
                            <a:srgbClr val="323232"/>
                          </a:solidFill>
                          <a:latin typeface="Arial"/>
                        </a:defRPr>
                      </a:pPr>
                      <a:r>
                        <a:t>person_emp_length</a:t>
                      </a:r>
                    </a:p>
                  </a:txBody>
                  <a:tcPr>
                    <a:solidFill>
                      <a:srgbClr val="FFFFFF"/>
                    </a:solidFill>
                  </a:tcPr>
                </a:tc>
                <a:tc>
                  <a:txBody>
                    <a:bodyPr/>
                    <a:lstStyle/>
                    <a:p>
                      <a:pPr algn="ctr">
                        <a:defRPr sz="950">
                          <a:solidFill>
                            <a:srgbClr val="323232"/>
                          </a:solidFill>
                          <a:latin typeface="Arial"/>
                        </a:defRPr>
                      </a:pPr>
                      <a:r>
                        <a:t>Float</a:t>
                      </a:r>
                    </a:p>
                  </a:txBody>
                  <a:tcPr>
                    <a:solidFill>
                      <a:srgbClr val="FFFFFF"/>
                    </a:solidFill>
                  </a:tcPr>
                </a:tc>
                <a:tc>
                  <a:txBody>
                    <a:bodyPr/>
                    <a:lstStyle/>
                    <a:p>
                      <a:pPr algn="ctr">
                        <a:defRPr sz="950">
                          <a:solidFill>
                            <a:srgbClr val="323232"/>
                          </a:solidFill>
                          <a:latin typeface="Arial"/>
                        </a:defRPr>
                      </a:pPr>
                      <a:r>
                        <a:t>Employment length in years</a:t>
                      </a:r>
                    </a:p>
                  </a:txBody>
                  <a:tcPr>
                    <a:solidFill>
                      <a:srgbClr val="FFFFFF"/>
                    </a:solidFill>
                  </a:tcPr>
                </a:tc>
              </a:tr>
              <a:tr h="514350">
                <a:tc>
                  <a:txBody>
                    <a:bodyPr/>
                    <a:lstStyle/>
                    <a:p>
                      <a:pPr algn="ctr">
                        <a:defRPr sz="950">
                          <a:solidFill>
                            <a:srgbClr val="323232"/>
                          </a:solidFill>
                          <a:latin typeface="Arial"/>
                        </a:defRPr>
                      </a:pPr>
                      <a:r>
                        <a:t>loan_grade</a:t>
                      </a:r>
                    </a:p>
                  </a:txBody>
                  <a:tcPr>
                    <a:solidFill>
                      <a:srgbClr val="F5F5F5"/>
                    </a:solidFill>
                  </a:tcPr>
                </a:tc>
                <a:tc>
                  <a:txBody>
                    <a:bodyPr/>
                    <a:lstStyle/>
                    <a:p>
                      <a:pPr algn="ctr">
                        <a:defRPr sz="950">
                          <a:solidFill>
                            <a:srgbClr val="323232"/>
                          </a:solidFill>
                          <a:latin typeface="Arial"/>
                        </a:defRPr>
                      </a:pPr>
                      <a:r>
                        <a:t>Ordinal</a:t>
                      </a:r>
                    </a:p>
                  </a:txBody>
                  <a:tcPr>
                    <a:solidFill>
                      <a:srgbClr val="F5F5F5"/>
                    </a:solidFill>
                  </a:tcPr>
                </a:tc>
                <a:tc>
                  <a:txBody>
                    <a:bodyPr/>
                    <a:lstStyle/>
                    <a:p>
                      <a:pPr algn="ctr">
                        <a:defRPr sz="950">
                          <a:solidFill>
                            <a:srgbClr val="323232"/>
                          </a:solidFill>
                          <a:latin typeface="Arial"/>
                        </a:defRPr>
                      </a:pPr>
                      <a:r>
                        <a:t>Credit grade A-G (A = lowest risk)</a:t>
                      </a:r>
                    </a:p>
                  </a:txBody>
                  <a:tcPr>
                    <a:solidFill>
                      <a:srgbClr val="F5F5F5"/>
                    </a:solidFill>
                  </a:tcPr>
                </a:tc>
              </a:tr>
              <a:tr h="514350">
                <a:tc>
                  <a:txBody>
                    <a:bodyPr/>
                    <a:lstStyle/>
                    <a:p>
                      <a:pPr algn="ctr">
                        <a:defRPr sz="950">
                          <a:solidFill>
                            <a:srgbClr val="323232"/>
                          </a:solidFill>
                          <a:latin typeface="Arial"/>
                        </a:defRPr>
                      </a:pPr>
                      <a:r>
                        <a:t>loan_amnt</a:t>
                      </a:r>
                    </a:p>
                  </a:txBody>
                  <a:tcPr>
                    <a:solidFill>
                      <a:srgbClr val="FFFFFF"/>
                    </a:solidFill>
                  </a:tcPr>
                </a:tc>
                <a:tc>
                  <a:txBody>
                    <a:bodyPr/>
                    <a:lstStyle/>
                    <a:p>
                      <a:pPr algn="ctr">
                        <a:defRPr sz="950">
                          <a:solidFill>
                            <a:srgbClr val="323232"/>
                          </a:solidFill>
                          <a:latin typeface="Arial"/>
                        </a:defRPr>
                      </a:pPr>
                      <a:r>
                        <a:t>Integer</a:t>
                      </a:r>
                    </a:p>
                  </a:txBody>
                  <a:tcPr>
                    <a:solidFill>
                      <a:srgbClr val="FFFFFF"/>
                    </a:solidFill>
                  </a:tcPr>
                </a:tc>
                <a:tc>
                  <a:txBody>
                    <a:bodyPr/>
                    <a:lstStyle/>
                    <a:p>
                      <a:pPr algn="ctr">
                        <a:defRPr sz="950">
                          <a:solidFill>
                            <a:srgbClr val="323232"/>
                          </a:solidFill>
                          <a:latin typeface="Arial"/>
                        </a:defRPr>
                      </a:pPr>
                      <a:r>
                        <a:t>Loan principal amount ($)</a:t>
                      </a:r>
                    </a:p>
                  </a:txBody>
                  <a:tcPr>
                    <a:solidFill>
                      <a:srgbClr val="FFFFFF"/>
                    </a:solidFill>
                  </a:tcPr>
                </a:tc>
              </a:tr>
              <a:tr h="514350">
                <a:tc>
                  <a:txBody>
                    <a:bodyPr/>
                    <a:lstStyle/>
                    <a:p>
                      <a:pPr algn="ctr">
                        <a:defRPr sz="950">
                          <a:solidFill>
                            <a:srgbClr val="323232"/>
                          </a:solidFill>
                          <a:latin typeface="Arial"/>
                        </a:defRPr>
                      </a:pPr>
                      <a:r>
                        <a:t>loan_int_rate</a:t>
                      </a:r>
                    </a:p>
                  </a:txBody>
                  <a:tcPr>
                    <a:solidFill>
                      <a:srgbClr val="F5F5F5"/>
                    </a:solidFill>
                  </a:tcPr>
                </a:tc>
                <a:tc>
                  <a:txBody>
                    <a:bodyPr/>
                    <a:lstStyle/>
                    <a:p>
                      <a:pPr algn="ctr">
                        <a:defRPr sz="950">
                          <a:solidFill>
                            <a:srgbClr val="323232"/>
                          </a:solidFill>
                          <a:latin typeface="Arial"/>
                        </a:defRPr>
                      </a:pPr>
                      <a:r>
                        <a:t>Float</a:t>
                      </a:r>
                    </a:p>
                  </a:txBody>
                  <a:tcPr>
                    <a:solidFill>
                      <a:srgbClr val="F5F5F5"/>
                    </a:solidFill>
                  </a:tcPr>
                </a:tc>
                <a:tc>
                  <a:txBody>
                    <a:bodyPr/>
                    <a:lstStyle/>
                    <a:p>
                      <a:pPr algn="ctr">
                        <a:defRPr sz="950">
                          <a:solidFill>
                            <a:srgbClr val="323232"/>
                          </a:solidFill>
                          <a:latin typeface="Arial"/>
                        </a:defRPr>
                      </a:pPr>
                      <a:r>
                        <a:t>Interest rate in % (Target)</a:t>
                      </a:r>
                    </a:p>
                  </a:txBody>
                  <a:tcPr>
                    <a:solidFill>
                      <a:srgbClr val="F5F5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Missing Value Audit</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Audit of Missing Values</a:t>
            </a:r>
          </a:p>
          <a:p>
            <a:pPr>
              <a:spcAft>
                <a:spcPts val="800"/>
              </a:spcAft>
              <a:defRPr sz="1300" b="0">
                <a:solidFill>
                  <a:srgbClr val="1E1E1E"/>
                </a:solidFill>
                <a:latin typeface="Arial"/>
              </a:defRPr>
            </a:pPr>
            <a:r>
              <a:t>We identified missing values in two primary fields in the raw dataset:</a:t>
            </a:r>
          </a:p>
          <a:p>
            <a:pPr lvl="1">
              <a:spcAft>
                <a:spcPts val="800"/>
              </a:spcAft>
              <a:defRPr sz="1300" b="0">
                <a:solidFill>
                  <a:srgbClr val="1E1E1E"/>
                </a:solidFill>
                <a:latin typeface="Arial"/>
              </a:defRPr>
            </a:pPr>
            <a:r>
              <a:t>• `person_emp_length`: 895 missing entries (2.75% of rows)</a:t>
            </a:r>
          </a:p>
          <a:p>
            <a:pPr lvl="1">
              <a:spcAft>
                <a:spcPts val="800"/>
              </a:spcAft>
              <a:defRPr sz="1300" b="0">
                <a:solidFill>
                  <a:srgbClr val="1E1E1E"/>
                </a:solidFill>
                <a:latin typeface="Arial"/>
              </a:defRPr>
            </a:pPr>
            <a:r>
              <a:t>• `loan_int_rate`: 3,116 missing entries (9.56% of rows)</a:t>
            </a:r>
          </a:p>
          <a:p>
            <a:pPr>
              <a:spcAft>
                <a:spcPts val="800"/>
              </a:spcAft>
              <a:defRPr sz="1600" b="1">
                <a:solidFill>
                  <a:srgbClr val="0070B9"/>
                </a:solidFill>
                <a:latin typeface="Arial"/>
              </a:defRPr>
            </a:pPr>
            <a:r>
              <a:t>Treatment Decision</a:t>
            </a:r>
          </a:p>
          <a:p>
            <a:pPr lvl="1">
              <a:spcAft>
                <a:spcPts val="800"/>
              </a:spcAft>
              <a:defRPr sz="1300" b="0">
                <a:solidFill>
                  <a:srgbClr val="1E1E1E"/>
                </a:solidFill>
                <a:latin typeface="Arial"/>
              </a:defRPr>
            </a:pPr>
            <a:r>
              <a:t>• Rationale: Simply dropping missing records would result in a substantial data loss (over 12% combined).</a:t>
            </a:r>
          </a:p>
          <a:p>
            <a:pPr lvl="1">
              <a:spcAft>
                <a:spcPts val="800"/>
              </a:spcAft>
              <a:defRPr sz="1300" b="0">
                <a:solidFill>
                  <a:srgbClr val="1E1E1E"/>
                </a:solidFill>
                <a:latin typeface="Arial"/>
              </a:defRPr>
            </a:pPr>
            <a:r>
              <a:t>• Rationale: Naive mean imputation would introduce severe bias due to the skewness of financial features.</a:t>
            </a:r>
          </a:p>
          <a:p>
            <a:pPr lvl="1">
              <a:spcAft>
                <a:spcPts val="800"/>
              </a:spcAft>
              <a:defRPr sz="1300" b="0">
                <a:solidFill>
                  <a:srgbClr val="1E1E1E"/>
                </a:solidFill>
                <a:latin typeface="Arial"/>
              </a:defRPr>
            </a:pPr>
            <a:r>
              <a:t>• Action: Implement robust median imputation (Little &amp; Rubin, 2019) to preserve data sample size without inflating parameters.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0287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Missing (n)</a:t>
                      </a:r>
                    </a:p>
                  </a:txBody>
                  <a:tcPr>
                    <a:solidFill>
                      <a:srgbClr val="0070B9"/>
                    </a:solidFill>
                  </a:tcPr>
                </a:tc>
                <a:tc>
                  <a:txBody>
                    <a:bodyPr/>
                    <a:lstStyle/>
                    <a:p>
                      <a:pPr algn="ctr">
                        <a:defRPr sz="1100" b="1">
                          <a:solidFill>
                            <a:srgbClr val="FFFFFF"/>
                          </a:solidFill>
                          <a:latin typeface="Arial"/>
                        </a:defRPr>
                      </a:pPr>
                      <a:r>
                        <a:t>Missing %</a:t>
                      </a:r>
                    </a:p>
                  </a:txBody>
                  <a:tcPr>
                    <a:solidFill>
                      <a:srgbClr val="0070B9"/>
                    </a:solidFill>
                  </a:tcPr>
                </a:tc>
                <a:tc>
                  <a:txBody>
                    <a:bodyPr/>
                    <a:lstStyle/>
                    <a:p>
                      <a:pPr algn="ctr">
                        <a:defRPr sz="1100" b="1">
                          <a:solidFill>
                            <a:srgbClr val="FFFFFF"/>
                          </a:solidFill>
                          <a:latin typeface="Arial"/>
                        </a:defRPr>
                      </a:pPr>
                      <a:r>
                        <a:t>Status</a:t>
                      </a:r>
                    </a:p>
                  </a:txBody>
                  <a:tcPr>
                    <a:solidFill>
                      <a:srgbClr val="0070B9"/>
                    </a:solidFill>
                  </a:tcPr>
                </a:tc>
              </a:tr>
              <a:tr h="1028700">
                <a:tc>
                  <a:txBody>
                    <a:bodyPr/>
                    <a:lstStyle/>
                    <a:p>
                      <a:pPr algn="ctr">
                        <a:defRPr sz="950">
                          <a:solidFill>
                            <a:srgbClr val="323232"/>
                          </a:solidFill>
                          <a:latin typeface="Arial"/>
                        </a:defRPr>
                      </a:pPr>
                      <a:r>
                        <a:t>person_emp_length</a:t>
                      </a:r>
                    </a:p>
                  </a:txBody>
                  <a:tcPr>
                    <a:solidFill>
                      <a:srgbClr val="F5F5F5"/>
                    </a:solidFill>
                  </a:tcPr>
                </a:tc>
                <a:tc>
                  <a:txBody>
                    <a:bodyPr/>
                    <a:lstStyle/>
                    <a:p>
                      <a:pPr algn="ctr">
                        <a:defRPr sz="950">
                          <a:solidFill>
                            <a:srgbClr val="323232"/>
                          </a:solidFill>
                          <a:latin typeface="Arial"/>
                        </a:defRPr>
                      </a:pPr>
                      <a:r>
                        <a:t>895</a:t>
                      </a:r>
                    </a:p>
                  </a:txBody>
                  <a:tcPr>
                    <a:solidFill>
                      <a:srgbClr val="F5F5F5"/>
                    </a:solidFill>
                  </a:tcPr>
                </a:tc>
                <a:tc>
                  <a:txBody>
                    <a:bodyPr/>
                    <a:lstStyle/>
                    <a:p>
                      <a:pPr algn="ctr">
                        <a:defRPr sz="950">
                          <a:solidFill>
                            <a:srgbClr val="323232"/>
                          </a:solidFill>
                          <a:latin typeface="Arial"/>
                        </a:defRPr>
                      </a:pPr>
                      <a:r>
                        <a:t>2.75%</a:t>
                      </a:r>
                    </a:p>
                  </a:txBody>
                  <a:tcPr>
                    <a:solidFill>
                      <a:srgbClr val="F5F5F5"/>
                    </a:solidFill>
                  </a:tcPr>
                </a:tc>
                <a:tc>
                  <a:txBody>
                    <a:bodyPr/>
                    <a:lstStyle/>
                    <a:p>
                      <a:pPr algn="ctr">
                        <a:defRPr sz="950">
                          <a:solidFill>
                            <a:srgbClr val="323232"/>
                          </a:solidFill>
                          <a:latin typeface="Arial"/>
                        </a:defRPr>
                      </a:pPr>
                      <a:r>
                        <a:t>Needs Imputation</a:t>
                      </a:r>
                    </a:p>
                  </a:txBody>
                  <a:tcPr>
                    <a:solidFill>
                      <a:srgbClr val="F5F5F5"/>
                    </a:solidFill>
                  </a:tcPr>
                </a:tc>
              </a:tr>
              <a:tr h="1028700">
                <a:tc>
                  <a:txBody>
                    <a:bodyPr/>
                    <a:lstStyle/>
                    <a:p>
                      <a:pPr algn="ctr">
                        <a:defRPr sz="950">
                          <a:solidFill>
                            <a:srgbClr val="323232"/>
                          </a:solidFill>
                          <a:latin typeface="Arial"/>
                        </a:defRPr>
                      </a:pPr>
                      <a:r>
                        <a:t>loan_int_rate</a:t>
                      </a:r>
                    </a:p>
                  </a:txBody>
                  <a:tcPr>
                    <a:solidFill>
                      <a:srgbClr val="FFFFFF"/>
                    </a:solidFill>
                  </a:tcPr>
                </a:tc>
                <a:tc>
                  <a:txBody>
                    <a:bodyPr/>
                    <a:lstStyle/>
                    <a:p>
                      <a:pPr algn="ctr">
                        <a:defRPr sz="950">
                          <a:solidFill>
                            <a:srgbClr val="323232"/>
                          </a:solidFill>
                          <a:latin typeface="Arial"/>
                        </a:defRPr>
                      </a:pPr>
                      <a:r>
                        <a:t>3,116</a:t>
                      </a:r>
                    </a:p>
                  </a:txBody>
                  <a:tcPr>
                    <a:solidFill>
                      <a:srgbClr val="FFFFFF"/>
                    </a:solidFill>
                  </a:tcPr>
                </a:tc>
                <a:tc>
                  <a:txBody>
                    <a:bodyPr/>
                    <a:lstStyle/>
                    <a:p>
                      <a:pPr algn="ctr">
                        <a:defRPr sz="950">
                          <a:solidFill>
                            <a:srgbClr val="323232"/>
                          </a:solidFill>
                          <a:latin typeface="Arial"/>
                        </a:defRPr>
                      </a:pPr>
                      <a:r>
                        <a:t>9.56%</a:t>
                      </a:r>
                    </a:p>
                  </a:txBody>
                  <a:tcPr>
                    <a:solidFill>
                      <a:srgbClr val="FFFFFF"/>
                    </a:solidFill>
                  </a:tcPr>
                </a:tc>
                <a:tc>
                  <a:txBody>
                    <a:bodyPr/>
                    <a:lstStyle/>
                    <a:p>
                      <a:pPr algn="ctr">
                        <a:defRPr sz="950">
                          <a:solidFill>
                            <a:srgbClr val="323232"/>
                          </a:solidFill>
                          <a:latin typeface="Arial"/>
                        </a:defRPr>
                      </a:pPr>
                      <a:r>
                        <a:t>Needs Imputation</a:t>
                      </a:r>
                    </a:p>
                  </a:txBody>
                  <a:tcPr>
                    <a:solidFill>
                      <a:srgbClr val="FFFFFF"/>
                    </a:solidFill>
                  </a:tcPr>
                </a:tc>
              </a:tr>
              <a:tr h="1028700">
                <a:tc>
                  <a:txBody>
                    <a:bodyPr/>
                    <a:lstStyle/>
                    <a:p>
                      <a:pPr algn="ctr">
                        <a:defRPr sz="950">
                          <a:solidFill>
                            <a:srgbClr val="323232"/>
                          </a:solidFill>
                          <a:latin typeface="Arial"/>
                        </a:defRPr>
                      </a:pPr>
                      <a:r>
                        <a:t>Other Columns</a:t>
                      </a:r>
                    </a:p>
                  </a:txBody>
                  <a:tcPr>
                    <a:solidFill>
                      <a:srgbClr val="F5F5F5"/>
                    </a:solidFill>
                  </a:tcPr>
                </a:tc>
                <a:tc>
                  <a:txBody>
                    <a:bodyPr/>
                    <a:lstStyle/>
                    <a:p>
                      <a:pPr algn="ctr">
                        <a:defRPr sz="950">
                          <a:solidFill>
                            <a:srgbClr val="323232"/>
                          </a:solidFill>
                          <a:latin typeface="Arial"/>
                        </a:defRPr>
                      </a:pPr>
                      <a:r>
                        <a:t>0</a:t>
                      </a:r>
                    </a:p>
                  </a:txBody>
                  <a:tcPr>
                    <a:solidFill>
                      <a:srgbClr val="F5F5F5"/>
                    </a:solidFill>
                  </a:tcPr>
                </a:tc>
                <a:tc>
                  <a:txBody>
                    <a:bodyPr/>
                    <a:lstStyle/>
                    <a:p>
                      <a:pPr algn="ctr">
                        <a:defRPr sz="950">
                          <a:solidFill>
                            <a:srgbClr val="323232"/>
                          </a:solidFill>
                          <a:latin typeface="Arial"/>
                        </a:defRPr>
                      </a:pPr>
                      <a:r>
                        <a:t>0.00%</a:t>
                      </a:r>
                    </a:p>
                  </a:txBody>
                  <a:tcPr>
                    <a:solidFill>
                      <a:srgbClr val="F5F5F5"/>
                    </a:solidFill>
                  </a:tcPr>
                </a:tc>
                <a:tc>
                  <a:txBody>
                    <a:bodyPr/>
                    <a:lstStyle/>
                    <a:p>
                      <a:pPr algn="ctr">
                        <a:defRPr sz="950">
                          <a:solidFill>
                            <a:srgbClr val="323232"/>
                          </a:solidFill>
                          <a:latin typeface="Arial"/>
                        </a:defRPr>
                      </a:pPr>
                      <a:r>
                        <a:t>Complete</a:t>
                      </a:r>
                    </a:p>
                  </a:txBody>
                  <a:tcPr>
                    <a:solidFill>
                      <a:srgbClr val="F5F5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Missing Value Audit</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Audit of Missing Values</a:t>
            </a:r>
          </a:p>
          <a:p>
            <a:pPr>
              <a:spcAft>
                <a:spcPts val="800"/>
              </a:spcAft>
              <a:defRPr sz="1300" b="0">
                <a:solidFill>
                  <a:srgbClr val="1E1E1E"/>
                </a:solidFill>
                <a:latin typeface="Arial"/>
              </a:defRPr>
            </a:pPr>
            <a:r>
              <a:t>We identified missing values in two primary fields in the raw dataset:</a:t>
            </a:r>
          </a:p>
          <a:p>
            <a:pPr lvl="1">
              <a:spcAft>
                <a:spcPts val="800"/>
              </a:spcAft>
              <a:defRPr sz="1300" b="0">
                <a:solidFill>
                  <a:srgbClr val="1E1E1E"/>
                </a:solidFill>
                <a:latin typeface="Arial"/>
              </a:defRPr>
            </a:pPr>
            <a:r>
              <a:t>• `person_emp_length`: 895 missing entries (2.75% of rows)</a:t>
            </a:r>
          </a:p>
          <a:p>
            <a:pPr lvl="1">
              <a:spcAft>
                <a:spcPts val="800"/>
              </a:spcAft>
              <a:defRPr sz="1300" b="0">
                <a:solidFill>
                  <a:srgbClr val="1E1E1E"/>
                </a:solidFill>
                <a:latin typeface="Arial"/>
              </a:defRPr>
            </a:pPr>
            <a:r>
              <a:t>• `loan_int_rate`: 3,116 missing entries (9.56% of rows)</a:t>
            </a:r>
          </a:p>
          <a:p>
            <a:pPr>
              <a:spcAft>
                <a:spcPts val="800"/>
              </a:spcAft>
              <a:defRPr sz="1600" b="1">
                <a:solidFill>
                  <a:srgbClr val="0070B9"/>
                </a:solidFill>
                <a:latin typeface="Arial"/>
              </a:defRPr>
            </a:pPr>
            <a:r>
              <a:t>Treatment Decision</a:t>
            </a:r>
          </a:p>
          <a:p>
            <a:pPr lvl="1">
              <a:spcAft>
                <a:spcPts val="800"/>
              </a:spcAft>
              <a:defRPr sz="1300" b="0">
                <a:solidFill>
                  <a:srgbClr val="1E1E1E"/>
                </a:solidFill>
                <a:latin typeface="Arial"/>
              </a:defRPr>
            </a:pPr>
            <a:r>
              <a:t>• Rationale: Simply dropping missing records would result in a substantial data loss (over 12% combined).</a:t>
            </a:r>
          </a:p>
          <a:p>
            <a:pPr lvl="1">
              <a:spcAft>
                <a:spcPts val="800"/>
              </a:spcAft>
              <a:defRPr sz="1300" b="0">
                <a:solidFill>
                  <a:srgbClr val="1E1E1E"/>
                </a:solidFill>
                <a:latin typeface="Arial"/>
              </a:defRPr>
            </a:pPr>
            <a:r>
              <a:t>• Rationale: Naive mean imputation would introduce severe bias due to the skewness of financial features.</a:t>
            </a:r>
          </a:p>
          <a:p>
            <a:pPr lvl="1">
              <a:spcAft>
                <a:spcPts val="800"/>
              </a:spcAft>
              <a:defRPr sz="1300" b="0">
                <a:solidFill>
                  <a:srgbClr val="1E1E1E"/>
                </a:solidFill>
                <a:latin typeface="Arial"/>
              </a:defRPr>
            </a:pPr>
            <a:r>
              <a:t>• Action: Implement robust median imputation (Little &amp; Rubin, 2019) to preserve data sample size without inflating parameters.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0287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Missing (n)</a:t>
                      </a:r>
                    </a:p>
                  </a:txBody>
                  <a:tcPr>
                    <a:solidFill>
                      <a:srgbClr val="0070B9"/>
                    </a:solidFill>
                  </a:tcPr>
                </a:tc>
                <a:tc>
                  <a:txBody>
                    <a:bodyPr/>
                    <a:lstStyle/>
                    <a:p>
                      <a:pPr algn="ctr">
                        <a:defRPr sz="1100" b="1">
                          <a:solidFill>
                            <a:srgbClr val="FFFFFF"/>
                          </a:solidFill>
                          <a:latin typeface="Arial"/>
                        </a:defRPr>
                      </a:pPr>
                      <a:r>
                        <a:t>Missing %</a:t>
                      </a:r>
                    </a:p>
                  </a:txBody>
                  <a:tcPr>
                    <a:solidFill>
                      <a:srgbClr val="0070B9"/>
                    </a:solidFill>
                  </a:tcPr>
                </a:tc>
                <a:tc>
                  <a:txBody>
                    <a:bodyPr/>
                    <a:lstStyle/>
                    <a:p>
                      <a:pPr algn="ctr">
                        <a:defRPr sz="1100" b="1">
                          <a:solidFill>
                            <a:srgbClr val="FFFFFF"/>
                          </a:solidFill>
                          <a:latin typeface="Arial"/>
                        </a:defRPr>
                      </a:pPr>
                      <a:r>
                        <a:t>Status</a:t>
                      </a:r>
                    </a:p>
                  </a:txBody>
                  <a:tcPr>
                    <a:solidFill>
                      <a:srgbClr val="0070B9"/>
                    </a:solidFill>
                  </a:tcPr>
                </a:tc>
              </a:tr>
              <a:tr h="1028700">
                <a:tc>
                  <a:txBody>
                    <a:bodyPr/>
                    <a:lstStyle/>
                    <a:p>
                      <a:pPr algn="ctr">
                        <a:defRPr sz="950">
                          <a:solidFill>
                            <a:srgbClr val="323232"/>
                          </a:solidFill>
                          <a:latin typeface="Arial"/>
                        </a:defRPr>
                      </a:pPr>
                      <a:r>
                        <a:t>person_emp_length</a:t>
                      </a:r>
                    </a:p>
                  </a:txBody>
                  <a:tcPr>
                    <a:solidFill>
                      <a:srgbClr val="F5F5F5"/>
                    </a:solidFill>
                  </a:tcPr>
                </a:tc>
                <a:tc>
                  <a:txBody>
                    <a:bodyPr/>
                    <a:lstStyle/>
                    <a:p>
                      <a:pPr algn="ctr">
                        <a:defRPr sz="950">
                          <a:solidFill>
                            <a:srgbClr val="323232"/>
                          </a:solidFill>
                          <a:latin typeface="Arial"/>
                        </a:defRPr>
                      </a:pPr>
                      <a:r>
                        <a:t>895</a:t>
                      </a:r>
                    </a:p>
                  </a:txBody>
                  <a:tcPr>
                    <a:solidFill>
                      <a:srgbClr val="F5F5F5"/>
                    </a:solidFill>
                  </a:tcPr>
                </a:tc>
                <a:tc>
                  <a:txBody>
                    <a:bodyPr/>
                    <a:lstStyle/>
                    <a:p>
                      <a:pPr algn="ctr">
                        <a:defRPr sz="950">
                          <a:solidFill>
                            <a:srgbClr val="323232"/>
                          </a:solidFill>
                          <a:latin typeface="Arial"/>
                        </a:defRPr>
                      </a:pPr>
                      <a:r>
                        <a:t>2.75%</a:t>
                      </a:r>
                    </a:p>
                  </a:txBody>
                  <a:tcPr>
                    <a:solidFill>
                      <a:srgbClr val="F5F5F5"/>
                    </a:solidFill>
                  </a:tcPr>
                </a:tc>
                <a:tc>
                  <a:txBody>
                    <a:bodyPr/>
                    <a:lstStyle/>
                    <a:p>
                      <a:pPr algn="ctr">
                        <a:defRPr sz="950">
                          <a:solidFill>
                            <a:srgbClr val="323232"/>
                          </a:solidFill>
                          <a:latin typeface="Arial"/>
                        </a:defRPr>
                      </a:pPr>
                      <a:r>
                        <a:t>Needs Imputation</a:t>
                      </a:r>
                    </a:p>
                  </a:txBody>
                  <a:tcPr>
                    <a:solidFill>
                      <a:srgbClr val="F5F5F5"/>
                    </a:solidFill>
                  </a:tcPr>
                </a:tc>
              </a:tr>
              <a:tr h="1028700">
                <a:tc>
                  <a:txBody>
                    <a:bodyPr/>
                    <a:lstStyle/>
                    <a:p>
                      <a:pPr algn="ctr">
                        <a:defRPr sz="950">
                          <a:solidFill>
                            <a:srgbClr val="323232"/>
                          </a:solidFill>
                          <a:latin typeface="Arial"/>
                        </a:defRPr>
                      </a:pPr>
                      <a:r>
                        <a:t>loan_int_rate</a:t>
                      </a:r>
                    </a:p>
                  </a:txBody>
                  <a:tcPr>
                    <a:solidFill>
                      <a:srgbClr val="FFFFFF"/>
                    </a:solidFill>
                  </a:tcPr>
                </a:tc>
                <a:tc>
                  <a:txBody>
                    <a:bodyPr/>
                    <a:lstStyle/>
                    <a:p>
                      <a:pPr algn="ctr">
                        <a:defRPr sz="950">
                          <a:solidFill>
                            <a:srgbClr val="323232"/>
                          </a:solidFill>
                          <a:latin typeface="Arial"/>
                        </a:defRPr>
                      </a:pPr>
                      <a:r>
                        <a:t>3,116</a:t>
                      </a:r>
                    </a:p>
                  </a:txBody>
                  <a:tcPr>
                    <a:solidFill>
                      <a:srgbClr val="FFFFFF"/>
                    </a:solidFill>
                  </a:tcPr>
                </a:tc>
                <a:tc>
                  <a:txBody>
                    <a:bodyPr/>
                    <a:lstStyle/>
                    <a:p>
                      <a:pPr algn="ctr">
                        <a:defRPr sz="950">
                          <a:solidFill>
                            <a:srgbClr val="323232"/>
                          </a:solidFill>
                          <a:latin typeface="Arial"/>
                        </a:defRPr>
                      </a:pPr>
                      <a:r>
                        <a:t>9.56%</a:t>
                      </a:r>
                    </a:p>
                  </a:txBody>
                  <a:tcPr>
                    <a:solidFill>
                      <a:srgbClr val="FFFFFF"/>
                    </a:solidFill>
                  </a:tcPr>
                </a:tc>
                <a:tc>
                  <a:txBody>
                    <a:bodyPr/>
                    <a:lstStyle/>
                    <a:p>
                      <a:pPr algn="ctr">
                        <a:defRPr sz="950">
                          <a:solidFill>
                            <a:srgbClr val="323232"/>
                          </a:solidFill>
                          <a:latin typeface="Arial"/>
                        </a:defRPr>
                      </a:pPr>
                      <a:r>
                        <a:t>Needs Imputation</a:t>
                      </a:r>
                    </a:p>
                  </a:txBody>
                  <a:tcPr>
                    <a:solidFill>
                      <a:srgbClr val="FFFFFF"/>
                    </a:solidFill>
                  </a:tcPr>
                </a:tc>
              </a:tr>
              <a:tr h="1028700">
                <a:tc>
                  <a:txBody>
                    <a:bodyPr/>
                    <a:lstStyle/>
                    <a:p>
                      <a:pPr algn="ctr">
                        <a:defRPr sz="950">
                          <a:solidFill>
                            <a:srgbClr val="323232"/>
                          </a:solidFill>
                          <a:latin typeface="Arial"/>
                        </a:defRPr>
                      </a:pPr>
                      <a:r>
                        <a:t>Other Columns</a:t>
                      </a:r>
                    </a:p>
                  </a:txBody>
                  <a:tcPr>
                    <a:solidFill>
                      <a:srgbClr val="F5F5F5"/>
                    </a:solidFill>
                  </a:tcPr>
                </a:tc>
                <a:tc>
                  <a:txBody>
                    <a:bodyPr/>
                    <a:lstStyle/>
                    <a:p>
                      <a:pPr algn="ctr">
                        <a:defRPr sz="950">
                          <a:solidFill>
                            <a:srgbClr val="323232"/>
                          </a:solidFill>
                          <a:latin typeface="Arial"/>
                        </a:defRPr>
                      </a:pPr>
                      <a:r>
                        <a:t>0</a:t>
                      </a:r>
                    </a:p>
                  </a:txBody>
                  <a:tcPr>
                    <a:solidFill>
                      <a:srgbClr val="F5F5F5"/>
                    </a:solidFill>
                  </a:tcPr>
                </a:tc>
                <a:tc>
                  <a:txBody>
                    <a:bodyPr/>
                    <a:lstStyle/>
                    <a:p>
                      <a:pPr algn="ctr">
                        <a:defRPr sz="950">
                          <a:solidFill>
                            <a:srgbClr val="323232"/>
                          </a:solidFill>
                          <a:latin typeface="Arial"/>
                        </a:defRPr>
                      </a:pPr>
                      <a:r>
                        <a:t>0.00%</a:t>
                      </a:r>
                    </a:p>
                  </a:txBody>
                  <a:tcPr>
                    <a:solidFill>
                      <a:srgbClr val="F5F5F5"/>
                    </a:solidFill>
                  </a:tcPr>
                </a:tc>
                <a:tc>
                  <a:txBody>
                    <a:bodyPr/>
                    <a:lstStyle/>
                    <a:p>
                      <a:pPr algn="ctr">
                        <a:defRPr sz="950">
                          <a:solidFill>
                            <a:srgbClr val="323232"/>
                          </a:solidFill>
                          <a:latin typeface="Arial"/>
                        </a:defRPr>
                      </a:pPr>
                      <a:r>
                        <a:t>Complete</a:t>
                      </a:r>
                    </a:p>
                  </a:txBody>
                  <a:tcPr>
                    <a:solidFill>
                      <a:srgbClr val="F5F5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Median Imputation Rationale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Robust Median Imputation Rationale</a:t>
            </a:r>
          </a:p>
          <a:p>
            <a:pPr lvl="1">
              <a:spcAft>
                <a:spcPts val="800"/>
              </a:spcAft>
              <a:defRPr sz="1300" b="0">
                <a:solidFill>
                  <a:srgbClr val="1E1E1E"/>
                </a:solidFill>
                <a:latin typeface="Arial"/>
              </a:defRPr>
            </a:pPr>
            <a:r>
              <a:t>• Right-Skewed Distributions: Income and interest rates are heavily skewed. The mean is inflated by high-earning outliers and would overestimate typical values.</a:t>
            </a:r>
          </a:p>
          <a:p>
            <a:pPr lvl="1">
              <a:spcAft>
                <a:spcPts val="800"/>
              </a:spcAft>
              <a:defRPr sz="1300" b="0">
                <a:solidFill>
                  <a:srgbClr val="1E1E1E"/>
                </a:solidFill>
                <a:latin typeface="Arial"/>
              </a:defRPr>
            </a:pPr>
            <a:r>
              <a:t>• Median is rank-based (resistant estimator):</a:t>
            </a:r>
          </a:p>
          <a:p>
            <a:pPr lvl="2">
              <a:spcAft>
                <a:spcPts val="800"/>
              </a:spcAft>
              <a:defRPr sz="1400" b="1">
                <a:solidFill>
                  <a:srgbClr val="1E1E1E"/>
                </a:solidFill>
                <a:latin typeface="Arial"/>
              </a:defRPr>
            </a:pPr>
            <a:r>
              <a:t>   x̃ = x_((n+1)/2) for odd n</a:t>
            </a:r>
          </a:p>
          <a:p>
            <a:pPr lvl="1">
              <a:spcAft>
                <a:spcPts val="800"/>
              </a:spcAft>
              <a:defRPr sz="1300" b="0">
                <a:solidFill>
                  <a:srgbClr val="1E1E1E"/>
                </a:solidFill>
                <a:latin typeface="Arial"/>
              </a:defRPr>
            </a:pPr>
            <a:r>
              <a:t>• Insensitive to extreme values — a vital property in financial distributions (Little &amp; Rubin, 2019).</a:t>
            </a:r>
          </a:p>
          <a:p>
            <a:pPr>
              <a:spcAft>
                <a:spcPts val="800"/>
              </a:spcAft>
              <a:defRPr sz="1600" b="1">
                <a:solidFill>
                  <a:srgbClr val="0070B9"/>
                </a:solidFill>
                <a:latin typeface="Arial"/>
              </a:defRPr>
            </a:pPr>
            <a:r>
              <a:t>Imputed Values Results</a:t>
            </a:r>
          </a:p>
          <a:p>
            <a:pPr lvl="1">
              <a:spcAft>
                <a:spcPts val="800"/>
              </a:spcAft>
              <a:defRPr sz="1300" b="0">
                <a:solidFill>
                  <a:srgbClr val="1E1E1E"/>
                </a:solidFill>
                <a:latin typeface="Arial"/>
              </a:defRPr>
            </a:pPr>
            <a:r>
              <a:t>• `person_emp_length` Imputed Median = 4.0 years</a:t>
            </a:r>
          </a:p>
          <a:p>
            <a:pPr lvl="1">
              <a:spcAft>
                <a:spcPts val="800"/>
              </a:spcAft>
              <a:defRPr sz="1300" b="0">
                <a:solidFill>
                  <a:srgbClr val="1E1E1E"/>
                </a:solidFill>
                <a:latin typeface="Arial"/>
              </a:defRPr>
            </a:pPr>
            <a:r>
              <a:t>• `loan_int_rate` Imputed Median = 10.99%</a:t>
            </a:r>
          </a:p>
          <a:p>
            <a:pPr lvl="1">
              <a:spcAft>
                <a:spcPts val="800"/>
              </a:spcAft>
              <a:defRPr sz="1300" b="0">
                <a:solidFill>
                  <a:srgbClr val="1E1E1E"/>
                </a:solidFill>
                <a:latin typeface="Arial"/>
              </a:defRPr>
            </a:pPr>
            <a:r>
              <a:t>• Outcome: 100% missing values resolved prior to split.</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Raw Mean</a:t>
                      </a:r>
                    </a:p>
                  </a:txBody>
                  <a:tcPr>
                    <a:solidFill>
                      <a:srgbClr val="0070B9"/>
                    </a:solidFill>
                  </a:tcPr>
                </a:tc>
                <a:tc>
                  <a:txBody>
                    <a:bodyPr/>
                    <a:lstStyle/>
                    <a:p>
                      <a:pPr algn="ctr">
                        <a:defRPr sz="1100" b="1">
                          <a:solidFill>
                            <a:srgbClr val="FFFFFF"/>
                          </a:solidFill>
                          <a:latin typeface="Arial"/>
                        </a:defRPr>
                      </a:pPr>
                      <a:r>
                        <a:t>Raw Median</a:t>
                      </a:r>
                    </a:p>
                  </a:txBody>
                  <a:tcPr>
                    <a:solidFill>
                      <a:srgbClr val="0070B9"/>
                    </a:solidFill>
                  </a:tcPr>
                </a:tc>
                <a:tc>
                  <a:txBody>
                    <a:bodyPr/>
                    <a:lstStyle/>
                    <a:p>
                      <a:pPr algn="ctr">
                        <a:defRPr sz="1100" b="1">
                          <a:solidFill>
                            <a:srgbClr val="FFFFFF"/>
                          </a:solidFill>
                          <a:latin typeface="Arial"/>
                        </a:defRPr>
                      </a:pPr>
                      <a:r>
                        <a:t>Imputed Value</a:t>
                      </a:r>
                    </a:p>
                  </a:txBody>
                  <a:tcPr>
                    <a:solidFill>
                      <a:srgbClr val="0070B9"/>
                    </a:solidFill>
                  </a:tcPr>
                </a:tc>
              </a:tr>
              <a:tr h="1371600">
                <a:tc>
                  <a:txBody>
                    <a:bodyPr/>
                    <a:lstStyle/>
                    <a:p>
                      <a:pPr algn="ctr">
                        <a:defRPr sz="950">
                          <a:solidFill>
                            <a:srgbClr val="323232"/>
                          </a:solidFill>
                          <a:latin typeface="Arial"/>
                        </a:defRPr>
                      </a:pPr>
                      <a:r>
                        <a:t>person_emp_length</a:t>
                      </a:r>
                    </a:p>
                  </a:txBody>
                  <a:tcPr>
                    <a:solidFill>
                      <a:srgbClr val="F5F5F5"/>
                    </a:solidFill>
                  </a:tcPr>
                </a:tc>
                <a:tc>
                  <a:txBody>
                    <a:bodyPr/>
                    <a:lstStyle/>
                    <a:p>
                      <a:pPr algn="ctr">
                        <a:defRPr sz="950">
                          <a:solidFill>
                            <a:srgbClr val="323232"/>
                          </a:solidFill>
                          <a:latin typeface="Arial"/>
                        </a:defRPr>
                      </a:pPr>
                      <a:r>
                        <a:t>4.79 years</a:t>
                      </a:r>
                    </a:p>
                  </a:txBody>
                  <a:tcPr>
                    <a:solidFill>
                      <a:srgbClr val="F5F5F5"/>
                    </a:solidFill>
                  </a:tcPr>
                </a:tc>
                <a:tc>
                  <a:txBody>
                    <a:bodyPr/>
                    <a:lstStyle/>
                    <a:p>
                      <a:pPr algn="ctr">
                        <a:defRPr sz="950">
                          <a:solidFill>
                            <a:srgbClr val="323232"/>
                          </a:solidFill>
                          <a:latin typeface="Arial"/>
                        </a:defRPr>
                      </a:pPr>
                      <a:r>
                        <a:t>4.00 years</a:t>
                      </a:r>
                    </a:p>
                  </a:txBody>
                  <a:tcPr>
                    <a:solidFill>
                      <a:srgbClr val="F5F5F5"/>
                    </a:solidFill>
                  </a:tcPr>
                </a:tc>
                <a:tc>
                  <a:txBody>
                    <a:bodyPr/>
                    <a:lstStyle/>
                    <a:p>
                      <a:pPr algn="ctr">
                        <a:defRPr sz="950">
                          <a:solidFill>
                            <a:srgbClr val="323232"/>
                          </a:solidFill>
                          <a:latin typeface="Arial"/>
                        </a:defRPr>
                      </a:pPr>
                      <a:r>
                        <a:t>4.00 years</a:t>
                      </a:r>
                    </a:p>
                  </a:txBody>
                  <a:tcPr>
                    <a:solidFill>
                      <a:srgbClr val="F5F5F5"/>
                    </a:solidFill>
                  </a:tcPr>
                </a:tc>
              </a:tr>
              <a:tr h="1371600">
                <a:tc>
                  <a:txBody>
                    <a:bodyPr/>
                    <a:lstStyle/>
                    <a:p>
                      <a:pPr algn="ctr">
                        <a:defRPr sz="950">
                          <a:solidFill>
                            <a:srgbClr val="323232"/>
                          </a:solidFill>
                          <a:latin typeface="Arial"/>
                        </a:defRPr>
                      </a:pPr>
                      <a:r>
                        <a:t>loan_int_rate</a:t>
                      </a:r>
                    </a:p>
                  </a:txBody>
                  <a:tcPr>
                    <a:solidFill>
                      <a:srgbClr val="FFFFFF"/>
                    </a:solidFill>
                  </a:tcPr>
                </a:tc>
                <a:tc>
                  <a:txBody>
                    <a:bodyPr/>
                    <a:lstStyle/>
                    <a:p>
                      <a:pPr algn="ctr">
                        <a:defRPr sz="950">
                          <a:solidFill>
                            <a:srgbClr val="323232"/>
                          </a:solidFill>
                          <a:latin typeface="Arial"/>
                        </a:defRPr>
                      </a:pPr>
                      <a:r>
                        <a:t>11.01%</a:t>
                      </a:r>
                    </a:p>
                  </a:txBody>
                  <a:tcPr>
                    <a:solidFill>
                      <a:srgbClr val="FFFFFF"/>
                    </a:solidFill>
                  </a:tcPr>
                </a:tc>
                <a:tc>
                  <a:txBody>
                    <a:bodyPr/>
                    <a:lstStyle/>
                    <a:p>
                      <a:pPr algn="ctr">
                        <a:defRPr sz="950">
                          <a:solidFill>
                            <a:srgbClr val="323232"/>
                          </a:solidFill>
                          <a:latin typeface="Arial"/>
                        </a:defRPr>
                      </a:pPr>
                      <a:r>
                        <a:t>10.99%</a:t>
                      </a:r>
                    </a:p>
                  </a:txBody>
                  <a:tcPr>
                    <a:solidFill>
                      <a:srgbClr val="FFFFFF"/>
                    </a:solidFill>
                  </a:tcPr>
                </a:tc>
                <a:tc>
                  <a:txBody>
                    <a:bodyPr/>
                    <a:lstStyle/>
                    <a:p>
                      <a:pPr algn="ctr">
                        <a:defRPr sz="950">
                          <a:solidFill>
                            <a:srgbClr val="323232"/>
                          </a:solidFill>
                          <a:latin typeface="Arial"/>
                        </a:defRPr>
                      </a:pPr>
                      <a:r>
                        <a:t>10.99%</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Median Imputation Rationale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Robust Median Imputation Rationale</a:t>
            </a:r>
          </a:p>
          <a:p>
            <a:pPr lvl="1">
              <a:spcAft>
                <a:spcPts val="800"/>
              </a:spcAft>
              <a:defRPr sz="1300" b="0">
                <a:solidFill>
                  <a:srgbClr val="1E1E1E"/>
                </a:solidFill>
                <a:latin typeface="Arial"/>
              </a:defRPr>
            </a:pPr>
            <a:r>
              <a:t>• Right-Skewed Distributions: Income and interest rates are heavily skewed. The mean is inflated by high-earning outliers and would overestimate typical values.</a:t>
            </a:r>
          </a:p>
          <a:p>
            <a:pPr lvl="1">
              <a:spcAft>
                <a:spcPts val="800"/>
              </a:spcAft>
              <a:defRPr sz="1300" b="0">
                <a:solidFill>
                  <a:srgbClr val="1E1E1E"/>
                </a:solidFill>
                <a:latin typeface="Arial"/>
              </a:defRPr>
            </a:pPr>
            <a:r>
              <a:t>• Median is rank-based (resistant estimator):</a:t>
            </a:r>
          </a:p>
          <a:p>
            <a:pPr lvl="2">
              <a:spcAft>
                <a:spcPts val="800"/>
              </a:spcAft>
              <a:defRPr sz="1400" b="1">
                <a:solidFill>
                  <a:srgbClr val="1E1E1E"/>
                </a:solidFill>
                <a:latin typeface="Arial"/>
              </a:defRPr>
            </a:pPr>
            <a:r>
              <a:t>   x̃ = x_((n+1)/2) for odd n</a:t>
            </a:r>
          </a:p>
          <a:p>
            <a:pPr lvl="1">
              <a:spcAft>
                <a:spcPts val="800"/>
              </a:spcAft>
              <a:defRPr sz="1300" b="0">
                <a:solidFill>
                  <a:srgbClr val="1E1E1E"/>
                </a:solidFill>
                <a:latin typeface="Arial"/>
              </a:defRPr>
            </a:pPr>
            <a:r>
              <a:t>• Insensitive to extreme values — a vital property in financial distributions (Little &amp; Rubin, 2019).</a:t>
            </a:r>
          </a:p>
          <a:p>
            <a:pPr>
              <a:spcAft>
                <a:spcPts val="800"/>
              </a:spcAft>
              <a:defRPr sz="1600" b="1">
                <a:solidFill>
                  <a:srgbClr val="0070B9"/>
                </a:solidFill>
                <a:latin typeface="Arial"/>
              </a:defRPr>
            </a:pPr>
            <a:r>
              <a:t>Imputed Values Results</a:t>
            </a:r>
          </a:p>
          <a:p>
            <a:pPr lvl="1">
              <a:spcAft>
                <a:spcPts val="800"/>
              </a:spcAft>
              <a:defRPr sz="1300" b="0">
                <a:solidFill>
                  <a:srgbClr val="1E1E1E"/>
                </a:solidFill>
                <a:latin typeface="Arial"/>
              </a:defRPr>
            </a:pPr>
            <a:r>
              <a:t>• `person_emp_length` Imputed Median = 4.0 years</a:t>
            </a:r>
          </a:p>
          <a:p>
            <a:pPr lvl="1">
              <a:spcAft>
                <a:spcPts val="800"/>
              </a:spcAft>
              <a:defRPr sz="1300" b="0">
                <a:solidFill>
                  <a:srgbClr val="1E1E1E"/>
                </a:solidFill>
                <a:latin typeface="Arial"/>
              </a:defRPr>
            </a:pPr>
            <a:r>
              <a:t>• `loan_int_rate` Imputed Median = 10.99%</a:t>
            </a:r>
          </a:p>
          <a:p>
            <a:pPr lvl="1">
              <a:spcAft>
                <a:spcPts val="800"/>
              </a:spcAft>
              <a:defRPr sz="1300" b="0">
                <a:solidFill>
                  <a:srgbClr val="1E1E1E"/>
                </a:solidFill>
                <a:latin typeface="Arial"/>
              </a:defRPr>
            </a:pPr>
            <a:r>
              <a:t>• Outcome: 100% missing values resolved prior to split.</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Raw Mean</a:t>
                      </a:r>
                    </a:p>
                  </a:txBody>
                  <a:tcPr>
                    <a:solidFill>
                      <a:srgbClr val="0070B9"/>
                    </a:solidFill>
                  </a:tcPr>
                </a:tc>
                <a:tc>
                  <a:txBody>
                    <a:bodyPr/>
                    <a:lstStyle/>
                    <a:p>
                      <a:pPr algn="ctr">
                        <a:defRPr sz="1100" b="1">
                          <a:solidFill>
                            <a:srgbClr val="FFFFFF"/>
                          </a:solidFill>
                          <a:latin typeface="Arial"/>
                        </a:defRPr>
                      </a:pPr>
                      <a:r>
                        <a:t>Raw Median</a:t>
                      </a:r>
                    </a:p>
                  </a:txBody>
                  <a:tcPr>
                    <a:solidFill>
                      <a:srgbClr val="0070B9"/>
                    </a:solidFill>
                  </a:tcPr>
                </a:tc>
                <a:tc>
                  <a:txBody>
                    <a:bodyPr/>
                    <a:lstStyle/>
                    <a:p>
                      <a:pPr algn="ctr">
                        <a:defRPr sz="1100" b="1">
                          <a:solidFill>
                            <a:srgbClr val="FFFFFF"/>
                          </a:solidFill>
                          <a:latin typeface="Arial"/>
                        </a:defRPr>
                      </a:pPr>
                      <a:r>
                        <a:t>Imputed Value</a:t>
                      </a:r>
                    </a:p>
                  </a:txBody>
                  <a:tcPr>
                    <a:solidFill>
                      <a:srgbClr val="0070B9"/>
                    </a:solidFill>
                  </a:tcPr>
                </a:tc>
              </a:tr>
              <a:tr h="1371600">
                <a:tc>
                  <a:txBody>
                    <a:bodyPr/>
                    <a:lstStyle/>
                    <a:p>
                      <a:pPr algn="ctr">
                        <a:defRPr sz="950">
                          <a:solidFill>
                            <a:srgbClr val="323232"/>
                          </a:solidFill>
                          <a:latin typeface="Arial"/>
                        </a:defRPr>
                      </a:pPr>
                      <a:r>
                        <a:t>person_emp_length</a:t>
                      </a:r>
                    </a:p>
                  </a:txBody>
                  <a:tcPr>
                    <a:solidFill>
                      <a:srgbClr val="F5F5F5"/>
                    </a:solidFill>
                  </a:tcPr>
                </a:tc>
                <a:tc>
                  <a:txBody>
                    <a:bodyPr/>
                    <a:lstStyle/>
                    <a:p>
                      <a:pPr algn="ctr">
                        <a:defRPr sz="950">
                          <a:solidFill>
                            <a:srgbClr val="323232"/>
                          </a:solidFill>
                          <a:latin typeface="Arial"/>
                        </a:defRPr>
                      </a:pPr>
                      <a:r>
                        <a:t>4.79 years</a:t>
                      </a:r>
                    </a:p>
                  </a:txBody>
                  <a:tcPr>
                    <a:solidFill>
                      <a:srgbClr val="F5F5F5"/>
                    </a:solidFill>
                  </a:tcPr>
                </a:tc>
                <a:tc>
                  <a:txBody>
                    <a:bodyPr/>
                    <a:lstStyle/>
                    <a:p>
                      <a:pPr algn="ctr">
                        <a:defRPr sz="950">
                          <a:solidFill>
                            <a:srgbClr val="323232"/>
                          </a:solidFill>
                          <a:latin typeface="Arial"/>
                        </a:defRPr>
                      </a:pPr>
                      <a:r>
                        <a:t>4.00 years</a:t>
                      </a:r>
                    </a:p>
                  </a:txBody>
                  <a:tcPr>
                    <a:solidFill>
                      <a:srgbClr val="F5F5F5"/>
                    </a:solidFill>
                  </a:tcPr>
                </a:tc>
                <a:tc>
                  <a:txBody>
                    <a:bodyPr/>
                    <a:lstStyle/>
                    <a:p>
                      <a:pPr algn="ctr">
                        <a:defRPr sz="950">
                          <a:solidFill>
                            <a:srgbClr val="323232"/>
                          </a:solidFill>
                          <a:latin typeface="Arial"/>
                        </a:defRPr>
                      </a:pPr>
                      <a:r>
                        <a:t>4.00 years</a:t>
                      </a:r>
                    </a:p>
                  </a:txBody>
                  <a:tcPr>
                    <a:solidFill>
                      <a:srgbClr val="F5F5F5"/>
                    </a:solidFill>
                  </a:tcPr>
                </a:tc>
              </a:tr>
              <a:tr h="1371600">
                <a:tc>
                  <a:txBody>
                    <a:bodyPr/>
                    <a:lstStyle/>
                    <a:p>
                      <a:pPr algn="ctr">
                        <a:defRPr sz="950">
                          <a:solidFill>
                            <a:srgbClr val="323232"/>
                          </a:solidFill>
                          <a:latin typeface="Arial"/>
                        </a:defRPr>
                      </a:pPr>
                      <a:r>
                        <a:t>loan_int_rate</a:t>
                      </a:r>
                    </a:p>
                  </a:txBody>
                  <a:tcPr>
                    <a:solidFill>
                      <a:srgbClr val="FFFFFF"/>
                    </a:solidFill>
                  </a:tcPr>
                </a:tc>
                <a:tc>
                  <a:txBody>
                    <a:bodyPr/>
                    <a:lstStyle/>
                    <a:p>
                      <a:pPr algn="ctr">
                        <a:defRPr sz="950">
                          <a:solidFill>
                            <a:srgbClr val="323232"/>
                          </a:solidFill>
                          <a:latin typeface="Arial"/>
                        </a:defRPr>
                      </a:pPr>
                      <a:r>
                        <a:t>11.01%</a:t>
                      </a:r>
                    </a:p>
                  </a:txBody>
                  <a:tcPr>
                    <a:solidFill>
                      <a:srgbClr val="FFFFFF"/>
                    </a:solidFill>
                  </a:tcPr>
                </a:tc>
                <a:tc>
                  <a:txBody>
                    <a:bodyPr/>
                    <a:lstStyle/>
                    <a:p>
                      <a:pPr algn="ctr">
                        <a:defRPr sz="950">
                          <a:solidFill>
                            <a:srgbClr val="323232"/>
                          </a:solidFill>
                          <a:latin typeface="Arial"/>
                        </a:defRPr>
                      </a:pPr>
                      <a:r>
                        <a:t>10.99%</a:t>
                      </a:r>
                    </a:p>
                  </a:txBody>
                  <a:tcPr>
                    <a:solidFill>
                      <a:srgbClr val="FFFFFF"/>
                    </a:solidFill>
                  </a:tcPr>
                </a:tc>
                <a:tc>
                  <a:txBody>
                    <a:bodyPr/>
                    <a:lstStyle/>
                    <a:p>
                      <a:pPr algn="ctr">
                        <a:defRPr sz="950">
                          <a:solidFill>
                            <a:srgbClr val="323232"/>
                          </a:solidFill>
                          <a:latin typeface="Arial"/>
                        </a:defRPr>
                      </a:pPr>
                      <a:r>
                        <a:t>10.99%</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Outlier Detection (Tukey)</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Tukey IQR Outlier Boundary Detection</a:t>
            </a:r>
          </a:p>
          <a:p>
            <a:pPr>
              <a:spcAft>
                <a:spcPts val="800"/>
              </a:spcAft>
              <a:defRPr sz="1300" b="0">
                <a:solidFill>
                  <a:srgbClr val="1E1E1E"/>
                </a:solidFill>
                <a:latin typeface="Arial"/>
              </a:defRPr>
            </a:pPr>
            <a:r>
              <a:t>We apply Tukey's non-parametric fences (Tukey, 1977) to identify extreme outliers without normal distribution assumptions:</a:t>
            </a:r>
          </a:p>
          <a:p>
            <a:pPr lvl="1">
              <a:spcAft>
                <a:spcPts val="800"/>
              </a:spcAft>
              <a:defRPr sz="1300" b="0">
                <a:solidFill>
                  <a:srgbClr val="1E1E1E"/>
                </a:solidFill>
                <a:latin typeface="Arial"/>
              </a:defRPr>
            </a:pPr>
            <a:r>
              <a:t>  Lower Bound = Q1 - 1.5 * IQR</a:t>
            </a:r>
          </a:p>
          <a:p>
            <a:pPr lvl="1">
              <a:spcAft>
                <a:spcPts val="800"/>
              </a:spcAft>
              <a:defRPr sz="1300" b="0">
                <a:solidFill>
                  <a:srgbClr val="1E1E1E"/>
                </a:solidFill>
                <a:latin typeface="Arial"/>
              </a:defRPr>
            </a:pPr>
            <a:r>
              <a:t>  Upper Bound = Q3 + 1.5 * IQR</a:t>
            </a:r>
          </a:p>
          <a:p>
            <a:pPr lvl="1">
              <a:spcAft>
                <a:spcPts val="800"/>
              </a:spcAft>
              <a:defRPr sz="1300" b="0">
                <a:solidFill>
                  <a:srgbClr val="1E1E1E"/>
                </a:solidFill>
                <a:latin typeface="Arial"/>
              </a:defRPr>
            </a:pPr>
            <a:r>
              <a:t>  Where IQR = Q3 - Q1</a:t>
            </a:r>
          </a:p>
          <a:p>
            <a:pPr>
              <a:spcAft>
                <a:spcPts val="800"/>
              </a:spcAft>
              <a:defRPr sz="1600" b="1">
                <a:solidFill>
                  <a:srgbClr val="0070B9"/>
                </a:solidFill>
                <a:latin typeface="Arial"/>
              </a:defRPr>
            </a:pPr>
            <a:r>
              <a:t>Computed Bounds &amp; Counts</a:t>
            </a:r>
          </a:p>
          <a:p>
            <a:pPr lvl="1">
              <a:spcAft>
                <a:spcPts val="800"/>
              </a:spcAft>
              <a:defRPr sz="1300" b="0">
                <a:solidFill>
                  <a:srgbClr val="1E1E1E"/>
                </a:solidFill>
                <a:latin typeface="Arial"/>
              </a:defRPr>
            </a:pPr>
            <a:r>
              <a:t>• `person_age`: Q1=23, Q3=30, IQR=7. Bounds: 12.50 to 40.50 years. Total outliers: 1,494.</a:t>
            </a:r>
          </a:p>
          <a:p>
            <a:pPr lvl="1">
              <a:spcAft>
                <a:spcPts val="800"/>
              </a:spcAft>
              <a:defRPr sz="1300" b="0">
                <a:solidFill>
                  <a:srgbClr val="1E1E1E"/>
                </a:solidFill>
                <a:latin typeface="Arial"/>
              </a:defRPr>
            </a:pPr>
            <a:r>
              <a:t>• `person_income`: Q1=$38,500, Q3=$79,200, IQR=$40,700. Bounds: -$22,550 to $140,250. Total outliers: 1,484.</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005840"/>
                <a:gridCol w="640080"/>
                <a:gridCol w="640080"/>
                <a:gridCol w="640080"/>
                <a:gridCol w="731520"/>
                <a:gridCol w="731520"/>
                <a:gridCol w="82296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Q1</a:t>
                      </a:r>
                    </a:p>
                  </a:txBody>
                  <a:tcPr>
                    <a:solidFill>
                      <a:srgbClr val="0070B9"/>
                    </a:solidFill>
                  </a:tcPr>
                </a:tc>
                <a:tc>
                  <a:txBody>
                    <a:bodyPr/>
                    <a:lstStyle/>
                    <a:p>
                      <a:pPr algn="ctr">
                        <a:defRPr sz="1100" b="1">
                          <a:solidFill>
                            <a:srgbClr val="FFFFFF"/>
                          </a:solidFill>
                          <a:latin typeface="Arial"/>
                        </a:defRPr>
                      </a:pPr>
                      <a:r>
                        <a:t>Q3</a:t>
                      </a:r>
                    </a:p>
                  </a:txBody>
                  <a:tcPr>
                    <a:solidFill>
                      <a:srgbClr val="0070B9"/>
                    </a:solidFill>
                  </a:tcPr>
                </a:tc>
                <a:tc>
                  <a:txBody>
                    <a:bodyPr/>
                    <a:lstStyle/>
                    <a:p>
                      <a:pPr algn="ctr">
                        <a:defRPr sz="1100" b="1">
                          <a:solidFill>
                            <a:srgbClr val="FFFFFF"/>
                          </a:solidFill>
                          <a:latin typeface="Arial"/>
                        </a:defRPr>
                      </a:pPr>
                      <a:r>
                        <a:t>IQR</a:t>
                      </a:r>
                    </a:p>
                  </a:txBody>
                  <a:tcPr>
                    <a:solidFill>
                      <a:srgbClr val="0070B9"/>
                    </a:solidFill>
                  </a:tcPr>
                </a:tc>
                <a:tc>
                  <a:txBody>
                    <a:bodyPr/>
                    <a:lstStyle/>
                    <a:p>
                      <a:pPr algn="ctr">
                        <a:defRPr sz="1100" b="1">
                          <a:solidFill>
                            <a:srgbClr val="FFFFFF"/>
                          </a:solidFill>
                          <a:latin typeface="Arial"/>
                        </a:defRPr>
                      </a:pPr>
                      <a:r>
                        <a:t>Lower B.</a:t>
                      </a:r>
                    </a:p>
                  </a:txBody>
                  <a:tcPr>
                    <a:solidFill>
                      <a:srgbClr val="0070B9"/>
                    </a:solidFill>
                  </a:tcPr>
                </a:tc>
                <a:tc>
                  <a:txBody>
                    <a:bodyPr/>
                    <a:lstStyle/>
                    <a:p>
                      <a:pPr algn="ctr">
                        <a:defRPr sz="1100" b="1">
                          <a:solidFill>
                            <a:srgbClr val="FFFFFF"/>
                          </a:solidFill>
                          <a:latin typeface="Arial"/>
                        </a:defRPr>
                      </a:pPr>
                      <a:r>
                        <a:t>Upper B.</a:t>
                      </a:r>
                    </a:p>
                  </a:txBody>
                  <a:tcPr>
                    <a:solidFill>
                      <a:srgbClr val="0070B9"/>
                    </a:solidFill>
                  </a:tcPr>
                </a:tc>
                <a:tc>
                  <a:txBody>
                    <a:bodyPr/>
                    <a:lstStyle/>
                    <a:p>
                      <a:pPr algn="ctr">
                        <a:defRPr sz="1100" b="1">
                          <a:solidFill>
                            <a:srgbClr val="FFFFFF"/>
                          </a:solidFill>
                          <a:latin typeface="Arial"/>
                        </a:defRPr>
                      </a:pPr>
                      <a:r>
                        <a:t>Outliers</a:t>
                      </a:r>
                    </a:p>
                  </a:txBody>
                  <a:tcPr>
                    <a:solidFill>
                      <a:srgbClr val="0070B9"/>
                    </a:solidFill>
                  </a:tcPr>
                </a:tc>
              </a:tr>
              <a:tr h="1371600">
                <a:tc>
                  <a:txBody>
                    <a:bodyPr/>
                    <a:lstStyle/>
                    <a:p>
                      <a:pPr algn="ctr">
                        <a:defRPr sz="950">
                          <a:solidFill>
                            <a:srgbClr val="323232"/>
                          </a:solidFill>
                          <a:latin typeface="Arial"/>
                        </a:defRPr>
                      </a:pPr>
                      <a:r>
                        <a:t>person_age</a:t>
                      </a:r>
                    </a:p>
                  </a:txBody>
                  <a:tcPr>
                    <a:solidFill>
                      <a:srgbClr val="F5F5F5"/>
                    </a:solidFill>
                  </a:tcPr>
                </a:tc>
                <a:tc>
                  <a:txBody>
                    <a:bodyPr/>
                    <a:lstStyle/>
                    <a:p>
                      <a:pPr algn="ctr">
                        <a:defRPr sz="950">
                          <a:solidFill>
                            <a:srgbClr val="323232"/>
                          </a:solidFill>
                          <a:latin typeface="Arial"/>
                        </a:defRPr>
                      </a:pPr>
                      <a:r>
                        <a:t>23.0</a:t>
                      </a:r>
                    </a:p>
                  </a:txBody>
                  <a:tcPr>
                    <a:solidFill>
                      <a:srgbClr val="F5F5F5"/>
                    </a:solidFill>
                  </a:tcPr>
                </a:tc>
                <a:tc>
                  <a:txBody>
                    <a:bodyPr/>
                    <a:lstStyle/>
                    <a:p>
                      <a:pPr algn="ctr">
                        <a:defRPr sz="950">
                          <a:solidFill>
                            <a:srgbClr val="323232"/>
                          </a:solidFill>
                          <a:latin typeface="Arial"/>
                        </a:defRPr>
                      </a:pPr>
                      <a:r>
                        <a:t>30.0</a:t>
                      </a:r>
                    </a:p>
                  </a:txBody>
                  <a:tcPr>
                    <a:solidFill>
                      <a:srgbClr val="F5F5F5"/>
                    </a:solidFill>
                  </a:tcPr>
                </a:tc>
                <a:tc>
                  <a:txBody>
                    <a:bodyPr/>
                    <a:lstStyle/>
                    <a:p>
                      <a:pPr algn="ctr">
                        <a:defRPr sz="950">
                          <a:solidFill>
                            <a:srgbClr val="323232"/>
                          </a:solidFill>
                          <a:latin typeface="Arial"/>
                        </a:defRPr>
                      </a:pPr>
                      <a:r>
                        <a:t>7.0</a:t>
                      </a:r>
                    </a:p>
                  </a:txBody>
                  <a:tcPr>
                    <a:solidFill>
                      <a:srgbClr val="F5F5F5"/>
                    </a:solidFill>
                  </a:tcPr>
                </a:tc>
                <a:tc>
                  <a:txBody>
                    <a:bodyPr/>
                    <a:lstStyle/>
                    <a:p>
                      <a:pPr algn="ctr">
                        <a:defRPr sz="950">
                          <a:solidFill>
                            <a:srgbClr val="323232"/>
                          </a:solidFill>
                          <a:latin typeface="Arial"/>
                        </a:defRPr>
                      </a:pPr>
                      <a:r>
                        <a:t>12.5</a:t>
                      </a:r>
                    </a:p>
                  </a:txBody>
                  <a:tcPr>
                    <a:solidFill>
                      <a:srgbClr val="F5F5F5"/>
                    </a:solidFill>
                  </a:tcPr>
                </a:tc>
                <a:tc>
                  <a:txBody>
                    <a:bodyPr/>
                    <a:lstStyle/>
                    <a:p>
                      <a:pPr algn="ctr">
                        <a:defRPr sz="950">
                          <a:solidFill>
                            <a:srgbClr val="323232"/>
                          </a:solidFill>
                          <a:latin typeface="Arial"/>
                        </a:defRPr>
                      </a:pPr>
                      <a:r>
                        <a:t>40.5</a:t>
                      </a:r>
                    </a:p>
                  </a:txBody>
                  <a:tcPr>
                    <a:solidFill>
                      <a:srgbClr val="F5F5F5"/>
                    </a:solidFill>
                  </a:tcPr>
                </a:tc>
                <a:tc>
                  <a:txBody>
                    <a:bodyPr/>
                    <a:lstStyle/>
                    <a:p>
                      <a:pPr algn="ctr">
                        <a:defRPr sz="950">
                          <a:solidFill>
                            <a:srgbClr val="323232"/>
                          </a:solidFill>
                          <a:latin typeface="Arial"/>
                        </a:defRPr>
                      </a:pPr>
                      <a:r>
                        <a:t>1,494</a:t>
                      </a:r>
                    </a:p>
                  </a:txBody>
                  <a:tcPr>
                    <a:solidFill>
                      <a:srgbClr val="F5F5F5"/>
                    </a:solidFill>
                  </a:tcPr>
                </a:tc>
              </a:tr>
              <a:tr h="1371600">
                <a:tc>
                  <a:txBody>
                    <a:bodyPr/>
                    <a:lstStyle/>
                    <a:p>
                      <a:pPr algn="ctr">
                        <a:defRPr sz="950">
                          <a:solidFill>
                            <a:srgbClr val="323232"/>
                          </a:solidFill>
                          <a:latin typeface="Arial"/>
                        </a:defRPr>
                      </a:pPr>
                      <a:r>
                        <a:t>person_income</a:t>
                      </a:r>
                    </a:p>
                  </a:txBody>
                  <a:tcPr>
                    <a:solidFill>
                      <a:srgbClr val="FFFFFF"/>
                    </a:solidFill>
                  </a:tcPr>
                </a:tc>
                <a:tc>
                  <a:txBody>
                    <a:bodyPr/>
                    <a:lstStyle/>
                    <a:p>
                      <a:pPr algn="ctr">
                        <a:defRPr sz="950">
                          <a:solidFill>
                            <a:srgbClr val="323232"/>
                          </a:solidFill>
                          <a:latin typeface="Arial"/>
                        </a:defRPr>
                      </a:pPr>
                      <a:r>
                        <a:t>$38.5K</a:t>
                      </a:r>
                    </a:p>
                  </a:txBody>
                  <a:tcPr>
                    <a:solidFill>
                      <a:srgbClr val="FFFFFF"/>
                    </a:solidFill>
                  </a:tcPr>
                </a:tc>
                <a:tc>
                  <a:txBody>
                    <a:bodyPr/>
                    <a:lstStyle/>
                    <a:p>
                      <a:pPr algn="ctr">
                        <a:defRPr sz="950">
                          <a:solidFill>
                            <a:srgbClr val="323232"/>
                          </a:solidFill>
                          <a:latin typeface="Arial"/>
                        </a:defRPr>
                      </a:pPr>
                      <a:r>
                        <a:t>$79.2K</a:t>
                      </a:r>
                    </a:p>
                  </a:txBody>
                  <a:tcPr>
                    <a:solidFill>
                      <a:srgbClr val="FFFFFF"/>
                    </a:solidFill>
                  </a:tcPr>
                </a:tc>
                <a:tc>
                  <a:txBody>
                    <a:bodyPr/>
                    <a:lstStyle/>
                    <a:p>
                      <a:pPr algn="ctr">
                        <a:defRPr sz="950">
                          <a:solidFill>
                            <a:srgbClr val="323232"/>
                          </a:solidFill>
                          <a:latin typeface="Arial"/>
                        </a:defRPr>
                      </a:pPr>
                      <a:r>
                        <a:t>$40.7K</a:t>
                      </a:r>
                    </a:p>
                  </a:txBody>
                  <a:tcPr>
                    <a:solidFill>
                      <a:srgbClr val="FFFFFF"/>
                    </a:solidFill>
                  </a:tcPr>
                </a:tc>
                <a:tc>
                  <a:txBody>
                    <a:bodyPr/>
                    <a:lstStyle/>
                    <a:p>
                      <a:pPr algn="ctr">
                        <a:defRPr sz="950">
                          <a:solidFill>
                            <a:srgbClr val="323232"/>
                          </a:solidFill>
                          <a:latin typeface="Arial"/>
                        </a:defRPr>
                      </a:pPr>
                      <a:r>
                        <a:t>-$22.5K</a:t>
                      </a:r>
                    </a:p>
                  </a:txBody>
                  <a:tcPr>
                    <a:solidFill>
                      <a:srgbClr val="FFFFFF"/>
                    </a:solidFill>
                  </a:tcPr>
                </a:tc>
                <a:tc>
                  <a:txBody>
                    <a:bodyPr/>
                    <a:lstStyle/>
                    <a:p>
                      <a:pPr algn="ctr">
                        <a:defRPr sz="950">
                          <a:solidFill>
                            <a:srgbClr val="323232"/>
                          </a:solidFill>
                          <a:latin typeface="Arial"/>
                        </a:defRPr>
                      </a:pPr>
                      <a:r>
                        <a:t>$140.2K</a:t>
                      </a:r>
                    </a:p>
                  </a:txBody>
                  <a:tcPr>
                    <a:solidFill>
                      <a:srgbClr val="FFFFFF"/>
                    </a:solidFill>
                  </a:tcPr>
                </a:tc>
                <a:tc>
                  <a:txBody>
                    <a:bodyPr/>
                    <a:lstStyle/>
                    <a:p>
                      <a:pPr algn="ctr">
                        <a:defRPr sz="950">
                          <a:solidFill>
                            <a:srgbClr val="323232"/>
                          </a:solidFill>
                          <a:latin typeface="Arial"/>
                        </a:defRPr>
                      </a:pPr>
                      <a:r>
                        <a:t>1,484</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Outlier Detection (Tukey)</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Tukey IQR Outlier Boundary Detection</a:t>
            </a:r>
          </a:p>
          <a:p>
            <a:pPr>
              <a:spcAft>
                <a:spcPts val="800"/>
              </a:spcAft>
              <a:defRPr sz="1300" b="0">
                <a:solidFill>
                  <a:srgbClr val="1E1E1E"/>
                </a:solidFill>
                <a:latin typeface="Arial"/>
              </a:defRPr>
            </a:pPr>
            <a:r>
              <a:t>We apply Tukey's non-parametric fences (Tukey, 1977) to identify extreme outliers without normal distribution assumptions:</a:t>
            </a:r>
          </a:p>
          <a:p>
            <a:pPr lvl="1">
              <a:spcAft>
                <a:spcPts val="800"/>
              </a:spcAft>
              <a:defRPr sz="1300" b="0">
                <a:solidFill>
                  <a:srgbClr val="1E1E1E"/>
                </a:solidFill>
                <a:latin typeface="Arial"/>
              </a:defRPr>
            </a:pPr>
            <a:r>
              <a:t>  Lower Bound = Q1 - 1.5 * IQR</a:t>
            </a:r>
          </a:p>
          <a:p>
            <a:pPr lvl="1">
              <a:spcAft>
                <a:spcPts val="800"/>
              </a:spcAft>
              <a:defRPr sz="1300" b="0">
                <a:solidFill>
                  <a:srgbClr val="1E1E1E"/>
                </a:solidFill>
                <a:latin typeface="Arial"/>
              </a:defRPr>
            </a:pPr>
            <a:r>
              <a:t>  Upper Bound = Q3 + 1.5 * IQR</a:t>
            </a:r>
          </a:p>
          <a:p>
            <a:pPr lvl="1">
              <a:spcAft>
                <a:spcPts val="800"/>
              </a:spcAft>
              <a:defRPr sz="1300" b="0">
                <a:solidFill>
                  <a:srgbClr val="1E1E1E"/>
                </a:solidFill>
                <a:latin typeface="Arial"/>
              </a:defRPr>
            </a:pPr>
            <a:r>
              <a:t>  Where IQR = Q3 - Q1</a:t>
            </a:r>
          </a:p>
          <a:p>
            <a:pPr>
              <a:spcAft>
                <a:spcPts val="800"/>
              </a:spcAft>
              <a:defRPr sz="1600" b="1">
                <a:solidFill>
                  <a:srgbClr val="0070B9"/>
                </a:solidFill>
                <a:latin typeface="Arial"/>
              </a:defRPr>
            </a:pPr>
            <a:r>
              <a:t>Computed Bounds &amp; Counts</a:t>
            </a:r>
          </a:p>
          <a:p>
            <a:pPr lvl="1">
              <a:spcAft>
                <a:spcPts val="800"/>
              </a:spcAft>
              <a:defRPr sz="1300" b="0">
                <a:solidFill>
                  <a:srgbClr val="1E1E1E"/>
                </a:solidFill>
                <a:latin typeface="Arial"/>
              </a:defRPr>
            </a:pPr>
            <a:r>
              <a:t>• `person_age`: Q1=23, Q3=30, IQR=7. Bounds: 12.50 to 40.50 years. Total outliers: 1,494.</a:t>
            </a:r>
          </a:p>
          <a:p>
            <a:pPr lvl="1">
              <a:spcAft>
                <a:spcPts val="800"/>
              </a:spcAft>
              <a:defRPr sz="1300" b="0">
                <a:solidFill>
                  <a:srgbClr val="1E1E1E"/>
                </a:solidFill>
                <a:latin typeface="Arial"/>
              </a:defRPr>
            </a:pPr>
            <a:r>
              <a:t>• `person_income`: Q1=$38,500, Q3=$79,200, IQR=$40,700. Bounds: -$22,550 to $140,250. Total outliers: 1,484.</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005840"/>
                <a:gridCol w="640080"/>
                <a:gridCol w="640080"/>
                <a:gridCol w="640080"/>
                <a:gridCol w="731520"/>
                <a:gridCol w="731520"/>
                <a:gridCol w="82296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Q1</a:t>
                      </a:r>
                    </a:p>
                  </a:txBody>
                  <a:tcPr>
                    <a:solidFill>
                      <a:srgbClr val="0070B9"/>
                    </a:solidFill>
                  </a:tcPr>
                </a:tc>
                <a:tc>
                  <a:txBody>
                    <a:bodyPr/>
                    <a:lstStyle/>
                    <a:p>
                      <a:pPr algn="ctr">
                        <a:defRPr sz="1100" b="1">
                          <a:solidFill>
                            <a:srgbClr val="FFFFFF"/>
                          </a:solidFill>
                          <a:latin typeface="Arial"/>
                        </a:defRPr>
                      </a:pPr>
                      <a:r>
                        <a:t>Q3</a:t>
                      </a:r>
                    </a:p>
                  </a:txBody>
                  <a:tcPr>
                    <a:solidFill>
                      <a:srgbClr val="0070B9"/>
                    </a:solidFill>
                  </a:tcPr>
                </a:tc>
                <a:tc>
                  <a:txBody>
                    <a:bodyPr/>
                    <a:lstStyle/>
                    <a:p>
                      <a:pPr algn="ctr">
                        <a:defRPr sz="1100" b="1">
                          <a:solidFill>
                            <a:srgbClr val="FFFFFF"/>
                          </a:solidFill>
                          <a:latin typeface="Arial"/>
                        </a:defRPr>
                      </a:pPr>
                      <a:r>
                        <a:t>IQR</a:t>
                      </a:r>
                    </a:p>
                  </a:txBody>
                  <a:tcPr>
                    <a:solidFill>
                      <a:srgbClr val="0070B9"/>
                    </a:solidFill>
                  </a:tcPr>
                </a:tc>
                <a:tc>
                  <a:txBody>
                    <a:bodyPr/>
                    <a:lstStyle/>
                    <a:p>
                      <a:pPr algn="ctr">
                        <a:defRPr sz="1100" b="1">
                          <a:solidFill>
                            <a:srgbClr val="FFFFFF"/>
                          </a:solidFill>
                          <a:latin typeface="Arial"/>
                        </a:defRPr>
                      </a:pPr>
                      <a:r>
                        <a:t>Lower B.</a:t>
                      </a:r>
                    </a:p>
                  </a:txBody>
                  <a:tcPr>
                    <a:solidFill>
                      <a:srgbClr val="0070B9"/>
                    </a:solidFill>
                  </a:tcPr>
                </a:tc>
                <a:tc>
                  <a:txBody>
                    <a:bodyPr/>
                    <a:lstStyle/>
                    <a:p>
                      <a:pPr algn="ctr">
                        <a:defRPr sz="1100" b="1">
                          <a:solidFill>
                            <a:srgbClr val="FFFFFF"/>
                          </a:solidFill>
                          <a:latin typeface="Arial"/>
                        </a:defRPr>
                      </a:pPr>
                      <a:r>
                        <a:t>Upper B.</a:t>
                      </a:r>
                    </a:p>
                  </a:txBody>
                  <a:tcPr>
                    <a:solidFill>
                      <a:srgbClr val="0070B9"/>
                    </a:solidFill>
                  </a:tcPr>
                </a:tc>
                <a:tc>
                  <a:txBody>
                    <a:bodyPr/>
                    <a:lstStyle/>
                    <a:p>
                      <a:pPr algn="ctr">
                        <a:defRPr sz="1100" b="1">
                          <a:solidFill>
                            <a:srgbClr val="FFFFFF"/>
                          </a:solidFill>
                          <a:latin typeface="Arial"/>
                        </a:defRPr>
                      </a:pPr>
                      <a:r>
                        <a:t>Outliers</a:t>
                      </a:r>
                    </a:p>
                  </a:txBody>
                  <a:tcPr>
                    <a:solidFill>
                      <a:srgbClr val="0070B9"/>
                    </a:solidFill>
                  </a:tcPr>
                </a:tc>
              </a:tr>
              <a:tr h="1371600">
                <a:tc>
                  <a:txBody>
                    <a:bodyPr/>
                    <a:lstStyle/>
                    <a:p>
                      <a:pPr algn="ctr">
                        <a:defRPr sz="950">
                          <a:solidFill>
                            <a:srgbClr val="323232"/>
                          </a:solidFill>
                          <a:latin typeface="Arial"/>
                        </a:defRPr>
                      </a:pPr>
                      <a:r>
                        <a:t>person_age</a:t>
                      </a:r>
                    </a:p>
                  </a:txBody>
                  <a:tcPr>
                    <a:solidFill>
                      <a:srgbClr val="F5F5F5"/>
                    </a:solidFill>
                  </a:tcPr>
                </a:tc>
                <a:tc>
                  <a:txBody>
                    <a:bodyPr/>
                    <a:lstStyle/>
                    <a:p>
                      <a:pPr algn="ctr">
                        <a:defRPr sz="950">
                          <a:solidFill>
                            <a:srgbClr val="323232"/>
                          </a:solidFill>
                          <a:latin typeface="Arial"/>
                        </a:defRPr>
                      </a:pPr>
                      <a:r>
                        <a:t>23.0</a:t>
                      </a:r>
                    </a:p>
                  </a:txBody>
                  <a:tcPr>
                    <a:solidFill>
                      <a:srgbClr val="F5F5F5"/>
                    </a:solidFill>
                  </a:tcPr>
                </a:tc>
                <a:tc>
                  <a:txBody>
                    <a:bodyPr/>
                    <a:lstStyle/>
                    <a:p>
                      <a:pPr algn="ctr">
                        <a:defRPr sz="950">
                          <a:solidFill>
                            <a:srgbClr val="323232"/>
                          </a:solidFill>
                          <a:latin typeface="Arial"/>
                        </a:defRPr>
                      </a:pPr>
                      <a:r>
                        <a:t>30.0</a:t>
                      </a:r>
                    </a:p>
                  </a:txBody>
                  <a:tcPr>
                    <a:solidFill>
                      <a:srgbClr val="F5F5F5"/>
                    </a:solidFill>
                  </a:tcPr>
                </a:tc>
                <a:tc>
                  <a:txBody>
                    <a:bodyPr/>
                    <a:lstStyle/>
                    <a:p>
                      <a:pPr algn="ctr">
                        <a:defRPr sz="950">
                          <a:solidFill>
                            <a:srgbClr val="323232"/>
                          </a:solidFill>
                          <a:latin typeface="Arial"/>
                        </a:defRPr>
                      </a:pPr>
                      <a:r>
                        <a:t>7.0</a:t>
                      </a:r>
                    </a:p>
                  </a:txBody>
                  <a:tcPr>
                    <a:solidFill>
                      <a:srgbClr val="F5F5F5"/>
                    </a:solidFill>
                  </a:tcPr>
                </a:tc>
                <a:tc>
                  <a:txBody>
                    <a:bodyPr/>
                    <a:lstStyle/>
                    <a:p>
                      <a:pPr algn="ctr">
                        <a:defRPr sz="950">
                          <a:solidFill>
                            <a:srgbClr val="323232"/>
                          </a:solidFill>
                          <a:latin typeface="Arial"/>
                        </a:defRPr>
                      </a:pPr>
                      <a:r>
                        <a:t>12.5</a:t>
                      </a:r>
                    </a:p>
                  </a:txBody>
                  <a:tcPr>
                    <a:solidFill>
                      <a:srgbClr val="F5F5F5"/>
                    </a:solidFill>
                  </a:tcPr>
                </a:tc>
                <a:tc>
                  <a:txBody>
                    <a:bodyPr/>
                    <a:lstStyle/>
                    <a:p>
                      <a:pPr algn="ctr">
                        <a:defRPr sz="950">
                          <a:solidFill>
                            <a:srgbClr val="323232"/>
                          </a:solidFill>
                          <a:latin typeface="Arial"/>
                        </a:defRPr>
                      </a:pPr>
                      <a:r>
                        <a:t>40.5</a:t>
                      </a:r>
                    </a:p>
                  </a:txBody>
                  <a:tcPr>
                    <a:solidFill>
                      <a:srgbClr val="F5F5F5"/>
                    </a:solidFill>
                  </a:tcPr>
                </a:tc>
                <a:tc>
                  <a:txBody>
                    <a:bodyPr/>
                    <a:lstStyle/>
                    <a:p>
                      <a:pPr algn="ctr">
                        <a:defRPr sz="950">
                          <a:solidFill>
                            <a:srgbClr val="323232"/>
                          </a:solidFill>
                          <a:latin typeface="Arial"/>
                        </a:defRPr>
                      </a:pPr>
                      <a:r>
                        <a:t>1,494</a:t>
                      </a:r>
                    </a:p>
                  </a:txBody>
                  <a:tcPr>
                    <a:solidFill>
                      <a:srgbClr val="F5F5F5"/>
                    </a:solidFill>
                  </a:tcPr>
                </a:tc>
              </a:tr>
              <a:tr h="1371600">
                <a:tc>
                  <a:txBody>
                    <a:bodyPr/>
                    <a:lstStyle/>
                    <a:p>
                      <a:pPr algn="ctr">
                        <a:defRPr sz="950">
                          <a:solidFill>
                            <a:srgbClr val="323232"/>
                          </a:solidFill>
                          <a:latin typeface="Arial"/>
                        </a:defRPr>
                      </a:pPr>
                      <a:r>
                        <a:t>person_income</a:t>
                      </a:r>
                    </a:p>
                  </a:txBody>
                  <a:tcPr>
                    <a:solidFill>
                      <a:srgbClr val="FFFFFF"/>
                    </a:solidFill>
                  </a:tcPr>
                </a:tc>
                <a:tc>
                  <a:txBody>
                    <a:bodyPr/>
                    <a:lstStyle/>
                    <a:p>
                      <a:pPr algn="ctr">
                        <a:defRPr sz="950">
                          <a:solidFill>
                            <a:srgbClr val="323232"/>
                          </a:solidFill>
                          <a:latin typeface="Arial"/>
                        </a:defRPr>
                      </a:pPr>
                      <a:r>
                        <a:t>$38.5K</a:t>
                      </a:r>
                    </a:p>
                  </a:txBody>
                  <a:tcPr>
                    <a:solidFill>
                      <a:srgbClr val="FFFFFF"/>
                    </a:solidFill>
                  </a:tcPr>
                </a:tc>
                <a:tc>
                  <a:txBody>
                    <a:bodyPr/>
                    <a:lstStyle/>
                    <a:p>
                      <a:pPr algn="ctr">
                        <a:defRPr sz="950">
                          <a:solidFill>
                            <a:srgbClr val="323232"/>
                          </a:solidFill>
                          <a:latin typeface="Arial"/>
                        </a:defRPr>
                      </a:pPr>
                      <a:r>
                        <a:t>$79.2K</a:t>
                      </a:r>
                    </a:p>
                  </a:txBody>
                  <a:tcPr>
                    <a:solidFill>
                      <a:srgbClr val="FFFFFF"/>
                    </a:solidFill>
                  </a:tcPr>
                </a:tc>
                <a:tc>
                  <a:txBody>
                    <a:bodyPr/>
                    <a:lstStyle/>
                    <a:p>
                      <a:pPr algn="ctr">
                        <a:defRPr sz="950">
                          <a:solidFill>
                            <a:srgbClr val="323232"/>
                          </a:solidFill>
                          <a:latin typeface="Arial"/>
                        </a:defRPr>
                      </a:pPr>
                      <a:r>
                        <a:t>$40.7K</a:t>
                      </a:r>
                    </a:p>
                  </a:txBody>
                  <a:tcPr>
                    <a:solidFill>
                      <a:srgbClr val="FFFFFF"/>
                    </a:solidFill>
                  </a:tcPr>
                </a:tc>
                <a:tc>
                  <a:txBody>
                    <a:bodyPr/>
                    <a:lstStyle/>
                    <a:p>
                      <a:pPr algn="ctr">
                        <a:defRPr sz="950">
                          <a:solidFill>
                            <a:srgbClr val="323232"/>
                          </a:solidFill>
                          <a:latin typeface="Arial"/>
                        </a:defRPr>
                      </a:pPr>
                      <a:r>
                        <a:t>-$22.5K</a:t>
                      </a:r>
                    </a:p>
                  </a:txBody>
                  <a:tcPr>
                    <a:solidFill>
                      <a:srgbClr val="FFFFFF"/>
                    </a:solidFill>
                  </a:tcPr>
                </a:tc>
                <a:tc>
                  <a:txBody>
                    <a:bodyPr/>
                    <a:lstStyle/>
                    <a:p>
                      <a:pPr algn="ctr">
                        <a:defRPr sz="950">
                          <a:solidFill>
                            <a:srgbClr val="323232"/>
                          </a:solidFill>
                          <a:latin typeface="Arial"/>
                        </a:defRPr>
                      </a:pPr>
                      <a:r>
                        <a:t>$140.2K</a:t>
                      </a:r>
                    </a:p>
                  </a:txBody>
                  <a:tcPr>
                    <a:solidFill>
                      <a:srgbClr val="FFFFFF"/>
                    </a:solidFill>
                  </a:tcPr>
                </a:tc>
                <a:tc>
                  <a:txBody>
                    <a:bodyPr/>
                    <a:lstStyle/>
                    <a:p>
                      <a:pPr algn="ctr">
                        <a:defRPr sz="950">
                          <a:solidFill>
                            <a:srgbClr val="323232"/>
                          </a:solidFill>
                          <a:latin typeface="Arial"/>
                        </a:defRPr>
                      </a:pPr>
                      <a:r>
                        <a:t>1,484</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Data Integrity &amp; Cleaning</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Comprehensive Cleaning Pipeline</a:t>
            </a:r>
          </a:p>
          <a:p>
            <a:pPr>
              <a:spcAft>
                <a:spcPts val="800"/>
              </a:spcAft>
              <a:defRPr sz="1500" b="1">
                <a:solidFill>
                  <a:srgbClr val="1E1E1E"/>
                </a:solidFill>
                <a:latin typeface="Arial"/>
              </a:defRPr>
            </a:pPr>
            <a:r>
              <a:t>• Outlier Filtering:</a:t>
            </a:r>
          </a:p>
          <a:p>
            <a:pPr lvl="1">
              <a:spcAft>
                <a:spcPts val="800"/>
              </a:spcAft>
              <a:defRPr sz="1300" b="0">
                <a:solidFill>
                  <a:srgbClr val="1E1E1E"/>
                </a:solidFill>
                <a:latin typeface="Arial"/>
              </a:defRPr>
            </a:pPr>
            <a:r>
              <a:t>Removed extreme age and income values using Tukey's fences.</a:t>
            </a:r>
          </a:p>
          <a:p>
            <a:pPr>
              <a:spcAft>
                <a:spcPts val="800"/>
              </a:spcAft>
              <a:defRPr sz="1500" b="1">
                <a:solidFill>
                  <a:srgbClr val="1E1E1E"/>
                </a:solidFill>
                <a:latin typeface="Arial"/>
              </a:defRPr>
            </a:pPr>
            <a:r>
              <a:t>• Duplicate Row Removal:</a:t>
            </a:r>
          </a:p>
          <a:p>
            <a:pPr lvl="1">
              <a:spcAft>
                <a:spcPts val="800"/>
              </a:spcAft>
              <a:defRPr sz="1300" b="0">
                <a:solidFill>
                  <a:srgbClr val="1E1E1E"/>
                </a:solidFill>
                <a:latin typeface="Arial"/>
              </a:defRPr>
            </a:pPr>
            <a:r>
              <a:t>Identified and removed 156 exact duplicate rows, preventing statistical inflation during training.</a:t>
            </a:r>
          </a:p>
          <a:p>
            <a:pPr>
              <a:spcAft>
                <a:spcPts val="800"/>
              </a:spcAft>
              <a:defRPr sz="1500" b="1">
                <a:solidFill>
                  <a:srgbClr val="1E1E1E"/>
                </a:solidFill>
                <a:latin typeface="Arial"/>
              </a:defRPr>
            </a:pPr>
            <a:r>
              <a:t>• Logical Consistency Checks:</a:t>
            </a:r>
          </a:p>
          <a:p>
            <a:pPr lvl="1">
              <a:spcAft>
                <a:spcPts val="800"/>
              </a:spcAft>
              <a:defRPr sz="1300" b="0">
                <a:solidFill>
                  <a:srgbClr val="1E1E1E"/>
                </a:solidFill>
                <a:latin typeface="Arial"/>
              </a:defRPr>
            </a:pPr>
            <a:r>
              <a:t>Removed 1 record where employment length exceeded age (e.g. `person_emp_length` &gt; `person_age`), which is logically impossible.</a:t>
            </a:r>
          </a:p>
          <a:p>
            <a:pPr>
              <a:spcAft>
                <a:spcPts val="800"/>
              </a:spcAft>
              <a:defRPr sz="1500" b="1">
                <a:solidFill>
                  <a:srgbClr val="1E1E1E"/>
                </a:solidFill>
                <a:latin typeface="Arial"/>
              </a:defRPr>
            </a:pPr>
            <a:r>
              <a:t>• Enforced Domain Constraints:</a:t>
            </a:r>
          </a:p>
          <a:p>
            <a:pPr lvl="1">
              <a:spcAft>
                <a:spcPts val="800"/>
              </a:spcAft>
              <a:defRPr sz="1300" b="0">
                <a:solidFill>
                  <a:srgbClr val="1E1E1E"/>
                </a:solidFill>
                <a:latin typeface="Arial"/>
              </a:defRPr>
            </a:pPr>
            <a:r>
              <a:t>Enforced `person_age` &lt;= 100 years to correct data entry errors (e.g., maximum raw age was 144).</a:t>
            </a:r>
          </a:p>
          <a:p>
            <a:pPr>
              <a:spcAft>
                <a:spcPts val="800"/>
              </a:spcAft>
              <a:defRPr sz="1600" b="1">
                <a:solidFill>
                  <a:srgbClr val="0070B9"/>
                </a:solidFill>
                <a:latin typeface="Arial"/>
              </a:defRPr>
            </a:pPr>
            <a:r>
              <a:t>Summary of Cleanup Impact</a:t>
            </a:r>
          </a:p>
          <a:p>
            <a:pPr lvl="1">
              <a:spcAft>
                <a:spcPts val="800"/>
              </a:spcAft>
              <a:defRPr sz="1300" b="0">
                <a:solidFill>
                  <a:srgbClr val="1E1E1E"/>
                </a:solidFill>
                <a:latin typeface="Arial"/>
              </a:defRPr>
            </a:pPr>
            <a:r>
              <a:t>• Raw Dataset Count: 32,581 observations</a:t>
            </a:r>
          </a:p>
          <a:p>
            <a:pPr lvl="1">
              <a:spcAft>
                <a:spcPts val="800"/>
              </a:spcAft>
              <a:defRPr sz="1300" b="0">
                <a:solidFill>
                  <a:srgbClr val="1E1E1E"/>
                </a:solidFill>
                <a:latin typeface="Arial"/>
              </a:defRPr>
            </a:pPr>
            <a:r>
              <a:t>• Cleaned Dataset Count: 29,567 observations</a:t>
            </a:r>
          </a:p>
          <a:p>
            <a:pPr lvl="1">
              <a:spcAft>
                <a:spcPts val="800"/>
              </a:spcAft>
              <a:defRPr sz="1300" b="0">
                <a:solidFill>
                  <a:srgbClr val="1E1E1E"/>
                </a:solidFill>
                <a:latin typeface="Arial"/>
              </a:defRPr>
            </a:pPr>
            <a:r>
              <a:t>• Total Data Loss: 3,014 records (9.25% reduction). Exported to `credit_risk_cleaned.csv`.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Data Integrity &amp; Cleaning</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Comprehensive Cleaning Pipeline</a:t>
            </a:r>
          </a:p>
          <a:p>
            <a:pPr>
              <a:spcAft>
                <a:spcPts val="800"/>
              </a:spcAft>
              <a:defRPr sz="1500" b="1">
                <a:solidFill>
                  <a:srgbClr val="1E1E1E"/>
                </a:solidFill>
                <a:latin typeface="Arial"/>
              </a:defRPr>
            </a:pPr>
            <a:r>
              <a:t>• Outlier Filtering:</a:t>
            </a:r>
          </a:p>
          <a:p>
            <a:pPr lvl="1">
              <a:spcAft>
                <a:spcPts val="800"/>
              </a:spcAft>
              <a:defRPr sz="1300" b="0">
                <a:solidFill>
                  <a:srgbClr val="1E1E1E"/>
                </a:solidFill>
                <a:latin typeface="Arial"/>
              </a:defRPr>
            </a:pPr>
            <a:r>
              <a:t>Removed extreme age and income values using Tukey's fences.</a:t>
            </a:r>
          </a:p>
          <a:p>
            <a:pPr>
              <a:spcAft>
                <a:spcPts val="800"/>
              </a:spcAft>
              <a:defRPr sz="1500" b="1">
                <a:solidFill>
                  <a:srgbClr val="1E1E1E"/>
                </a:solidFill>
                <a:latin typeface="Arial"/>
              </a:defRPr>
            </a:pPr>
            <a:r>
              <a:t>• Duplicate Row Removal:</a:t>
            </a:r>
          </a:p>
          <a:p>
            <a:pPr lvl="1">
              <a:spcAft>
                <a:spcPts val="800"/>
              </a:spcAft>
              <a:defRPr sz="1300" b="0">
                <a:solidFill>
                  <a:srgbClr val="1E1E1E"/>
                </a:solidFill>
                <a:latin typeface="Arial"/>
              </a:defRPr>
            </a:pPr>
            <a:r>
              <a:t>Identified and removed 156 exact duplicate rows, preventing statistical inflation during training.</a:t>
            </a:r>
          </a:p>
          <a:p>
            <a:pPr>
              <a:spcAft>
                <a:spcPts val="800"/>
              </a:spcAft>
              <a:defRPr sz="1500" b="1">
                <a:solidFill>
                  <a:srgbClr val="1E1E1E"/>
                </a:solidFill>
                <a:latin typeface="Arial"/>
              </a:defRPr>
            </a:pPr>
            <a:r>
              <a:t>• Logical Consistency Checks:</a:t>
            </a:r>
          </a:p>
          <a:p>
            <a:pPr lvl="1">
              <a:spcAft>
                <a:spcPts val="800"/>
              </a:spcAft>
              <a:defRPr sz="1300" b="0">
                <a:solidFill>
                  <a:srgbClr val="1E1E1E"/>
                </a:solidFill>
                <a:latin typeface="Arial"/>
              </a:defRPr>
            </a:pPr>
            <a:r>
              <a:t>Removed 1 record where employment length exceeded age (e.g. `person_emp_length` &gt; `person_age`), which is logically impossible.</a:t>
            </a:r>
          </a:p>
          <a:p>
            <a:pPr>
              <a:spcAft>
                <a:spcPts val="800"/>
              </a:spcAft>
              <a:defRPr sz="1500" b="1">
                <a:solidFill>
                  <a:srgbClr val="1E1E1E"/>
                </a:solidFill>
                <a:latin typeface="Arial"/>
              </a:defRPr>
            </a:pPr>
            <a:r>
              <a:t>• Enforced Domain Constraints:</a:t>
            </a:r>
          </a:p>
          <a:p>
            <a:pPr lvl="1">
              <a:spcAft>
                <a:spcPts val="800"/>
              </a:spcAft>
              <a:defRPr sz="1300" b="0">
                <a:solidFill>
                  <a:srgbClr val="1E1E1E"/>
                </a:solidFill>
                <a:latin typeface="Arial"/>
              </a:defRPr>
            </a:pPr>
            <a:r>
              <a:t>Enforced `person_age` &lt;= 100 years to correct data entry errors (e.g., maximum raw age was 144).</a:t>
            </a:r>
          </a:p>
          <a:p>
            <a:pPr>
              <a:spcAft>
                <a:spcPts val="800"/>
              </a:spcAft>
              <a:defRPr sz="1600" b="1">
                <a:solidFill>
                  <a:srgbClr val="0070B9"/>
                </a:solidFill>
                <a:latin typeface="Arial"/>
              </a:defRPr>
            </a:pPr>
            <a:r>
              <a:t>Summary of Cleanup Impact</a:t>
            </a:r>
          </a:p>
          <a:p>
            <a:pPr lvl="1">
              <a:spcAft>
                <a:spcPts val="800"/>
              </a:spcAft>
              <a:defRPr sz="1300" b="0">
                <a:solidFill>
                  <a:srgbClr val="1E1E1E"/>
                </a:solidFill>
                <a:latin typeface="Arial"/>
              </a:defRPr>
            </a:pPr>
            <a:r>
              <a:t>• Raw Dataset Count: 32,581 observations</a:t>
            </a:r>
          </a:p>
          <a:p>
            <a:pPr lvl="1">
              <a:spcAft>
                <a:spcPts val="800"/>
              </a:spcAft>
              <a:defRPr sz="1300" b="0">
                <a:solidFill>
                  <a:srgbClr val="1E1E1E"/>
                </a:solidFill>
                <a:latin typeface="Arial"/>
              </a:defRPr>
            </a:pPr>
            <a:r>
              <a:t>• Cleaned Dataset Count: 29,567 observations</a:t>
            </a:r>
          </a:p>
          <a:p>
            <a:pPr lvl="1">
              <a:spcAft>
                <a:spcPts val="800"/>
              </a:spcAft>
              <a:defRPr sz="1300" b="0">
                <a:solidFill>
                  <a:srgbClr val="1E1E1E"/>
                </a:solidFill>
                <a:latin typeface="Arial"/>
              </a:defRPr>
            </a:pPr>
            <a:r>
              <a:t>• Total Data Loss: 3,014 records (9.25% reduction). Exported to `credit_risk_cleaned.csv`.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Skewness &amp; Log-Transformation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Income Right-Skewness</a:t>
            </a:r>
          </a:p>
          <a:p>
            <a:pPr>
              <a:spcAft>
                <a:spcPts val="800"/>
              </a:spcAft>
              <a:defRPr sz="1300" b="0">
                <a:solidFill>
                  <a:srgbClr val="1E1E1E"/>
                </a:solidFill>
                <a:latin typeface="Arial"/>
              </a:defRPr>
            </a:pPr>
            <a:r>
              <a:t>• Personal annual income in the cleaned dataset is heavily right-skewed (skewness = 0.7419).</a:t>
            </a:r>
          </a:p>
          <a:p>
            <a:pPr lvl="1">
              <a:spcAft>
                <a:spcPts val="800"/>
              </a:spcAft>
              <a:defRPr sz="1300" b="0">
                <a:solidFill>
                  <a:srgbClr val="1E1E1E"/>
                </a:solidFill>
                <a:latin typeface="Arial"/>
              </a:defRPr>
            </a:pPr>
            <a:r>
              <a:t>• Extreme right tails distort Ordinary Least Squares (OLS) regression parameter estimates and violate the residual homoscedasticity assumption.</a:t>
            </a:r>
          </a:p>
          <a:p>
            <a:pPr>
              <a:spcAft>
                <a:spcPts val="800"/>
              </a:spcAft>
              <a:defRPr sz="1600" b="1">
                <a:solidFill>
                  <a:srgbClr val="0070B9"/>
                </a:solidFill>
                <a:latin typeface="Arial"/>
              </a:defRPr>
            </a:pPr>
            <a:r>
              <a:t>Logarithmic Transformation</a:t>
            </a:r>
          </a:p>
          <a:p>
            <a:pPr>
              <a:spcAft>
                <a:spcPts val="800"/>
              </a:spcAft>
              <a:defRPr sz="1300" b="0">
                <a:solidFill>
                  <a:srgbClr val="1E1E1E"/>
                </a:solidFill>
                <a:latin typeface="Arial"/>
              </a:defRPr>
            </a:pPr>
            <a:r>
              <a:t>• We apply a standard offset log-transform:</a:t>
            </a:r>
          </a:p>
          <a:p>
            <a:pPr lvl="1">
              <a:spcAft>
                <a:spcPts val="800"/>
              </a:spcAft>
              <a:defRPr sz="1400" b="1">
                <a:solidFill>
                  <a:srgbClr val="1E1E1E"/>
                </a:solidFill>
                <a:latin typeface="Arial"/>
              </a:defRPr>
            </a:pPr>
            <a:r>
              <a:t>   log_person_income = log(person_income + 1)</a:t>
            </a:r>
          </a:p>
          <a:p>
            <a:pPr lvl="1">
              <a:spcAft>
                <a:spcPts val="800"/>
              </a:spcAft>
              <a:defRPr sz="1300" b="0">
                <a:solidFill>
                  <a:srgbClr val="1E1E1E"/>
                </a:solidFill>
                <a:latin typeface="Arial"/>
              </a:defRPr>
            </a:pPr>
            <a:r>
              <a:t>• Rationale: Adding +1 handles potential zero-income observations (though none are present in this dataset).</a:t>
            </a:r>
          </a:p>
          <a:p>
            <a:pPr lvl="1">
              <a:spcAft>
                <a:spcPts val="800"/>
              </a:spcAft>
              <a:defRPr sz="1300" b="0">
                <a:solidFill>
                  <a:srgbClr val="1E1E1E"/>
                </a:solidFill>
                <a:latin typeface="Arial"/>
              </a:defRPr>
            </a:pPr>
            <a:r>
              <a:t>• Transformation Effect: Skewness drops from 0.7419 to -0.4378, effectively compressing the tail and stabilizing variance.</a:t>
            </a:r>
          </a:p>
        </p:txBody>
      </p:sp>
      <p:pic>
        <p:nvPicPr>
          <p:cNvPr id="4" name="Picture 3" descr="eda_income_transform.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11: Annual income distribution before and after log-transformation, compressing the tail.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Prep: Skewness &amp; Log-Transformation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Income Right-Skewness</a:t>
            </a:r>
          </a:p>
          <a:p>
            <a:pPr>
              <a:spcAft>
                <a:spcPts val="800"/>
              </a:spcAft>
              <a:defRPr sz="1300" b="0">
                <a:solidFill>
                  <a:srgbClr val="1E1E1E"/>
                </a:solidFill>
                <a:latin typeface="Arial"/>
              </a:defRPr>
            </a:pPr>
            <a:r>
              <a:t>• Personal annual income in the cleaned dataset is heavily right-skewed (skewness = 0.7419).</a:t>
            </a:r>
          </a:p>
          <a:p>
            <a:pPr lvl="1">
              <a:spcAft>
                <a:spcPts val="800"/>
              </a:spcAft>
              <a:defRPr sz="1300" b="0">
                <a:solidFill>
                  <a:srgbClr val="1E1E1E"/>
                </a:solidFill>
                <a:latin typeface="Arial"/>
              </a:defRPr>
            </a:pPr>
            <a:r>
              <a:t>• Extreme right tails distort Ordinary Least Squares (OLS) regression parameter estimates and violate the residual homoscedasticity assumption.</a:t>
            </a:r>
          </a:p>
          <a:p>
            <a:pPr>
              <a:spcAft>
                <a:spcPts val="800"/>
              </a:spcAft>
              <a:defRPr sz="1600" b="1">
                <a:solidFill>
                  <a:srgbClr val="0070B9"/>
                </a:solidFill>
                <a:latin typeface="Arial"/>
              </a:defRPr>
            </a:pPr>
            <a:r>
              <a:t>Logarithmic Transformation</a:t>
            </a:r>
          </a:p>
          <a:p>
            <a:pPr>
              <a:spcAft>
                <a:spcPts val="800"/>
              </a:spcAft>
              <a:defRPr sz="1300" b="0">
                <a:solidFill>
                  <a:srgbClr val="1E1E1E"/>
                </a:solidFill>
                <a:latin typeface="Arial"/>
              </a:defRPr>
            </a:pPr>
            <a:r>
              <a:t>• We apply a standard offset log-transform:</a:t>
            </a:r>
          </a:p>
          <a:p>
            <a:pPr lvl="1">
              <a:spcAft>
                <a:spcPts val="800"/>
              </a:spcAft>
              <a:defRPr sz="1400" b="1">
                <a:solidFill>
                  <a:srgbClr val="1E1E1E"/>
                </a:solidFill>
                <a:latin typeface="Arial"/>
              </a:defRPr>
            </a:pPr>
            <a:r>
              <a:t>   log_person_income = log(person_income + 1)</a:t>
            </a:r>
          </a:p>
          <a:p>
            <a:pPr lvl="1">
              <a:spcAft>
                <a:spcPts val="800"/>
              </a:spcAft>
              <a:defRPr sz="1300" b="0">
                <a:solidFill>
                  <a:srgbClr val="1E1E1E"/>
                </a:solidFill>
                <a:latin typeface="Arial"/>
              </a:defRPr>
            </a:pPr>
            <a:r>
              <a:t>• Rationale: Adding +1 handles potential zero-income observations (though none are present in this dataset).</a:t>
            </a:r>
          </a:p>
          <a:p>
            <a:pPr lvl="1">
              <a:spcAft>
                <a:spcPts val="800"/>
              </a:spcAft>
              <a:defRPr sz="1300" b="0">
                <a:solidFill>
                  <a:srgbClr val="1E1E1E"/>
                </a:solidFill>
                <a:latin typeface="Arial"/>
              </a:defRPr>
            </a:pPr>
            <a:r>
              <a:t>• Transformation Effect: Skewness drops from 0.7419 to -0.4378, effectively compressing the tail and stabilizing variance.</a:t>
            </a:r>
          </a:p>
        </p:txBody>
      </p:sp>
      <p:pic>
        <p:nvPicPr>
          <p:cNvPr id="4" name="Picture 3" descr="eda_income_transform.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11: Annual income distribution before and after log-transformation, compressing the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Shapiro-Wilk</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Shapiro-Wilk Gaussianity Test</a:t>
            </a:r>
          </a:p>
          <a:p>
            <a:pPr>
              <a:spcAft>
                <a:spcPts val="800"/>
              </a:spcAft>
              <a:defRPr sz="1300" b="0">
                <a:solidFill>
                  <a:srgbClr val="1E1E1E"/>
                </a:solidFill>
                <a:latin typeface="Arial"/>
              </a:defRPr>
            </a:pPr>
            <a:r>
              <a:t>We formally test whether continuous features are normally distributed. Hypotheses are defined as:</a:t>
            </a:r>
          </a:p>
          <a:p>
            <a:pPr lvl="1">
              <a:spcAft>
                <a:spcPts val="800"/>
              </a:spcAft>
              <a:defRPr sz="1300" b="0">
                <a:solidFill>
                  <a:srgbClr val="1E1E1E"/>
                </a:solidFill>
                <a:latin typeface="Arial"/>
              </a:defRPr>
            </a:pPr>
            <a:r>
              <a:t>  H0: The sample is drawn from a normal distribution.</a:t>
            </a:r>
          </a:p>
          <a:p>
            <a:pPr lvl="1">
              <a:spcAft>
                <a:spcPts val="800"/>
              </a:spcAft>
              <a:defRPr sz="1300" b="0">
                <a:solidFill>
                  <a:srgbClr val="1E1E1E"/>
                </a:solidFill>
                <a:latin typeface="Arial"/>
              </a:defRPr>
            </a:pPr>
            <a:r>
              <a:t>  H1: The sample is not normally distributed.</a:t>
            </a:r>
          </a:p>
          <a:p>
            <a:pPr>
              <a:spcAft>
                <a:spcPts val="800"/>
              </a:spcAft>
              <a:defRPr sz="1600" b="1">
                <a:solidFill>
                  <a:srgbClr val="0070B9"/>
                </a:solidFill>
                <a:latin typeface="Arial"/>
              </a:defRPr>
            </a:pPr>
            <a:r>
              <a:t>Test Execution</a:t>
            </a:r>
          </a:p>
          <a:p>
            <a:pPr lvl="1">
              <a:spcAft>
                <a:spcPts val="800"/>
              </a:spcAft>
              <a:defRPr sz="1300" b="0">
                <a:solidFill>
                  <a:srgbClr val="1E1E1E"/>
                </a:solidFill>
                <a:latin typeface="Arial"/>
              </a:defRPr>
            </a:pPr>
            <a:r>
              <a:t>• Shapiro-Wilk W-statistic measures correlation between observed values and normal order statistics.</a:t>
            </a:r>
          </a:p>
          <a:p>
            <a:pPr lvl="1">
              <a:spcAft>
                <a:spcPts val="800"/>
              </a:spcAft>
              <a:defRPr sz="1300" b="0">
                <a:solidFill>
                  <a:srgbClr val="1E1E1E"/>
                </a:solidFill>
                <a:latin typeface="Arial"/>
              </a:defRPr>
            </a:pPr>
            <a:r>
              <a:t>• Executed on a random sample of 5,000 observations (test constraint).</a:t>
            </a:r>
          </a:p>
          <a:p>
            <a:pPr lvl="1">
              <a:spcAft>
                <a:spcPts val="800"/>
              </a:spcAft>
              <a:defRPr sz="1300" b="0">
                <a:solidFill>
                  <a:srgbClr val="1E1E1E"/>
                </a:solidFill>
                <a:latin typeface="Arial"/>
              </a:defRPr>
            </a:pPr>
            <a:r>
              <a:t>• Results for person_income:</a:t>
            </a:r>
          </a:p>
          <a:p>
            <a:pPr lvl="2">
              <a:spcAft>
                <a:spcPts val="800"/>
              </a:spcAft>
              <a:defRPr sz="1200" b="0">
                <a:solidFill>
                  <a:srgbClr val="1E1E1E"/>
                </a:solidFill>
                <a:latin typeface="Arial"/>
              </a:defRPr>
            </a:pPr>
            <a:r>
              <a:t>   - Raw Income: W = 0.9103, p-value &lt; 2.2e-16</a:t>
            </a:r>
          </a:p>
          <a:p>
            <a:pPr lvl="2">
              <a:spcAft>
                <a:spcPts val="800"/>
              </a:spcAft>
              <a:defRPr sz="1200" b="0">
                <a:solidFill>
                  <a:srgbClr val="1E1E1E"/>
                </a:solidFill>
                <a:latin typeface="Arial"/>
              </a:defRPr>
            </a:pPr>
            <a:r>
              <a:t>   - Log Income: W = 0.9854, p-value = 3.42e-12</a:t>
            </a:r>
          </a:p>
          <a:p>
            <a:pPr lvl="1">
              <a:spcAft>
                <a:spcPts val="800"/>
              </a:spcAft>
              <a:defRPr sz="1300" b="0">
                <a:solidFill>
                  <a:srgbClr val="1E1E1E"/>
                </a:solidFill>
                <a:latin typeface="Arial"/>
              </a:defRPr>
            </a:pPr>
            <a:r>
              <a:t>• Decision: Reject H0 at alpha = 0.05. Even after log-transformation, data remains non-normal, requiring non-parametric validations.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W Statistic</a:t>
                      </a:r>
                    </a:p>
                  </a:txBody>
                  <a:tcPr>
                    <a:solidFill>
                      <a:srgbClr val="0070B9"/>
                    </a:solidFill>
                  </a:tcPr>
                </a:tc>
                <a:tc>
                  <a:txBody>
                    <a:bodyPr/>
                    <a:lstStyle/>
                    <a:p>
                      <a:pPr algn="ctr">
                        <a:defRPr sz="1100" b="1">
                          <a:solidFill>
                            <a:srgbClr val="FFFFFF"/>
                          </a:solidFill>
                          <a:latin typeface="Arial"/>
                        </a:defRPr>
                      </a:pPr>
                      <a:r>
                        <a:t>p-value</a:t>
                      </a:r>
                    </a:p>
                  </a:txBody>
                  <a:tcPr>
                    <a:solidFill>
                      <a:srgbClr val="0070B9"/>
                    </a:solidFill>
                  </a:tcPr>
                </a:tc>
                <a:tc>
                  <a:txBody>
                    <a:bodyPr/>
                    <a:lstStyle/>
                    <a:p>
                      <a:pPr algn="ctr">
                        <a:defRPr sz="1100" b="1">
                          <a:solidFill>
                            <a:srgbClr val="FFFFFF"/>
                          </a:solidFill>
                          <a:latin typeface="Arial"/>
                        </a:defRPr>
                      </a:pPr>
                      <a:r>
                        <a:t>Conclusion</a:t>
                      </a:r>
                    </a:p>
                  </a:txBody>
                  <a:tcPr>
                    <a:solidFill>
                      <a:srgbClr val="0070B9"/>
                    </a:solidFill>
                  </a:tcPr>
                </a:tc>
              </a:tr>
              <a:tr h="1371600">
                <a:tc>
                  <a:txBody>
                    <a:bodyPr/>
                    <a:lstStyle/>
                    <a:p>
                      <a:pPr algn="ctr">
                        <a:defRPr sz="950">
                          <a:solidFill>
                            <a:srgbClr val="323232"/>
                          </a:solidFill>
                          <a:latin typeface="Arial"/>
                        </a:defRPr>
                      </a:pPr>
                      <a:r>
                        <a:t>person_income (Raw)</a:t>
                      </a:r>
                    </a:p>
                  </a:txBody>
                  <a:tcPr>
                    <a:solidFill>
                      <a:srgbClr val="F5F5F5"/>
                    </a:solidFill>
                  </a:tcPr>
                </a:tc>
                <a:tc>
                  <a:txBody>
                    <a:bodyPr/>
                    <a:lstStyle/>
                    <a:p>
                      <a:pPr algn="ctr">
                        <a:defRPr sz="950">
                          <a:solidFill>
                            <a:srgbClr val="323232"/>
                          </a:solidFill>
                          <a:latin typeface="Arial"/>
                        </a:defRPr>
                      </a:pPr>
                      <a:r>
                        <a:t>0.9103</a:t>
                      </a:r>
                    </a:p>
                  </a:txBody>
                  <a:tcPr>
                    <a:solidFill>
                      <a:srgbClr val="F5F5F5"/>
                    </a:solidFill>
                  </a:tcPr>
                </a:tc>
                <a:tc>
                  <a:txBody>
                    <a:bodyPr/>
                    <a:lstStyle/>
                    <a:p>
                      <a:pPr algn="ctr">
                        <a:defRPr sz="950">
                          <a:solidFill>
                            <a:srgbClr val="323232"/>
                          </a:solidFill>
                          <a:latin typeface="Arial"/>
                        </a:defRPr>
                      </a:pPr>
                      <a:r>
                        <a:t>&lt; 2.2e-16</a:t>
                      </a:r>
                    </a:p>
                  </a:txBody>
                  <a:tcPr>
                    <a:solidFill>
                      <a:srgbClr val="F5F5F5"/>
                    </a:solidFill>
                  </a:tcPr>
                </a:tc>
                <a:tc>
                  <a:txBody>
                    <a:bodyPr/>
                    <a:lstStyle/>
                    <a:p>
                      <a:pPr algn="ctr">
                        <a:defRPr sz="950">
                          <a:solidFill>
                            <a:srgbClr val="323232"/>
                          </a:solidFill>
                          <a:latin typeface="Arial"/>
                        </a:defRPr>
                      </a:pPr>
                      <a:r>
                        <a:t>Reject Normality</a:t>
                      </a:r>
                    </a:p>
                  </a:txBody>
                  <a:tcPr>
                    <a:solidFill>
                      <a:srgbClr val="F5F5F5"/>
                    </a:solidFill>
                  </a:tcPr>
                </a:tc>
              </a:tr>
              <a:tr h="1371600">
                <a:tc>
                  <a:txBody>
                    <a:bodyPr/>
                    <a:lstStyle/>
                    <a:p>
                      <a:pPr algn="ctr">
                        <a:defRPr sz="950">
                          <a:solidFill>
                            <a:srgbClr val="323232"/>
                          </a:solidFill>
                          <a:latin typeface="Arial"/>
                        </a:defRPr>
                      </a:pPr>
                      <a:r>
                        <a:t>log_person_income</a:t>
                      </a:r>
                    </a:p>
                  </a:txBody>
                  <a:tcPr>
                    <a:solidFill>
                      <a:srgbClr val="FFFFFF"/>
                    </a:solidFill>
                  </a:tcPr>
                </a:tc>
                <a:tc>
                  <a:txBody>
                    <a:bodyPr/>
                    <a:lstStyle/>
                    <a:p>
                      <a:pPr algn="ctr">
                        <a:defRPr sz="950">
                          <a:solidFill>
                            <a:srgbClr val="323232"/>
                          </a:solidFill>
                          <a:latin typeface="Arial"/>
                        </a:defRPr>
                      </a:pPr>
                      <a:r>
                        <a:t>0.9854</a:t>
                      </a:r>
                    </a:p>
                  </a:txBody>
                  <a:tcPr>
                    <a:solidFill>
                      <a:srgbClr val="FFFFFF"/>
                    </a:solidFill>
                  </a:tcPr>
                </a:tc>
                <a:tc>
                  <a:txBody>
                    <a:bodyPr/>
                    <a:lstStyle/>
                    <a:p>
                      <a:pPr algn="ctr">
                        <a:defRPr sz="950">
                          <a:solidFill>
                            <a:srgbClr val="323232"/>
                          </a:solidFill>
                          <a:latin typeface="Arial"/>
                        </a:defRPr>
                      </a:pPr>
                      <a:r>
                        <a:t>3.42e-12</a:t>
                      </a:r>
                    </a:p>
                  </a:txBody>
                  <a:tcPr>
                    <a:solidFill>
                      <a:srgbClr val="FFFFFF"/>
                    </a:solidFill>
                  </a:tcPr>
                </a:tc>
                <a:tc>
                  <a:txBody>
                    <a:bodyPr/>
                    <a:lstStyle/>
                    <a:p>
                      <a:pPr algn="ctr">
                        <a:defRPr sz="950">
                          <a:solidFill>
                            <a:srgbClr val="323232"/>
                          </a:solidFill>
                          <a:latin typeface="Arial"/>
                        </a:defRPr>
                      </a:pPr>
                      <a:r>
                        <a:t>Reject Normality</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Shapiro-Wilk</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Shapiro-Wilk Gaussianity Test</a:t>
            </a:r>
          </a:p>
          <a:p>
            <a:pPr>
              <a:spcAft>
                <a:spcPts val="800"/>
              </a:spcAft>
              <a:defRPr sz="1300" b="0">
                <a:solidFill>
                  <a:srgbClr val="1E1E1E"/>
                </a:solidFill>
                <a:latin typeface="Arial"/>
              </a:defRPr>
            </a:pPr>
            <a:r>
              <a:t>We formally test whether continuous features are normally distributed. Hypotheses are defined as:</a:t>
            </a:r>
          </a:p>
          <a:p>
            <a:pPr lvl="1">
              <a:spcAft>
                <a:spcPts val="800"/>
              </a:spcAft>
              <a:defRPr sz="1300" b="0">
                <a:solidFill>
                  <a:srgbClr val="1E1E1E"/>
                </a:solidFill>
                <a:latin typeface="Arial"/>
              </a:defRPr>
            </a:pPr>
            <a:r>
              <a:t>  H0: The sample is drawn from a normal distribution.</a:t>
            </a:r>
          </a:p>
          <a:p>
            <a:pPr lvl="1">
              <a:spcAft>
                <a:spcPts val="800"/>
              </a:spcAft>
              <a:defRPr sz="1300" b="0">
                <a:solidFill>
                  <a:srgbClr val="1E1E1E"/>
                </a:solidFill>
                <a:latin typeface="Arial"/>
              </a:defRPr>
            </a:pPr>
            <a:r>
              <a:t>  H1: The sample is not normally distributed.</a:t>
            </a:r>
          </a:p>
          <a:p>
            <a:pPr>
              <a:spcAft>
                <a:spcPts val="800"/>
              </a:spcAft>
              <a:defRPr sz="1600" b="1">
                <a:solidFill>
                  <a:srgbClr val="0070B9"/>
                </a:solidFill>
                <a:latin typeface="Arial"/>
              </a:defRPr>
            </a:pPr>
            <a:r>
              <a:t>Test Execution</a:t>
            </a:r>
          </a:p>
          <a:p>
            <a:pPr lvl="1">
              <a:spcAft>
                <a:spcPts val="800"/>
              </a:spcAft>
              <a:defRPr sz="1300" b="0">
                <a:solidFill>
                  <a:srgbClr val="1E1E1E"/>
                </a:solidFill>
                <a:latin typeface="Arial"/>
              </a:defRPr>
            </a:pPr>
            <a:r>
              <a:t>• Shapiro-Wilk W-statistic measures correlation between observed values and normal order statistics.</a:t>
            </a:r>
          </a:p>
          <a:p>
            <a:pPr lvl="1">
              <a:spcAft>
                <a:spcPts val="800"/>
              </a:spcAft>
              <a:defRPr sz="1300" b="0">
                <a:solidFill>
                  <a:srgbClr val="1E1E1E"/>
                </a:solidFill>
                <a:latin typeface="Arial"/>
              </a:defRPr>
            </a:pPr>
            <a:r>
              <a:t>• Executed on a random sample of 5,000 observations (test constraint).</a:t>
            </a:r>
          </a:p>
          <a:p>
            <a:pPr lvl="1">
              <a:spcAft>
                <a:spcPts val="800"/>
              </a:spcAft>
              <a:defRPr sz="1300" b="0">
                <a:solidFill>
                  <a:srgbClr val="1E1E1E"/>
                </a:solidFill>
                <a:latin typeface="Arial"/>
              </a:defRPr>
            </a:pPr>
            <a:r>
              <a:t>• Results for person_income:</a:t>
            </a:r>
          </a:p>
          <a:p>
            <a:pPr lvl="2">
              <a:spcAft>
                <a:spcPts val="800"/>
              </a:spcAft>
              <a:defRPr sz="1200" b="0">
                <a:solidFill>
                  <a:srgbClr val="1E1E1E"/>
                </a:solidFill>
                <a:latin typeface="Arial"/>
              </a:defRPr>
            </a:pPr>
            <a:r>
              <a:t>   - Raw Income: W = 0.9103, p-value &lt; 2.2e-16</a:t>
            </a:r>
          </a:p>
          <a:p>
            <a:pPr lvl="2">
              <a:spcAft>
                <a:spcPts val="800"/>
              </a:spcAft>
              <a:defRPr sz="1200" b="0">
                <a:solidFill>
                  <a:srgbClr val="1E1E1E"/>
                </a:solidFill>
                <a:latin typeface="Arial"/>
              </a:defRPr>
            </a:pPr>
            <a:r>
              <a:t>   - Log Income: W = 0.9854, p-value = 3.42e-12</a:t>
            </a:r>
          </a:p>
          <a:p>
            <a:pPr lvl="1">
              <a:spcAft>
                <a:spcPts val="800"/>
              </a:spcAft>
              <a:defRPr sz="1300" b="0">
                <a:solidFill>
                  <a:srgbClr val="1E1E1E"/>
                </a:solidFill>
                <a:latin typeface="Arial"/>
              </a:defRPr>
            </a:pPr>
            <a:r>
              <a:t>• Decision: Reject H0 at alpha = 0.05. Even after log-transformation, data remains non-normal, requiring non-parametric validations.</a:t>
            </a:r>
          </a:p>
        </p:txBody>
      </p:sp>
      <p:graphicFrame>
        <p:nvGraphicFramePr>
          <p:cNvPr id="4" name="Table 3"/>
          <p:cNvGraphicFramePr>
            <a:graphicFrameLocks noGrp="1"/>
          </p:cNvGraphicFramePr>
          <p:nvPr/>
        </p:nvGraphicFramePr>
        <p:xfrm>
          <a:off x="6217920" y="1965960"/>
          <a:ext cx="5212080" cy="4114800"/>
        </p:xfrm>
        <a:graphic>
          <a:graphicData uri="http://schemas.openxmlformats.org/drawingml/2006/table">
            <a:tbl>
              <a:tblPr firstRow="1" bandRow="1">
                <a:tableStyleId>{5C22544A-7EE6-4342-B048-85BDC9FD1C3A}</a:tableStyleId>
              </a:tblPr>
              <a:tblGrid>
                <a:gridCol w="1828800"/>
                <a:gridCol w="1097280"/>
                <a:gridCol w="1097280"/>
                <a:gridCol w="1188720"/>
              </a:tblGrid>
              <a:tr h="1371600">
                <a:tc>
                  <a:txBody>
                    <a:bodyPr/>
                    <a:lstStyle/>
                    <a:p>
                      <a:pPr algn="ctr">
                        <a:defRPr sz="1100" b="1">
                          <a:solidFill>
                            <a:srgbClr val="FFFFFF"/>
                          </a:solidFill>
                          <a:latin typeface="Arial"/>
                        </a:defRPr>
                      </a:pPr>
                      <a:r>
                        <a:t>Feature</a:t>
                      </a:r>
                    </a:p>
                  </a:txBody>
                  <a:tcPr>
                    <a:solidFill>
                      <a:srgbClr val="0070B9"/>
                    </a:solidFill>
                  </a:tcPr>
                </a:tc>
                <a:tc>
                  <a:txBody>
                    <a:bodyPr/>
                    <a:lstStyle/>
                    <a:p>
                      <a:pPr algn="ctr">
                        <a:defRPr sz="1100" b="1">
                          <a:solidFill>
                            <a:srgbClr val="FFFFFF"/>
                          </a:solidFill>
                          <a:latin typeface="Arial"/>
                        </a:defRPr>
                      </a:pPr>
                      <a:r>
                        <a:t>W Statistic</a:t>
                      </a:r>
                    </a:p>
                  </a:txBody>
                  <a:tcPr>
                    <a:solidFill>
                      <a:srgbClr val="0070B9"/>
                    </a:solidFill>
                  </a:tcPr>
                </a:tc>
                <a:tc>
                  <a:txBody>
                    <a:bodyPr/>
                    <a:lstStyle/>
                    <a:p>
                      <a:pPr algn="ctr">
                        <a:defRPr sz="1100" b="1">
                          <a:solidFill>
                            <a:srgbClr val="FFFFFF"/>
                          </a:solidFill>
                          <a:latin typeface="Arial"/>
                        </a:defRPr>
                      </a:pPr>
                      <a:r>
                        <a:t>p-value</a:t>
                      </a:r>
                    </a:p>
                  </a:txBody>
                  <a:tcPr>
                    <a:solidFill>
                      <a:srgbClr val="0070B9"/>
                    </a:solidFill>
                  </a:tcPr>
                </a:tc>
                <a:tc>
                  <a:txBody>
                    <a:bodyPr/>
                    <a:lstStyle/>
                    <a:p>
                      <a:pPr algn="ctr">
                        <a:defRPr sz="1100" b="1">
                          <a:solidFill>
                            <a:srgbClr val="FFFFFF"/>
                          </a:solidFill>
                          <a:latin typeface="Arial"/>
                        </a:defRPr>
                      </a:pPr>
                      <a:r>
                        <a:t>Conclusion</a:t>
                      </a:r>
                    </a:p>
                  </a:txBody>
                  <a:tcPr>
                    <a:solidFill>
                      <a:srgbClr val="0070B9"/>
                    </a:solidFill>
                  </a:tcPr>
                </a:tc>
              </a:tr>
              <a:tr h="1371600">
                <a:tc>
                  <a:txBody>
                    <a:bodyPr/>
                    <a:lstStyle/>
                    <a:p>
                      <a:pPr algn="ctr">
                        <a:defRPr sz="950">
                          <a:solidFill>
                            <a:srgbClr val="323232"/>
                          </a:solidFill>
                          <a:latin typeface="Arial"/>
                        </a:defRPr>
                      </a:pPr>
                      <a:r>
                        <a:t>person_income (Raw)</a:t>
                      </a:r>
                    </a:p>
                  </a:txBody>
                  <a:tcPr>
                    <a:solidFill>
                      <a:srgbClr val="F5F5F5"/>
                    </a:solidFill>
                  </a:tcPr>
                </a:tc>
                <a:tc>
                  <a:txBody>
                    <a:bodyPr/>
                    <a:lstStyle/>
                    <a:p>
                      <a:pPr algn="ctr">
                        <a:defRPr sz="950">
                          <a:solidFill>
                            <a:srgbClr val="323232"/>
                          </a:solidFill>
                          <a:latin typeface="Arial"/>
                        </a:defRPr>
                      </a:pPr>
                      <a:r>
                        <a:t>0.9103</a:t>
                      </a:r>
                    </a:p>
                  </a:txBody>
                  <a:tcPr>
                    <a:solidFill>
                      <a:srgbClr val="F5F5F5"/>
                    </a:solidFill>
                  </a:tcPr>
                </a:tc>
                <a:tc>
                  <a:txBody>
                    <a:bodyPr/>
                    <a:lstStyle/>
                    <a:p>
                      <a:pPr algn="ctr">
                        <a:defRPr sz="950">
                          <a:solidFill>
                            <a:srgbClr val="323232"/>
                          </a:solidFill>
                          <a:latin typeface="Arial"/>
                        </a:defRPr>
                      </a:pPr>
                      <a:r>
                        <a:t>&lt; 2.2e-16</a:t>
                      </a:r>
                    </a:p>
                  </a:txBody>
                  <a:tcPr>
                    <a:solidFill>
                      <a:srgbClr val="F5F5F5"/>
                    </a:solidFill>
                  </a:tcPr>
                </a:tc>
                <a:tc>
                  <a:txBody>
                    <a:bodyPr/>
                    <a:lstStyle/>
                    <a:p>
                      <a:pPr algn="ctr">
                        <a:defRPr sz="950">
                          <a:solidFill>
                            <a:srgbClr val="323232"/>
                          </a:solidFill>
                          <a:latin typeface="Arial"/>
                        </a:defRPr>
                      </a:pPr>
                      <a:r>
                        <a:t>Reject Normality</a:t>
                      </a:r>
                    </a:p>
                  </a:txBody>
                  <a:tcPr>
                    <a:solidFill>
                      <a:srgbClr val="F5F5F5"/>
                    </a:solidFill>
                  </a:tcPr>
                </a:tc>
              </a:tr>
              <a:tr h="1371600">
                <a:tc>
                  <a:txBody>
                    <a:bodyPr/>
                    <a:lstStyle/>
                    <a:p>
                      <a:pPr algn="ctr">
                        <a:defRPr sz="950">
                          <a:solidFill>
                            <a:srgbClr val="323232"/>
                          </a:solidFill>
                          <a:latin typeface="Arial"/>
                        </a:defRPr>
                      </a:pPr>
                      <a:r>
                        <a:t>log_person_income</a:t>
                      </a:r>
                    </a:p>
                  </a:txBody>
                  <a:tcPr>
                    <a:solidFill>
                      <a:srgbClr val="FFFFFF"/>
                    </a:solidFill>
                  </a:tcPr>
                </a:tc>
                <a:tc>
                  <a:txBody>
                    <a:bodyPr/>
                    <a:lstStyle/>
                    <a:p>
                      <a:pPr algn="ctr">
                        <a:defRPr sz="950">
                          <a:solidFill>
                            <a:srgbClr val="323232"/>
                          </a:solidFill>
                          <a:latin typeface="Arial"/>
                        </a:defRPr>
                      </a:pPr>
                      <a:r>
                        <a:t>0.9854</a:t>
                      </a:r>
                    </a:p>
                  </a:txBody>
                  <a:tcPr>
                    <a:solidFill>
                      <a:srgbClr val="FFFFFF"/>
                    </a:solidFill>
                  </a:tcPr>
                </a:tc>
                <a:tc>
                  <a:txBody>
                    <a:bodyPr/>
                    <a:lstStyle/>
                    <a:p>
                      <a:pPr algn="ctr">
                        <a:defRPr sz="950">
                          <a:solidFill>
                            <a:srgbClr val="323232"/>
                          </a:solidFill>
                          <a:latin typeface="Arial"/>
                        </a:defRPr>
                      </a:pPr>
                      <a:r>
                        <a:t>3.42e-12</a:t>
                      </a:r>
                    </a:p>
                  </a:txBody>
                  <a:tcPr>
                    <a:solidFill>
                      <a:srgbClr val="FFFFFF"/>
                    </a:solidFill>
                  </a:tcPr>
                </a:tc>
                <a:tc>
                  <a:txBody>
                    <a:bodyPr/>
                    <a:lstStyle/>
                    <a:p>
                      <a:pPr algn="ctr">
                        <a:defRPr sz="950">
                          <a:solidFill>
                            <a:srgbClr val="323232"/>
                          </a:solidFill>
                          <a:latin typeface="Arial"/>
                        </a:defRPr>
                      </a:pPr>
                      <a:r>
                        <a:t>Reject Normality</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CLT Simulation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Central Limit Theorem (CLT) Theory</a:t>
            </a:r>
          </a:p>
          <a:p>
            <a:pPr>
              <a:spcAft>
                <a:spcPts val="800"/>
              </a:spcAft>
              <a:defRPr sz="1300" b="0">
                <a:solidFill>
                  <a:srgbClr val="1E1E1E"/>
                </a:solidFill>
                <a:latin typeface="Arial"/>
              </a:defRPr>
            </a:pPr>
            <a:r>
              <a:t>Even if individual borrower observations are non-normal, the CLT guarantees that the sampling distribution of the mean converges to normality as sample size increases:</a:t>
            </a:r>
          </a:p>
          <a:p>
            <a:pPr lvl="1">
              <a:spcAft>
                <a:spcPts val="800"/>
              </a:spcAft>
              <a:defRPr sz="1400" b="1">
                <a:solidFill>
                  <a:srgbClr val="1E1E1E"/>
                </a:solidFill>
                <a:latin typeface="Arial"/>
              </a:defRPr>
            </a:pPr>
            <a:r>
              <a:t>  X̄_n ~ N(μ, σ^2 / n) as n -&gt; infinity</a:t>
            </a:r>
          </a:p>
          <a:p>
            <a:pPr>
              <a:spcAft>
                <a:spcPts val="800"/>
              </a:spcAft>
              <a:defRPr sz="1600" b="1">
                <a:solidFill>
                  <a:srgbClr val="0070B9"/>
                </a:solidFill>
                <a:latin typeface="Arial"/>
              </a:defRPr>
            </a:pPr>
            <a:r>
              <a:t>Empirical Bootstrap Simulation</a:t>
            </a:r>
          </a:p>
          <a:p>
            <a:pPr lvl="1">
              <a:spcAft>
                <a:spcPts val="800"/>
              </a:spcAft>
              <a:defRPr sz="1300" b="0">
                <a:solidFill>
                  <a:srgbClr val="1E1E1E"/>
                </a:solidFill>
                <a:latin typeface="Arial"/>
              </a:defRPr>
            </a:pPr>
            <a:r>
              <a:t>• Drew 5,000 bootstrap samples from the skewed income population at sample sizes n = 5, 30, and 200.</a:t>
            </a:r>
          </a:p>
          <a:p>
            <a:pPr lvl="1">
              <a:spcAft>
                <a:spcPts val="800"/>
              </a:spcAft>
              <a:defRPr sz="1300" b="0">
                <a:solidFill>
                  <a:srgbClr val="1E1E1E"/>
                </a:solidFill>
                <a:latin typeface="Arial"/>
              </a:defRPr>
            </a:pPr>
            <a:r>
              <a:t>• Rationale: Assess convergence rate.</a:t>
            </a:r>
          </a:p>
          <a:p>
            <a:pPr lvl="1">
              <a:spcAft>
                <a:spcPts val="800"/>
              </a:spcAft>
              <a:defRPr sz="1300" b="0">
                <a:solidFill>
                  <a:srgbClr val="1E1E1E"/>
                </a:solidFill>
                <a:latin typeface="Arial"/>
              </a:defRPr>
            </a:pPr>
            <a:r>
              <a:t>• Analysis of Results (Figure 13):</a:t>
            </a:r>
          </a:p>
          <a:p>
            <a:pPr lvl="2">
              <a:spcAft>
                <a:spcPts val="800"/>
              </a:spcAft>
              <a:defRPr sz="1200" b="0">
                <a:solidFill>
                  <a:srgbClr val="1E1E1E"/>
                </a:solidFill>
                <a:latin typeface="Arial"/>
              </a:defRPr>
            </a:pPr>
            <a:r>
              <a:t>   - At n=5, distribution remains skewed (W=0.9575, p &lt; 0.05).</a:t>
            </a:r>
          </a:p>
          <a:p>
            <a:pPr lvl="2">
              <a:spcAft>
                <a:spcPts val="800"/>
              </a:spcAft>
              <a:defRPr sz="1200" b="0">
                <a:solidFill>
                  <a:srgbClr val="1E1E1E"/>
                </a:solidFill>
                <a:latin typeface="Arial"/>
              </a:defRPr>
            </a:pPr>
            <a:r>
              <a:t>   - At n=30, shape looks bell-like but rejected (W=0.9882, p &lt; 0.05).</a:t>
            </a:r>
          </a:p>
          <a:p>
            <a:pPr lvl="2">
              <a:spcAft>
                <a:spcPts val="800"/>
              </a:spcAft>
              <a:defRPr sz="1200" b="0">
                <a:solidFill>
                  <a:srgbClr val="1E1E1E"/>
                </a:solidFill>
                <a:latin typeface="Arial"/>
              </a:defRPr>
            </a:pPr>
            <a:r>
              <a:t>   - At n=200, converges to normal (W=0.9991, p = 0.12 &gt; 0.05).</a:t>
            </a:r>
          </a:p>
          <a:p>
            <a:pPr lvl="1">
              <a:spcAft>
                <a:spcPts val="800"/>
              </a:spcAft>
              <a:defRPr sz="1300" b="0">
                <a:solidFill>
                  <a:srgbClr val="1E1E1E"/>
                </a:solidFill>
                <a:latin typeface="Arial"/>
              </a:defRPr>
            </a:pPr>
            <a:r>
              <a:t>• Conclusion: Validates use of standard parametric t-tests and ANOVA.</a:t>
            </a:r>
          </a:p>
        </p:txBody>
      </p:sp>
      <p:pic>
        <p:nvPicPr>
          <p:cNvPr id="4" name="Picture 3" descr="eda_clt_simul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13: Bootstrap sampling distributions of mean income. Normal convergence is reached at n = 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CLT Simulation</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Central Limit Theorem (CLT) Theory</a:t>
            </a:r>
          </a:p>
          <a:p>
            <a:pPr>
              <a:spcAft>
                <a:spcPts val="800"/>
              </a:spcAft>
              <a:defRPr sz="1300" b="0">
                <a:solidFill>
                  <a:srgbClr val="1E1E1E"/>
                </a:solidFill>
                <a:latin typeface="Arial"/>
              </a:defRPr>
            </a:pPr>
            <a:r>
              <a:t>Even if individual borrower observations are non-normal, the CLT guarantees that the sampling distribution of the mean converges to normality as sample size increases:</a:t>
            </a:r>
          </a:p>
          <a:p>
            <a:pPr lvl="1">
              <a:spcAft>
                <a:spcPts val="800"/>
              </a:spcAft>
              <a:defRPr sz="1400" b="1">
                <a:solidFill>
                  <a:srgbClr val="1E1E1E"/>
                </a:solidFill>
                <a:latin typeface="Arial"/>
              </a:defRPr>
            </a:pPr>
            <a:r>
              <a:t>  X̄_n ~ N(μ, σ^2 / n) as n -&gt; infinity</a:t>
            </a:r>
          </a:p>
          <a:p>
            <a:pPr>
              <a:spcAft>
                <a:spcPts val="800"/>
              </a:spcAft>
              <a:defRPr sz="1600" b="1">
                <a:solidFill>
                  <a:srgbClr val="0070B9"/>
                </a:solidFill>
                <a:latin typeface="Arial"/>
              </a:defRPr>
            </a:pPr>
            <a:r>
              <a:t>Empirical Bootstrap Simulation</a:t>
            </a:r>
          </a:p>
          <a:p>
            <a:pPr lvl="1">
              <a:spcAft>
                <a:spcPts val="800"/>
              </a:spcAft>
              <a:defRPr sz="1300" b="0">
                <a:solidFill>
                  <a:srgbClr val="1E1E1E"/>
                </a:solidFill>
                <a:latin typeface="Arial"/>
              </a:defRPr>
            </a:pPr>
            <a:r>
              <a:t>• Drew 5,000 bootstrap samples from the skewed income population at sample sizes n = 5, 30, and 200.</a:t>
            </a:r>
          </a:p>
          <a:p>
            <a:pPr lvl="1">
              <a:spcAft>
                <a:spcPts val="800"/>
              </a:spcAft>
              <a:defRPr sz="1300" b="0">
                <a:solidFill>
                  <a:srgbClr val="1E1E1E"/>
                </a:solidFill>
                <a:latin typeface="Arial"/>
              </a:defRPr>
            </a:pPr>
            <a:r>
              <a:t>• Rationale: Assess convergence rate.</a:t>
            </a:r>
          </a:p>
          <a:p>
            <a:pPr lvl="1">
              <a:spcAft>
                <a:spcPts val="800"/>
              </a:spcAft>
              <a:defRPr sz="1300" b="0">
                <a:solidFill>
                  <a:srgbClr val="1E1E1E"/>
                </a:solidFill>
                <a:latin typeface="Arial"/>
              </a:defRPr>
            </a:pPr>
            <a:r>
              <a:t>• Analysis of Results (Figure 13):</a:t>
            </a:r>
          </a:p>
          <a:p>
            <a:pPr lvl="2">
              <a:spcAft>
                <a:spcPts val="800"/>
              </a:spcAft>
              <a:defRPr sz="1200" b="0">
                <a:solidFill>
                  <a:srgbClr val="1E1E1E"/>
                </a:solidFill>
                <a:latin typeface="Arial"/>
              </a:defRPr>
            </a:pPr>
            <a:r>
              <a:t>   - At n=5, distribution remains skewed (W=0.9575, p &lt; 0.05).</a:t>
            </a:r>
          </a:p>
          <a:p>
            <a:pPr lvl="2">
              <a:spcAft>
                <a:spcPts val="800"/>
              </a:spcAft>
              <a:defRPr sz="1200" b="0">
                <a:solidFill>
                  <a:srgbClr val="1E1E1E"/>
                </a:solidFill>
                <a:latin typeface="Arial"/>
              </a:defRPr>
            </a:pPr>
            <a:r>
              <a:t>   - At n=30, shape looks bell-like but rejected (W=0.9882, p &lt; 0.05).</a:t>
            </a:r>
          </a:p>
          <a:p>
            <a:pPr lvl="2">
              <a:spcAft>
                <a:spcPts val="800"/>
              </a:spcAft>
              <a:defRPr sz="1200" b="0">
                <a:solidFill>
                  <a:srgbClr val="1E1E1E"/>
                </a:solidFill>
                <a:latin typeface="Arial"/>
              </a:defRPr>
            </a:pPr>
            <a:r>
              <a:t>   - At n=200, converges to normal (W=0.9991, p = 0.12 &gt; 0.05).</a:t>
            </a:r>
          </a:p>
          <a:p>
            <a:pPr lvl="1">
              <a:spcAft>
                <a:spcPts val="800"/>
              </a:spcAft>
              <a:defRPr sz="1300" b="0">
                <a:solidFill>
                  <a:srgbClr val="1E1E1E"/>
                </a:solidFill>
                <a:latin typeface="Arial"/>
              </a:defRPr>
            </a:pPr>
            <a:r>
              <a:t>• Conclusion: Validates use of standard parametric t-tests and ANOVA.</a:t>
            </a:r>
          </a:p>
        </p:txBody>
      </p:sp>
      <p:pic>
        <p:nvPicPr>
          <p:cNvPr id="4" name="Picture 3" descr="eda_clt_simul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13: Bootstrap sampling distributions of mean income. Normal convergence is reached at n = 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Correlations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Feature Correlation Profile</a:t>
            </a:r>
          </a:p>
          <a:p>
            <a:pPr>
              <a:spcAft>
                <a:spcPts val="800"/>
              </a:spcAft>
              <a:defRPr sz="1300" b="0">
                <a:solidFill>
                  <a:srgbClr val="1E1E1E"/>
                </a:solidFill>
                <a:latin typeface="Arial"/>
              </a:defRPr>
            </a:pPr>
            <a:r>
              <a:t>Pearson correlation r measures linear relationships between features:</a:t>
            </a:r>
          </a:p>
          <a:p>
            <a:pPr lvl="1">
              <a:spcAft>
                <a:spcPts val="800"/>
              </a:spcAft>
              <a:defRPr sz="1300" b="0">
                <a:solidFill>
                  <a:srgbClr val="1E1E1E"/>
                </a:solidFill>
                <a:latin typeface="Arial"/>
              </a:defRPr>
            </a:pPr>
            <a:r>
              <a:t>• Target Default (`loan_status`) Correlations:</a:t>
            </a:r>
          </a:p>
          <a:p>
            <a:pPr lvl="2">
              <a:spcAft>
                <a:spcPts val="800"/>
              </a:spcAft>
              <a:defRPr sz="1200" b="0">
                <a:solidFill>
                  <a:srgbClr val="1E1E1E"/>
                </a:solidFill>
                <a:latin typeface="Arial"/>
              </a:defRPr>
            </a:pPr>
            <a:r>
              <a:t>   - Positive: `loan_percent_income` (r = 0.380) and `loan_int_rate` (r = 0.334) are the strongest linear drivers of default.</a:t>
            </a:r>
          </a:p>
          <a:p>
            <a:pPr lvl="2">
              <a:spcAft>
                <a:spcPts val="800"/>
              </a:spcAft>
              <a:defRPr sz="1200" b="0">
                <a:solidFill>
                  <a:srgbClr val="1E1E1E"/>
                </a:solidFill>
                <a:latin typeface="Arial"/>
              </a:defRPr>
            </a:pPr>
            <a:r>
              <a:t>   - Negative: `person_income` (r = -0.140) shows that higher earners are less likely to default.</a:t>
            </a:r>
          </a:p>
          <a:p>
            <a:pPr>
              <a:spcAft>
                <a:spcPts val="800"/>
              </a:spcAft>
              <a:defRPr sz="1600" b="1">
                <a:solidFill>
                  <a:srgbClr val="0070B9"/>
                </a:solidFill>
                <a:latin typeface="Arial"/>
              </a:defRPr>
            </a:pPr>
            <a:r>
              <a:t>• Multicollinearity Risks Detected:</a:t>
            </a:r>
          </a:p>
          <a:p>
            <a:pPr lvl="1">
              <a:spcAft>
                <a:spcPts val="800"/>
              </a:spcAft>
              <a:defRPr sz="1300" b="0">
                <a:solidFill>
                  <a:srgbClr val="1E1E1E"/>
                </a:solidFill>
                <a:latin typeface="Arial"/>
              </a:defRPr>
            </a:pPr>
            <a:r>
              <a:t>   - High correlation between borrower age and credit history length: `person_age` vs `cb_person_cred_hist_length` (r = 0.836).</a:t>
            </a:r>
          </a:p>
          <a:p>
            <a:pPr lvl="1">
              <a:spcAft>
                <a:spcPts val="800"/>
              </a:spcAft>
              <a:defRPr sz="1300" b="0">
                <a:solidFill>
                  <a:srgbClr val="1E1E1E"/>
                </a:solidFill>
                <a:latin typeface="Arial"/>
              </a:defRPr>
            </a:pPr>
            <a:r>
              <a:t>   - Rationale: High linear redundancy between age and history length will necessitate a formal Variance Inflation Factor (VIF) audit.</a:t>
            </a:r>
          </a:p>
        </p:txBody>
      </p:sp>
      <p:pic>
        <p:nvPicPr>
          <p:cNvPr id="4" name="Picture 3" descr="eda_correl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14: Heatmap showing linear correlation coefficients between numerical inputs.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Correlations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Feature Correlation Profile</a:t>
            </a:r>
          </a:p>
          <a:p>
            <a:pPr>
              <a:spcAft>
                <a:spcPts val="800"/>
              </a:spcAft>
              <a:defRPr sz="1300" b="0">
                <a:solidFill>
                  <a:srgbClr val="1E1E1E"/>
                </a:solidFill>
                <a:latin typeface="Arial"/>
              </a:defRPr>
            </a:pPr>
            <a:r>
              <a:t>Pearson correlation r measures linear relationships between features:</a:t>
            </a:r>
          </a:p>
          <a:p>
            <a:pPr lvl="1">
              <a:spcAft>
                <a:spcPts val="800"/>
              </a:spcAft>
              <a:defRPr sz="1300" b="0">
                <a:solidFill>
                  <a:srgbClr val="1E1E1E"/>
                </a:solidFill>
                <a:latin typeface="Arial"/>
              </a:defRPr>
            </a:pPr>
            <a:r>
              <a:t>• Target Default (`loan_status`) Correlations:</a:t>
            </a:r>
          </a:p>
          <a:p>
            <a:pPr lvl="2">
              <a:spcAft>
                <a:spcPts val="800"/>
              </a:spcAft>
              <a:defRPr sz="1200" b="0">
                <a:solidFill>
                  <a:srgbClr val="1E1E1E"/>
                </a:solidFill>
                <a:latin typeface="Arial"/>
              </a:defRPr>
            </a:pPr>
            <a:r>
              <a:t>   - Positive: `loan_percent_income` (r = 0.380) and `loan_int_rate` (r = 0.334) are the strongest linear drivers of default.</a:t>
            </a:r>
          </a:p>
          <a:p>
            <a:pPr lvl="2">
              <a:spcAft>
                <a:spcPts val="800"/>
              </a:spcAft>
              <a:defRPr sz="1200" b="0">
                <a:solidFill>
                  <a:srgbClr val="1E1E1E"/>
                </a:solidFill>
                <a:latin typeface="Arial"/>
              </a:defRPr>
            </a:pPr>
            <a:r>
              <a:t>   - Negative: `person_income` (r = -0.140) shows that higher earners are less likely to default.</a:t>
            </a:r>
          </a:p>
          <a:p>
            <a:pPr>
              <a:spcAft>
                <a:spcPts val="800"/>
              </a:spcAft>
              <a:defRPr sz="1600" b="1">
                <a:solidFill>
                  <a:srgbClr val="0070B9"/>
                </a:solidFill>
                <a:latin typeface="Arial"/>
              </a:defRPr>
            </a:pPr>
            <a:r>
              <a:t>• Multicollinearity Risks Detected:</a:t>
            </a:r>
          </a:p>
          <a:p>
            <a:pPr lvl="1">
              <a:spcAft>
                <a:spcPts val="800"/>
              </a:spcAft>
              <a:defRPr sz="1300" b="0">
                <a:solidFill>
                  <a:srgbClr val="1E1E1E"/>
                </a:solidFill>
                <a:latin typeface="Arial"/>
              </a:defRPr>
            </a:pPr>
            <a:r>
              <a:t>   - High correlation between borrower age and credit history length: `person_age` vs `cb_person_cred_hist_length` (r = 0.836).</a:t>
            </a:r>
          </a:p>
          <a:p>
            <a:pPr lvl="1">
              <a:spcAft>
                <a:spcPts val="800"/>
              </a:spcAft>
              <a:defRPr sz="1300" b="0">
                <a:solidFill>
                  <a:srgbClr val="1E1E1E"/>
                </a:solidFill>
                <a:latin typeface="Arial"/>
              </a:defRPr>
            </a:pPr>
            <a:r>
              <a:t>   - Rationale: High linear redundancy between age and history length will necessitate a formal Variance Inflation Factor (VIF) audit.</a:t>
            </a:r>
          </a:p>
        </p:txBody>
      </p:sp>
      <p:pic>
        <p:nvPicPr>
          <p:cNvPr id="4" name="Picture 3" descr="eda_correl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14: Heatmap showing linear correlation coefficients between numerical inputs.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Categorical Risk Trends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Exploratory Categorical Risks</a:t>
            </a:r>
          </a:p>
          <a:p>
            <a:pPr>
              <a:spcAft>
                <a:spcPts val="800"/>
              </a:spcAft>
              <a:defRPr sz="1300" b="0">
                <a:solidFill>
                  <a:srgbClr val="1E1E1E"/>
                </a:solidFill>
                <a:latin typeface="Arial"/>
              </a:defRPr>
            </a:pPr>
            <a:r>
              <a:t>We explore default rates across categorical borrower and loan variables:</a:t>
            </a:r>
          </a:p>
          <a:p>
            <a:pPr lvl="1">
              <a:spcAft>
                <a:spcPts val="800"/>
              </a:spcAft>
              <a:defRPr sz="1300" b="0">
                <a:solidFill>
                  <a:srgbClr val="1E1E1E"/>
                </a:solidFill>
                <a:latin typeface="Arial"/>
              </a:defRPr>
            </a:pPr>
            <a:r>
              <a:t>• Home Ownership Impact:</a:t>
            </a:r>
          </a:p>
          <a:p>
            <a:pPr lvl="2">
              <a:spcAft>
                <a:spcPts val="800"/>
              </a:spcAft>
              <a:defRPr sz="1200" b="0">
                <a:solidFill>
                  <a:srgbClr val="1E1E1E"/>
                </a:solidFill>
                <a:latin typeface="Arial"/>
              </a:defRPr>
            </a:pPr>
            <a:r>
              <a:t>   - RENT: Highest default rate (~31%), signaling lower asset stability.</a:t>
            </a:r>
          </a:p>
          <a:p>
            <a:pPr lvl="2">
              <a:spcAft>
                <a:spcPts val="800"/>
              </a:spcAft>
              <a:defRPr sz="1200" b="0">
                <a:solidFill>
                  <a:srgbClr val="1E1E1E"/>
                </a:solidFill>
                <a:latin typeface="Arial"/>
              </a:defRPr>
            </a:pPr>
            <a:r>
              <a:t>   - OWN &amp; MORTGAGE: Lower default rates (~7% and ~12% respectively), indicating stronger borrower net worth.</a:t>
            </a:r>
          </a:p>
          <a:p>
            <a:pPr lvl="1">
              <a:spcAft>
                <a:spcPts val="800"/>
              </a:spcAft>
              <a:defRPr sz="1300" b="0">
                <a:solidFill>
                  <a:srgbClr val="1E1E1E"/>
                </a:solidFill>
                <a:latin typeface="Arial"/>
              </a:defRPr>
            </a:pPr>
            <a:r>
              <a:t>• Loan Intent Impact:</a:t>
            </a:r>
          </a:p>
          <a:p>
            <a:pPr lvl="2">
              <a:spcAft>
                <a:spcPts val="800"/>
              </a:spcAft>
              <a:defRPr sz="1200" b="0">
                <a:solidFill>
                  <a:srgbClr val="1E1E1E"/>
                </a:solidFill>
                <a:latin typeface="Arial"/>
              </a:defRPr>
            </a:pPr>
            <a:r>
              <a:t>   - DEBTCONSOLIDATION &amp; MEDICAL: Highest default rates (~28%), signaling borrowers under financial stress.</a:t>
            </a:r>
          </a:p>
          <a:p>
            <a:pPr lvl="2">
              <a:spcAft>
                <a:spcPts val="800"/>
              </a:spcAft>
              <a:defRPr sz="1200" b="0">
                <a:solidFill>
                  <a:srgbClr val="1E1E1E"/>
                </a:solidFill>
                <a:latin typeface="Arial"/>
              </a:defRPr>
            </a:pPr>
            <a:r>
              <a:t>   - VENTURE &amp; EDUCATION: Lower default rates (~15%), indicating capital investments with potential future returns.</a:t>
            </a:r>
          </a:p>
          <a:p>
            <a:pPr lvl="1">
              <a:spcAft>
                <a:spcPts val="800"/>
              </a:spcAft>
              <a:defRPr sz="1300" b="0">
                <a:solidFill>
                  <a:srgbClr val="1E1E1E"/>
                </a:solidFill>
                <a:latin typeface="Arial"/>
              </a:defRPr>
            </a:pPr>
            <a:r>
              <a:t>• Rationale: These non-linear differences support nominal feature one-hot encoding for machine learning models.</a:t>
            </a:r>
          </a:p>
        </p:txBody>
      </p:sp>
      <p:pic>
        <p:nvPicPr>
          <p:cNvPr id="4" name="Picture 3" descr="eda_categorical_risk.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15: Observed default rates across borrower housing and loan purpose features.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 Categorical Risk Trends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Exploratory Categorical Risks</a:t>
            </a:r>
          </a:p>
          <a:p>
            <a:pPr>
              <a:spcAft>
                <a:spcPts val="800"/>
              </a:spcAft>
              <a:defRPr sz="1300" b="0">
                <a:solidFill>
                  <a:srgbClr val="1E1E1E"/>
                </a:solidFill>
                <a:latin typeface="Arial"/>
              </a:defRPr>
            </a:pPr>
            <a:r>
              <a:t>We explore default rates across categorical borrower and loan variables:</a:t>
            </a:r>
          </a:p>
          <a:p>
            <a:pPr lvl="1">
              <a:spcAft>
                <a:spcPts val="800"/>
              </a:spcAft>
              <a:defRPr sz="1300" b="0">
                <a:solidFill>
                  <a:srgbClr val="1E1E1E"/>
                </a:solidFill>
                <a:latin typeface="Arial"/>
              </a:defRPr>
            </a:pPr>
            <a:r>
              <a:t>• Home Ownership Impact:</a:t>
            </a:r>
          </a:p>
          <a:p>
            <a:pPr lvl="2">
              <a:spcAft>
                <a:spcPts val="800"/>
              </a:spcAft>
              <a:defRPr sz="1200" b="0">
                <a:solidFill>
                  <a:srgbClr val="1E1E1E"/>
                </a:solidFill>
                <a:latin typeface="Arial"/>
              </a:defRPr>
            </a:pPr>
            <a:r>
              <a:t>   - RENT: Highest default rate (~31%), signaling lower asset stability.</a:t>
            </a:r>
          </a:p>
          <a:p>
            <a:pPr lvl="2">
              <a:spcAft>
                <a:spcPts val="800"/>
              </a:spcAft>
              <a:defRPr sz="1200" b="0">
                <a:solidFill>
                  <a:srgbClr val="1E1E1E"/>
                </a:solidFill>
                <a:latin typeface="Arial"/>
              </a:defRPr>
            </a:pPr>
            <a:r>
              <a:t>   - OWN &amp; MORTGAGE: Lower default rates (~7% and ~12% respectively), indicating stronger borrower net worth.</a:t>
            </a:r>
          </a:p>
          <a:p>
            <a:pPr lvl="1">
              <a:spcAft>
                <a:spcPts val="800"/>
              </a:spcAft>
              <a:defRPr sz="1300" b="0">
                <a:solidFill>
                  <a:srgbClr val="1E1E1E"/>
                </a:solidFill>
                <a:latin typeface="Arial"/>
              </a:defRPr>
            </a:pPr>
            <a:r>
              <a:t>• Loan Intent Impact:</a:t>
            </a:r>
          </a:p>
          <a:p>
            <a:pPr lvl="2">
              <a:spcAft>
                <a:spcPts val="800"/>
              </a:spcAft>
              <a:defRPr sz="1200" b="0">
                <a:solidFill>
                  <a:srgbClr val="1E1E1E"/>
                </a:solidFill>
                <a:latin typeface="Arial"/>
              </a:defRPr>
            </a:pPr>
            <a:r>
              <a:t>   - DEBTCONSOLIDATION &amp; MEDICAL: Highest default rates (~28%), signaling borrowers under financial stress.</a:t>
            </a:r>
          </a:p>
          <a:p>
            <a:pPr lvl="2">
              <a:spcAft>
                <a:spcPts val="800"/>
              </a:spcAft>
              <a:defRPr sz="1200" b="0">
                <a:solidFill>
                  <a:srgbClr val="1E1E1E"/>
                </a:solidFill>
                <a:latin typeface="Arial"/>
              </a:defRPr>
            </a:pPr>
            <a:r>
              <a:t>   - VENTURE &amp; EDUCATION: Lower default rates (~15%), indicating capital investments with potential future returns.</a:t>
            </a:r>
          </a:p>
          <a:p>
            <a:pPr lvl="1">
              <a:spcAft>
                <a:spcPts val="800"/>
              </a:spcAft>
              <a:defRPr sz="1300" b="0">
                <a:solidFill>
                  <a:srgbClr val="1E1E1E"/>
                </a:solidFill>
                <a:latin typeface="Arial"/>
              </a:defRPr>
            </a:pPr>
            <a:r>
              <a:t>• Rationale: These non-linear differences support nominal feature one-hot encoding for machine learning models.</a:t>
            </a:r>
          </a:p>
        </p:txBody>
      </p:sp>
      <p:pic>
        <p:nvPicPr>
          <p:cNvPr id="4" name="Picture 3" descr="eda_categorical_risk.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15: Observed default rates across borrower housing and loan purpose features.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a:t>
            </a:r>
          </a:p>
          <a:p>
            <a:r>
              <a:t>Model Selection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a:t>
            </a:r>
          </a:p>
          <a:p>
            <a:r>
              <a:t>Model Selection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Preprocessing Pipeline</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Shared Scikit-Learn Preprocessing Pipeline</a:t>
            </a:r>
          </a:p>
          <a:p>
            <a:pPr>
              <a:spcAft>
                <a:spcPts val="800"/>
              </a:spcAft>
              <a:defRPr sz="1300" b="0">
                <a:solidFill>
                  <a:srgbClr val="1E1E1E"/>
                </a:solidFill>
                <a:latin typeface="Arial"/>
              </a:defRPr>
            </a:pPr>
            <a:r>
              <a:t>To ensure that raw and new applicant inputs are handled consistently, we build a standardized preprocessing pipeline.</a:t>
            </a:r>
          </a:p>
          <a:p>
            <a:pPr>
              <a:spcAft>
                <a:spcPts val="800"/>
              </a:spcAft>
              <a:defRPr sz="1500" b="1">
                <a:solidFill>
                  <a:srgbClr val="1E1E1E"/>
                </a:solidFill>
                <a:latin typeface="Arial"/>
              </a:defRPr>
            </a:pPr>
            <a:r>
              <a:t>• Numeric Features Scaling:</a:t>
            </a:r>
          </a:p>
          <a:p>
            <a:pPr lvl="1">
              <a:spcAft>
                <a:spcPts val="800"/>
              </a:spcAft>
              <a:defRPr sz="1300" b="0">
                <a:solidFill>
                  <a:srgbClr val="1E1E1E"/>
                </a:solidFill>
                <a:latin typeface="Arial"/>
              </a:defRPr>
            </a:pPr>
            <a:r>
              <a:t>Standardizes continuous inputs using Z-score scaling to assist distance-based models (such as Ridge or Logistic Regression):</a:t>
            </a:r>
          </a:p>
          <a:p>
            <a:pPr lvl="1">
              <a:spcAft>
                <a:spcPts val="800"/>
              </a:spcAft>
              <a:defRPr sz="1400" b="1">
                <a:solidFill>
                  <a:srgbClr val="1E1E1E"/>
                </a:solidFill>
                <a:latin typeface="Arial"/>
              </a:defRPr>
            </a:pPr>
            <a:r>
              <a:t>   z = (x - μ) / σ</a:t>
            </a:r>
          </a:p>
          <a:p>
            <a:pPr>
              <a:spcAft>
                <a:spcPts val="800"/>
              </a:spcAft>
              <a:defRPr sz="1500" b="1">
                <a:solidFill>
                  <a:srgbClr val="1E1E1E"/>
                </a:solidFill>
                <a:latin typeface="Arial"/>
              </a:defRPr>
            </a:pPr>
            <a:r>
              <a:t>• Nominal Categorical Encoding:</a:t>
            </a:r>
          </a:p>
          <a:p>
            <a:pPr lvl="1">
              <a:spcAft>
                <a:spcPts val="800"/>
              </a:spcAft>
              <a:defRPr sz="1300" b="0">
                <a:solidFill>
                  <a:srgbClr val="1E1E1E"/>
                </a:solidFill>
                <a:latin typeface="Arial"/>
              </a:defRPr>
            </a:pPr>
            <a:r>
              <a:t>Converts nominal categories (e.g. `person_home_ownership`, `loan_intent`) into numeric fields via One-Hot Encoding, preventing arbitrary ordering bias.</a:t>
            </a:r>
          </a:p>
          <a:p>
            <a:pPr>
              <a:spcAft>
                <a:spcPts val="800"/>
              </a:spcAft>
              <a:defRPr sz="1500" b="1">
                <a:solidFill>
                  <a:srgbClr val="1E1E1E"/>
                </a:solidFill>
                <a:latin typeface="Arial"/>
              </a:defRPr>
            </a:pPr>
            <a:r>
              <a:t>• Ordinal Encoding:</a:t>
            </a:r>
          </a:p>
          <a:p>
            <a:pPr lvl="1">
              <a:spcAft>
                <a:spcPts val="800"/>
              </a:spcAft>
              <a:defRPr sz="1300" b="0">
                <a:solidFill>
                  <a:srgbClr val="1E1E1E"/>
                </a:solidFill>
                <a:latin typeface="Arial"/>
              </a:defRPr>
            </a:pPr>
            <a:r>
              <a:t>Maps ordinal variables (`loan_grade` A-G) directly to numeric equivalents (0-6) to preserve risk sequencing.</a:t>
            </a:r>
          </a:p>
          <a:p>
            <a:pPr>
              <a:spcAft>
                <a:spcPts val="800"/>
              </a:spcAft>
              <a:defRPr sz="1500" b="1">
                <a:solidFill>
                  <a:srgbClr val="1E1E1E"/>
                </a:solidFill>
                <a:latin typeface="Arial"/>
              </a:defRPr>
            </a:pPr>
            <a:r>
              <a:t>• Pipeline Save Integration:</a:t>
            </a:r>
          </a:p>
          <a:p>
            <a:pPr lvl="1">
              <a:spcAft>
                <a:spcPts val="800"/>
              </a:spcAft>
              <a:defRPr sz="1300" b="0">
                <a:solidFill>
                  <a:srgbClr val="1E1E1E"/>
                </a:solidFill>
                <a:latin typeface="Arial"/>
              </a:defRPr>
            </a:pPr>
            <a:r>
              <a:t>The final fitted pipelines are saved as single jobs using `joblib`. This ensures that downstream application inference uses the exact same scaling centers.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Preprocessing Pipeline</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800" b="1">
                <a:solidFill>
                  <a:srgbClr val="0070B9"/>
                </a:solidFill>
                <a:latin typeface="Arial"/>
              </a:defRPr>
            </a:pPr>
            <a:r>
              <a:t>Shared Scikit-Learn Preprocessing Pipeline</a:t>
            </a:r>
          </a:p>
          <a:p>
            <a:pPr>
              <a:spcAft>
                <a:spcPts val="800"/>
              </a:spcAft>
              <a:defRPr sz="1300" b="0">
                <a:solidFill>
                  <a:srgbClr val="1E1E1E"/>
                </a:solidFill>
                <a:latin typeface="Arial"/>
              </a:defRPr>
            </a:pPr>
            <a:r>
              <a:t>To ensure that raw and new applicant inputs are handled consistently, we build a standardized preprocessing pipeline.</a:t>
            </a:r>
          </a:p>
          <a:p>
            <a:pPr>
              <a:spcAft>
                <a:spcPts val="800"/>
              </a:spcAft>
              <a:defRPr sz="1500" b="1">
                <a:solidFill>
                  <a:srgbClr val="1E1E1E"/>
                </a:solidFill>
                <a:latin typeface="Arial"/>
              </a:defRPr>
            </a:pPr>
            <a:r>
              <a:t>• Numeric Features Scaling:</a:t>
            </a:r>
          </a:p>
          <a:p>
            <a:pPr lvl="1">
              <a:spcAft>
                <a:spcPts val="800"/>
              </a:spcAft>
              <a:defRPr sz="1300" b="0">
                <a:solidFill>
                  <a:srgbClr val="1E1E1E"/>
                </a:solidFill>
                <a:latin typeface="Arial"/>
              </a:defRPr>
            </a:pPr>
            <a:r>
              <a:t>Standardizes continuous inputs using Z-score scaling to assist distance-based models (such as Ridge or Logistic Regression):</a:t>
            </a:r>
          </a:p>
          <a:p>
            <a:pPr lvl="1">
              <a:spcAft>
                <a:spcPts val="800"/>
              </a:spcAft>
              <a:defRPr sz="1400" b="1">
                <a:solidFill>
                  <a:srgbClr val="1E1E1E"/>
                </a:solidFill>
                <a:latin typeface="Arial"/>
              </a:defRPr>
            </a:pPr>
            <a:r>
              <a:t>   z = (x - μ) / σ</a:t>
            </a:r>
          </a:p>
          <a:p>
            <a:pPr>
              <a:spcAft>
                <a:spcPts val="800"/>
              </a:spcAft>
              <a:defRPr sz="1500" b="1">
                <a:solidFill>
                  <a:srgbClr val="1E1E1E"/>
                </a:solidFill>
                <a:latin typeface="Arial"/>
              </a:defRPr>
            </a:pPr>
            <a:r>
              <a:t>• Nominal Categorical Encoding:</a:t>
            </a:r>
          </a:p>
          <a:p>
            <a:pPr lvl="1">
              <a:spcAft>
                <a:spcPts val="800"/>
              </a:spcAft>
              <a:defRPr sz="1300" b="0">
                <a:solidFill>
                  <a:srgbClr val="1E1E1E"/>
                </a:solidFill>
                <a:latin typeface="Arial"/>
              </a:defRPr>
            </a:pPr>
            <a:r>
              <a:t>Converts nominal categories (e.g. `person_home_ownership`, `loan_intent`) into numeric fields via One-Hot Encoding, preventing arbitrary ordering bias.</a:t>
            </a:r>
          </a:p>
          <a:p>
            <a:pPr>
              <a:spcAft>
                <a:spcPts val="800"/>
              </a:spcAft>
              <a:defRPr sz="1500" b="1">
                <a:solidFill>
                  <a:srgbClr val="1E1E1E"/>
                </a:solidFill>
                <a:latin typeface="Arial"/>
              </a:defRPr>
            </a:pPr>
            <a:r>
              <a:t>• Ordinal Encoding:</a:t>
            </a:r>
          </a:p>
          <a:p>
            <a:pPr lvl="1">
              <a:spcAft>
                <a:spcPts val="800"/>
              </a:spcAft>
              <a:defRPr sz="1300" b="0">
                <a:solidFill>
                  <a:srgbClr val="1E1E1E"/>
                </a:solidFill>
                <a:latin typeface="Arial"/>
              </a:defRPr>
            </a:pPr>
            <a:r>
              <a:t>Maps ordinal variables (`loan_grade` A-G) directly to numeric equivalents (0-6) to preserve risk sequencing.</a:t>
            </a:r>
          </a:p>
          <a:p>
            <a:pPr>
              <a:spcAft>
                <a:spcPts val="800"/>
              </a:spcAft>
              <a:defRPr sz="1500" b="1">
                <a:solidFill>
                  <a:srgbClr val="1E1E1E"/>
                </a:solidFill>
                <a:latin typeface="Arial"/>
              </a:defRPr>
            </a:pPr>
            <a:r>
              <a:t>• Pipeline Save Integration:</a:t>
            </a:r>
          </a:p>
          <a:p>
            <a:pPr lvl="1">
              <a:spcAft>
                <a:spcPts val="800"/>
              </a:spcAft>
              <a:defRPr sz="1300" b="0">
                <a:solidFill>
                  <a:srgbClr val="1E1E1E"/>
                </a:solidFill>
                <a:latin typeface="Arial"/>
              </a:defRPr>
            </a:pPr>
            <a:r>
              <a:t>The final fitted pipelines are saved as single jobs using `joblib`. This ensures that downstream application inference uses the exact same scaling centers.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Train-Test Partitioning</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Classification Data Splitting</a:t>
            </a:r>
          </a:p>
          <a:p>
            <a:pPr>
              <a:spcAft>
                <a:spcPts val="800"/>
              </a:spcAft>
              <a:defRPr sz="1300" b="0">
                <a:solidFill>
                  <a:srgbClr val="1E1E1E"/>
                </a:solidFill>
                <a:latin typeface="Arial"/>
              </a:defRPr>
            </a:pPr>
            <a:r>
              <a:t>• Split Ratio: 80% train and 20% validation test partition.</a:t>
            </a:r>
          </a:p>
          <a:p>
            <a:pPr lvl="1">
              <a:spcAft>
                <a:spcPts val="800"/>
              </a:spcAft>
              <a:defRPr sz="1300" b="0">
                <a:solidFill>
                  <a:srgbClr val="1E1E1E"/>
                </a:solidFill>
                <a:latin typeface="Arial"/>
              </a:defRPr>
            </a:pPr>
            <a:r>
              <a:t>• Stratified Sampling: Stratification is applied to binary classifications to maintain the 22.44% default rate in both subsets, preventing model evaluation bias.</a:t>
            </a:r>
          </a:p>
          <a:p>
            <a:pPr lvl="1">
              <a:spcAft>
                <a:spcPts val="800"/>
              </a:spcAft>
              <a:defRPr sz="1300" b="0">
                <a:solidFill>
                  <a:srgbClr val="1E1E1E"/>
                </a:solidFill>
                <a:latin typeface="Arial"/>
              </a:defRPr>
            </a:pPr>
            <a:r>
              <a:t>• Train Set: 23,653 observations; Test Set: 5,914 observations.</a:t>
            </a:r>
          </a:p>
          <a:p>
            <a:pPr>
              <a:spcAft>
                <a:spcPts val="800"/>
              </a:spcAft>
              <a:defRPr sz="1600" b="1">
                <a:solidFill>
                  <a:srgbClr val="0070B9"/>
                </a:solidFill>
                <a:latin typeface="Arial"/>
              </a:defRPr>
            </a:pPr>
            <a:r>
              <a:t>Regression Data Splitting</a:t>
            </a:r>
          </a:p>
          <a:p>
            <a:pPr lvl="1">
              <a:spcAft>
                <a:spcPts val="800"/>
              </a:spcAft>
              <a:defRPr sz="1300" b="0">
                <a:solidFill>
                  <a:srgbClr val="1E1E1E"/>
                </a:solidFill>
                <a:latin typeface="Arial"/>
              </a:defRPr>
            </a:pPr>
            <a:r>
              <a:t>• Target Groups: Regressions are fitted specifically on non-defaulting loans (18,344 train, 4,587 test) to establish standard lending rate behaviors.</a:t>
            </a:r>
          </a:p>
          <a:p>
            <a:pPr lvl="1">
              <a:spcAft>
                <a:spcPts val="800"/>
              </a:spcAft>
              <a:defRPr sz="1300" b="0">
                <a:solidFill>
                  <a:srgbClr val="1E1E1E"/>
                </a:solidFill>
                <a:latin typeface="Arial"/>
              </a:defRPr>
            </a:pPr>
            <a:r>
              <a:t>• Reproducibility: Seed set at `RANDOM_STATE = 42` to ensure consistent data splits across notebooks.</a:t>
            </a:r>
          </a:p>
        </p:txBody>
      </p:sp>
      <p:graphicFrame>
        <p:nvGraphicFramePr>
          <p:cNvPr id="4" name="Table 3"/>
          <p:cNvGraphicFramePr>
            <a:graphicFrameLocks noGrp="1"/>
          </p:cNvGraphicFramePr>
          <p:nvPr/>
        </p:nvGraphicFramePr>
        <p:xfrm>
          <a:off x="6217920" y="1965960"/>
          <a:ext cx="5486400" cy="4114800"/>
        </p:xfrm>
        <a:graphic>
          <a:graphicData uri="http://schemas.openxmlformats.org/drawingml/2006/table">
            <a:tbl>
              <a:tblPr firstRow="1" bandRow="1">
                <a:tableStyleId>{5C22544A-7EE6-4342-B048-85BDC9FD1C3A}</a:tableStyleId>
              </a:tblPr>
              <a:tblGrid>
                <a:gridCol w="1645920"/>
                <a:gridCol w="1280160"/>
                <a:gridCol w="1280160"/>
                <a:gridCol w="1280160"/>
              </a:tblGrid>
              <a:tr h="1028700">
                <a:tc>
                  <a:txBody>
                    <a:bodyPr/>
                    <a:lstStyle/>
                    <a:p>
                      <a:pPr algn="ctr">
                        <a:defRPr sz="1100" b="1">
                          <a:solidFill>
                            <a:srgbClr val="FFFFFF"/>
                          </a:solidFill>
                          <a:latin typeface="Arial"/>
                        </a:defRPr>
                      </a:pPr>
                      <a:r>
                        <a:t>Data Partition</a:t>
                      </a:r>
                    </a:p>
                  </a:txBody>
                  <a:tcPr>
                    <a:solidFill>
                      <a:srgbClr val="0070B9"/>
                    </a:solidFill>
                  </a:tcPr>
                </a:tc>
                <a:tc>
                  <a:txBody>
                    <a:bodyPr/>
                    <a:lstStyle/>
                    <a:p>
                      <a:pPr algn="ctr">
                        <a:defRPr sz="1100" b="1">
                          <a:solidFill>
                            <a:srgbClr val="FFFFFF"/>
                          </a:solidFill>
                          <a:latin typeface="Arial"/>
                        </a:defRPr>
                      </a:pPr>
                      <a:r>
                        <a:t>Classification Rows</a:t>
                      </a:r>
                    </a:p>
                  </a:txBody>
                  <a:tcPr>
                    <a:solidFill>
                      <a:srgbClr val="0070B9"/>
                    </a:solidFill>
                  </a:tcPr>
                </a:tc>
                <a:tc>
                  <a:txBody>
                    <a:bodyPr/>
                    <a:lstStyle/>
                    <a:p>
                      <a:pPr algn="ctr">
                        <a:defRPr sz="1100" b="1">
                          <a:solidFill>
                            <a:srgbClr val="FFFFFF"/>
                          </a:solidFill>
                          <a:latin typeface="Arial"/>
                        </a:defRPr>
                      </a:pPr>
                      <a:r>
                        <a:t>Regression Rows</a:t>
                      </a:r>
                    </a:p>
                  </a:txBody>
                  <a:tcPr>
                    <a:solidFill>
                      <a:srgbClr val="0070B9"/>
                    </a:solidFill>
                  </a:tcPr>
                </a:tc>
                <a:tc>
                  <a:txBody>
                    <a:bodyPr/>
                    <a:lstStyle/>
                    <a:p>
                      <a:pPr algn="ctr">
                        <a:defRPr sz="1100" b="1">
                          <a:solidFill>
                            <a:srgbClr val="FFFFFF"/>
                          </a:solidFill>
                          <a:latin typeface="Arial"/>
                        </a:defRPr>
                      </a:pPr>
                      <a:r>
                        <a:t>Default Rate %</a:t>
                      </a:r>
                    </a:p>
                  </a:txBody>
                  <a:tcPr>
                    <a:solidFill>
                      <a:srgbClr val="0070B9"/>
                    </a:solidFill>
                  </a:tcPr>
                </a:tc>
              </a:tr>
              <a:tr h="1028700">
                <a:tc>
                  <a:txBody>
                    <a:bodyPr/>
                    <a:lstStyle/>
                    <a:p>
                      <a:pPr algn="ctr">
                        <a:defRPr sz="950">
                          <a:solidFill>
                            <a:srgbClr val="323232"/>
                          </a:solidFill>
                          <a:latin typeface="Arial"/>
                        </a:defRPr>
                      </a:pPr>
                      <a:r>
                        <a:t>Training Set</a:t>
                      </a:r>
                    </a:p>
                  </a:txBody>
                  <a:tcPr>
                    <a:solidFill>
                      <a:srgbClr val="F5F5F5"/>
                    </a:solidFill>
                  </a:tcPr>
                </a:tc>
                <a:tc>
                  <a:txBody>
                    <a:bodyPr/>
                    <a:lstStyle/>
                    <a:p>
                      <a:pPr algn="ctr">
                        <a:defRPr sz="950">
                          <a:solidFill>
                            <a:srgbClr val="323232"/>
                          </a:solidFill>
                          <a:latin typeface="Arial"/>
                        </a:defRPr>
                      </a:pPr>
                      <a:r>
                        <a:t>23,653</a:t>
                      </a:r>
                    </a:p>
                  </a:txBody>
                  <a:tcPr>
                    <a:solidFill>
                      <a:srgbClr val="F5F5F5"/>
                    </a:solidFill>
                  </a:tcPr>
                </a:tc>
                <a:tc>
                  <a:txBody>
                    <a:bodyPr/>
                    <a:lstStyle/>
                    <a:p>
                      <a:pPr algn="ctr">
                        <a:defRPr sz="950">
                          <a:solidFill>
                            <a:srgbClr val="323232"/>
                          </a:solidFill>
                          <a:latin typeface="Arial"/>
                        </a:defRPr>
                      </a:pPr>
                      <a:r>
                        <a:t>18,344</a:t>
                      </a:r>
                    </a:p>
                  </a:txBody>
                  <a:tcPr>
                    <a:solidFill>
                      <a:srgbClr val="F5F5F5"/>
                    </a:solidFill>
                  </a:tcPr>
                </a:tc>
                <a:tc>
                  <a:txBody>
                    <a:bodyPr/>
                    <a:lstStyle/>
                    <a:p>
                      <a:pPr algn="ctr">
                        <a:defRPr sz="950">
                          <a:solidFill>
                            <a:srgbClr val="323232"/>
                          </a:solidFill>
                          <a:latin typeface="Arial"/>
                        </a:defRPr>
                      </a:pPr>
                      <a:r>
                        <a:t>22.44%</a:t>
                      </a:r>
                    </a:p>
                  </a:txBody>
                  <a:tcPr>
                    <a:solidFill>
                      <a:srgbClr val="F5F5F5"/>
                    </a:solidFill>
                  </a:tcPr>
                </a:tc>
              </a:tr>
              <a:tr h="1028700">
                <a:tc>
                  <a:txBody>
                    <a:bodyPr/>
                    <a:lstStyle/>
                    <a:p>
                      <a:pPr algn="ctr">
                        <a:defRPr sz="950">
                          <a:solidFill>
                            <a:srgbClr val="323232"/>
                          </a:solidFill>
                          <a:latin typeface="Arial"/>
                        </a:defRPr>
                      </a:pPr>
                      <a:r>
                        <a:t>Test/Val Set</a:t>
                      </a:r>
                    </a:p>
                  </a:txBody>
                  <a:tcPr>
                    <a:solidFill>
                      <a:srgbClr val="FFFFFF"/>
                    </a:solidFill>
                  </a:tcPr>
                </a:tc>
                <a:tc>
                  <a:txBody>
                    <a:bodyPr/>
                    <a:lstStyle/>
                    <a:p>
                      <a:pPr algn="ctr">
                        <a:defRPr sz="950">
                          <a:solidFill>
                            <a:srgbClr val="323232"/>
                          </a:solidFill>
                          <a:latin typeface="Arial"/>
                        </a:defRPr>
                      </a:pPr>
                      <a:r>
                        <a:t>5,914</a:t>
                      </a:r>
                    </a:p>
                  </a:txBody>
                  <a:tcPr>
                    <a:solidFill>
                      <a:srgbClr val="FFFFFF"/>
                    </a:solidFill>
                  </a:tcPr>
                </a:tc>
                <a:tc>
                  <a:txBody>
                    <a:bodyPr/>
                    <a:lstStyle/>
                    <a:p>
                      <a:pPr algn="ctr">
                        <a:defRPr sz="950">
                          <a:solidFill>
                            <a:srgbClr val="323232"/>
                          </a:solidFill>
                          <a:latin typeface="Arial"/>
                        </a:defRPr>
                      </a:pPr>
                      <a:r>
                        <a:t>4,587</a:t>
                      </a:r>
                    </a:p>
                  </a:txBody>
                  <a:tcPr>
                    <a:solidFill>
                      <a:srgbClr val="FFFFFF"/>
                    </a:solidFill>
                  </a:tcPr>
                </a:tc>
                <a:tc>
                  <a:txBody>
                    <a:bodyPr/>
                    <a:lstStyle/>
                    <a:p>
                      <a:pPr algn="ctr">
                        <a:defRPr sz="950">
                          <a:solidFill>
                            <a:srgbClr val="323232"/>
                          </a:solidFill>
                          <a:latin typeface="Arial"/>
                        </a:defRPr>
                      </a:pPr>
                      <a:r>
                        <a:t>22.44%</a:t>
                      </a:r>
                    </a:p>
                  </a:txBody>
                  <a:tcPr>
                    <a:solidFill>
                      <a:srgbClr val="FFFFFF"/>
                    </a:solidFill>
                  </a:tcPr>
                </a:tc>
              </a:tr>
              <a:tr h="1028700">
                <a:tc>
                  <a:txBody>
                    <a:bodyPr/>
                    <a:lstStyle/>
                    <a:p>
                      <a:pPr algn="ctr">
                        <a:defRPr sz="950">
                          <a:solidFill>
                            <a:srgbClr val="323232"/>
                          </a:solidFill>
                          <a:latin typeface="Arial"/>
                        </a:defRPr>
                      </a:pPr>
                      <a:r>
                        <a:t>Total Dataset</a:t>
                      </a:r>
                    </a:p>
                  </a:txBody>
                  <a:tcPr>
                    <a:solidFill>
                      <a:srgbClr val="F5F5F5"/>
                    </a:solidFill>
                  </a:tcPr>
                </a:tc>
                <a:tc>
                  <a:txBody>
                    <a:bodyPr/>
                    <a:lstStyle/>
                    <a:p>
                      <a:pPr algn="ctr">
                        <a:defRPr sz="950">
                          <a:solidFill>
                            <a:srgbClr val="323232"/>
                          </a:solidFill>
                          <a:latin typeface="Arial"/>
                        </a:defRPr>
                      </a:pPr>
                      <a:r>
                        <a:t>29,567</a:t>
                      </a:r>
                    </a:p>
                  </a:txBody>
                  <a:tcPr>
                    <a:solidFill>
                      <a:srgbClr val="F5F5F5"/>
                    </a:solidFill>
                  </a:tcPr>
                </a:tc>
                <a:tc>
                  <a:txBody>
                    <a:bodyPr/>
                    <a:lstStyle/>
                    <a:p>
                      <a:pPr algn="ctr">
                        <a:defRPr sz="950">
                          <a:solidFill>
                            <a:srgbClr val="323232"/>
                          </a:solidFill>
                          <a:latin typeface="Arial"/>
                        </a:defRPr>
                      </a:pPr>
                      <a:r>
                        <a:t>22,931</a:t>
                      </a:r>
                    </a:p>
                  </a:txBody>
                  <a:tcPr>
                    <a:solidFill>
                      <a:srgbClr val="F5F5F5"/>
                    </a:solidFill>
                  </a:tcPr>
                </a:tc>
                <a:tc>
                  <a:txBody>
                    <a:bodyPr/>
                    <a:lstStyle/>
                    <a:p>
                      <a:pPr algn="ctr">
                        <a:defRPr sz="950">
                          <a:solidFill>
                            <a:srgbClr val="323232"/>
                          </a:solidFill>
                          <a:latin typeface="Arial"/>
                        </a:defRPr>
                      </a:pPr>
                      <a:r>
                        <a:t>22.44%</a:t>
                      </a:r>
                    </a:p>
                  </a:txBody>
                  <a:tcPr>
                    <a:solidFill>
                      <a:srgbClr val="F5F5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Train-Test Partitioning</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Classification Data Splitting</a:t>
            </a:r>
          </a:p>
          <a:p>
            <a:pPr>
              <a:spcAft>
                <a:spcPts val="800"/>
              </a:spcAft>
              <a:defRPr sz="1300" b="0">
                <a:solidFill>
                  <a:srgbClr val="1E1E1E"/>
                </a:solidFill>
                <a:latin typeface="Arial"/>
              </a:defRPr>
            </a:pPr>
            <a:r>
              <a:t>• Split Ratio: 80% train and 20% validation test partition.</a:t>
            </a:r>
          </a:p>
          <a:p>
            <a:pPr lvl="1">
              <a:spcAft>
                <a:spcPts val="800"/>
              </a:spcAft>
              <a:defRPr sz="1300" b="0">
                <a:solidFill>
                  <a:srgbClr val="1E1E1E"/>
                </a:solidFill>
                <a:latin typeface="Arial"/>
              </a:defRPr>
            </a:pPr>
            <a:r>
              <a:t>• Stratified Sampling: Stratification is applied to binary classifications to maintain the 22.44% default rate in both subsets, preventing model evaluation bias.</a:t>
            </a:r>
          </a:p>
          <a:p>
            <a:pPr lvl="1">
              <a:spcAft>
                <a:spcPts val="800"/>
              </a:spcAft>
              <a:defRPr sz="1300" b="0">
                <a:solidFill>
                  <a:srgbClr val="1E1E1E"/>
                </a:solidFill>
                <a:latin typeface="Arial"/>
              </a:defRPr>
            </a:pPr>
            <a:r>
              <a:t>• Train Set: 23,653 observations; Test Set: 5,914 observations.</a:t>
            </a:r>
          </a:p>
          <a:p>
            <a:pPr>
              <a:spcAft>
                <a:spcPts val="800"/>
              </a:spcAft>
              <a:defRPr sz="1600" b="1">
                <a:solidFill>
                  <a:srgbClr val="0070B9"/>
                </a:solidFill>
                <a:latin typeface="Arial"/>
              </a:defRPr>
            </a:pPr>
            <a:r>
              <a:t>Regression Data Splitting</a:t>
            </a:r>
          </a:p>
          <a:p>
            <a:pPr lvl="1">
              <a:spcAft>
                <a:spcPts val="800"/>
              </a:spcAft>
              <a:defRPr sz="1300" b="0">
                <a:solidFill>
                  <a:srgbClr val="1E1E1E"/>
                </a:solidFill>
                <a:latin typeface="Arial"/>
              </a:defRPr>
            </a:pPr>
            <a:r>
              <a:t>• Target Groups: Regressions are fitted specifically on non-defaulting loans (18,344 train, 4,587 test) to establish standard lending rate behaviors.</a:t>
            </a:r>
          </a:p>
          <a:p>
            <a:pPr lvl="1">
              <a:spcAft>
                <a:spcPts val="800"/>
              </a:spcAft>
              <a:defRPr sz="1300" b="0">
                <a:solidFill>
                  <a:srgbClr val="1E1E1E"/>
                </a:solidFill>
                <a:latin typeface="Arial"/>
              </a:defRPr>
            </a:pPr>
            <a:r>
              <a:t>• Reproducibility: Seed set at `RANDOM_STATE = 42` to ensure consistent data splits across notebooks.</a:t>
            </a:r>
          </a:p>
        </p:txBody>
      </p:sp>
      <p:graphicFrame>
        <p:nvGraphicFramePr>
          <p:cNvPr id="4" name="Table 3"/>
          <p:cNvGraphicFramePr>
            <a:graphicFrameLocks noGrp="1"/>
          </p:cNvGraphicFramePr>
          <p:nvPr/>
        </p:nvGraphicFramePr>
        <p:xfrm>
          <a:off x="6217920" y="1965960"/>
          <a:ext cx="5486400" cy="4114800"/>
        </p:xfrm>
        <a:graphic>
          <a:graphicData uri="http://schemas.openxmlformats.org/drawingml/2006/table">
            <a:tbl>
              <a:tblPr firstRow="1" bandRow="1">
                <a:tableStyleId>{5C22544A-7EE6-4342-B048-85BDC9FD1C3A}</a:tableStyleId>
              </a:tblPr>
              <a:tblGrid>
                <a:gridCol w="1645920"/>
                <a:gridCol w="1280160"/>
                <a:gridCol w="1280160"/>
                <a:gridCol w="1280160"/>
              </a:tblGrid>
              <a:tr h="1028700">
                <a:tc>
                  <a:txBody>
                    <a:bodyPr/>
                    <a:lstStyle/>
                    <a:p>
                      <a:pPr algn="ctr">
                        <a:defRPr sz="1100" b="1">
                          <a:solidFill>
                            <a:srgbClr val="FFFFFF"/>
                          </a:solidFill>
                          <a:latin typeface="Arial"/>
                        </a:defRPr>
                      </a:pPr>
                      <a:r>
                        <a:t>Data Partition</a:t>
                      </a:r>
                    </a:p>
                  </a:txBody>
                  <a:tcPr>
                    <a:solidFill>
                      <a:srgbClr val="0070B9"/>
                    </a:solidFill>
                  </a:tcPr>
                </a:tc>
                <a:tc>
                  <a:txBody>
                    <a:bodyPr/>
                    <a:lstStyle/>
                    <a:p>
                      <a:pPr algn="ctr">
                        <a:defRPr sz="1100" b="1">
                          <a:solidFill>
                            <a:srgbClr val="FFFFFF"/>
                          </a:solidFill>
                          <a:latin typeface="Arial"/>
                        </a:defRPr>
                      </a:pPr>
                      <a:r>
                        <a:t>Classification Rows</a:t>
                      </a:r>
                    </a:p>
                  </a:txBody>
                  <a:tcPr>
                    <a:solidFill>
                      <a:srgbClr val="0070B9"/>
                    </a:solidFill>
                  </a:tcPr>
                </a:tc>
                <a:tc>
                  <a:txBody>
                    <a:bodyPr/>
                    <a:lstStyle/>
                    <a:p>
                      <a:pPr algn="ctr">
                        <a:defRPr sz="1100" b="1">
                          <a:solidFill>
                            <a:srgbClr val="FFFFFF"/>
                          </a:solidFill>
                          <a:latin typeface="Arial"/>
                        </a:defRPr>
                      </a:pPr>
                      <a:r>
                        <a:t>Regression Rows</a:t>
                      </a:r>
                    </a:p>
                  </a:txBody>
                  <a:tcPr>
                    <a:solidFill>
                      <a:srgbClr val="0070B9"/>
                    </a:solidFill>
                  </a:tcPr>
                </a:tc>
                <a:tc>
                  <a:txBody>
                    <a:bodyPr/>
                    <a:lstStyle/>
                    <a:p>
                      <a:pPr algn="ctr">
                        <a:defRPr sz="1100" b="1">
                          <a:solidFill>
                            <a:srgbClr val="FFFFFF"/>
                          </a:solidFill>
                          <a:latin typeface="Arial"/>
                        </a:defRPr>
                      </a:pPr>
                      <a:r>
                        <a:t>Default Rate %</a:t>
                      </a:r>
                    </a:p>
                  </a:txBody>
                  <a:tcPr>
                    <a:solidFill>
                      <a:srgbClr val="0070B9"/>
                    </a:solidFill>
                  </a:tcPr>
                </a:tc>
              </a:tr>
              <a:tr h="1028700">
                <a:tc>
                  <a:txBody>
                    <a:bodyPr/>
                    <a:lstStyle/>
                    <a:p>
                      <a:pPr algn="ctr">
                        <a:defRPr sz="950">
                          <a:solidFill>
                            <a:srgbClr val="323232"/>
                          </a:solidFill>
                          <a:latin typeface="Arial"/>
                        </a:defRPr>
                      </a:pPr>
                      <a:r>
                        <a:t>Training Set</a:t>
                      </a:r>
                    </a:p>
                  </a:txBody>
                  <a:tcPr>
                    <a:solidFill>
                      <a:srgbClr val="F5F5F5"/>
                    </a:solidFill>
                  </a:tcPr>
                </a:tc>
                <a:tc>
                  <a:txBody>
                    <a:bodyPr/>
                    <a:lstStyle/>
                    <a:p>
                      <a:pPr algn="ctr">
                        <a:defRPr sz="950">
                          <a:solidFill>
                            <a:srgbClr val="323232"/>
                          </a:solidFill>
                          <a:latin typeface="Arial"/>
                        </a:defRPr>
                      </a:pPr>
                      <a:r>
                        <a:t>23,653</a:t>
                      </a:r>
                    </a:p>
                  </a:txBody>
                  <a:tcPr>
                    <a:solidFill>
                      <a:srgbClr val="F5F5F5"/>
                    </a:solidFill>
                  </a:tcPr>
                </a:tc>
                <a:tc>
                  <a:txBody>
                    <a:bodyPr/>
                    <a:lstStyle/>
                    <a:p>
                      <a:pPr algn="ctr">
                        <a:defRPr sz="950">
                          <a:solidFill>
                            <a:srgbClr val="323232"/>
                          </a:solidFill>
                          <a:latin typeface="Arial"/>
                        </a:defRPr>
                      </a:pPr>
                      <a:r>
                        <a:t>18,344</a:t>
                      </a:r>
                    </a:p>
                  </a:txBody>
                  <a:tcPr>
                    <a:solidFill>
                      <a:srgbClr val="F5F5F5"/>
                    </a:solidFill>
                  </a:tcPr>
                </a:tc>
                <a:tc>
                  <a:txBody>
                    <a:bodyPr/>
                    <a:lstStyle/>
                    <a:p>
                      <a:pPr algn="ctr">
                        <a:defRPr sz="950">
                          <a:solidFill>
                            <a:srgbClr val="323232"/>
                          </a:solidFill>
                          <a:latin typeface="Arial"/>
                        </a:defRPr>
                      </a:pPr>
                      <a:r>
                        <a:t>22.44%</a:t>
                      </a:r>
                    </a:p>
                  </a:txBody>
                  <a:tcPr>
                    <a:solidFill>
                      <a:srgbClr val="F5F5F5"/>
                    </a:solidFill>
                  </a:tcPr>
                </a:tc>
              </a:tr>
              <a:tr h="1028700">
                <a:tc>
                  <a:txBody>
                    <a:bodyPr/>
                    <a:lstStyle/>
                    <a:p>
                      <a:pPr algn="ctr">
                        <a:defRPr sz="950">
                          <a:solidFill>
                            <a:srgbClr val="323232"/>
                          </a:solidFill>
                          <a:latin typeface="Arial"/>
                        </a:defRPr>
                      </a:pPr>
                      <a:r>
                        <a:t>Test/Val Set</a:t>
                      </a:r>
                    </a:p>
                  </a:txBody>
                  <a:tcPr>
                    <a:solidFill>
                      <a:srgbClr val="FFFFFF"/>
                    </a:solidFill>
                  </a:tcPr>
                </a:tc>
                <a:tc>
                  <a:txBody>
                    <a:bodyPr/>
                    <a:lstStyle/>
                    <a:p>
                      <a:pPr algn="ctr">
                        <a:defRPr sz="950">
                          <a:solidFill>
                            <a:srgbClr val="323232"/>
                          </a:solidFill>
                          <a:latin typeface="Arial"/>
                        </a:defRPr>
                      </a:pPr>
                      <a:r>
                        <a:t>5,914</a:t>
                      </a:r>
                    </a:p>
                  </a:txBody>
                  <a:tcPr>
                    <a:solidFill>
                      <a:srgbClr val="FFFFFF"/>
                    </a:solidFill>
                  </a:tcPr>
                </a:tc>
                <a:tc>
                  <a:txBody>
                    <a:bodyPr/>
                    <a:lstStyle/>
                    <a:p>
                      <a:pPr algn="ctr">
                        <a:defRPr sz="950">
                          <a:solidFill>
                            <a:srgbClr val="323232"/>
                          </a:solidFill>
                          <a:latin typeface="Arial"/>
                        </a:defRPr>
                      </a:pPr>
                      <a:r>
                        <a:t>4,587</a:t>
                      </a:r>
                    </a:p>
                  </a:txBody>
                  <a:tcPr>
                    <a:solidFill>
                      <a:srgbClr val="FFFFFF"/>
                    </a:solidFill>
                  </a:tcPr>
                </a:tc>
                <a:tc>
                  <a:txBody>
                    <a:bodyPr/>
                    <a:lstStyle/>
                    <a:p>
                      <a:pPr algn="ctr">
                        <a:defRPr sz="950">
                          <a:solidFill>
                            <a:srgbClr val="323232"/>
                          </a:solidFill>
                          <a:latin typeface="Arial"/>
                        </a:defRPr>
                      </a:pPr>
                      <a:r>
                        <a:t>22.44%</a:t>
                      </a:r>
                    </a:p>
                  </a:txBody>
                  <a:tcPr>
                    <a:solidFill>
                      <a:srgbClr val="FFFFFF"/>
                    </a:solidFill>
                  </a:tcPr>
                </a:tc>
              </a:tr>
              <a:tr h="1028700">
                <a:tc>
                  <a:txBody>
                    <a:bodyPr/>
                    <a:lstStyle/>
                    <a:p>
                      <a:pPr algn="ctr">
                        <a:defRPr sz="950">
                          <a:solidFill>
                            <a:srgbClr val="323232"/>
                          </a:solidFill>
                          <a:latin typeface="Arial"/>
                        </a:defRPr>
                      </a:pPr>
                      <a:r>
                        <a:t>Total Dataset</a:t>
                      </a:r>
                    </a:p>
                  </a:txBody>
                  <a:tcPr>
                    <a:solidFill>
                      <a:srgbClr val="F5F5F5"/>
                    </a:solidFill>
                  </a:tcPr>
                </a:tc>
                <a:tc>
                  <a:txBody>
                    <a:bodyPr/>
                    <a:lstStyle/>
                    <a:p>
                      <a:pPr algn="ctr">
                        <a:defRPr sz="950">
                          <a:solidFill>
                            <a:srgbClr val="323232"/>
                          </a:solidFill>
                          <a:latin typeface="Arial"/>
                        </a:defRPr>
                      </a:pPr>
                      <a:r>
                        <a:t>29,567</a:t>
                      </a:r>
                    </a:p>
                  </a:txBody>
                  <a:tcPr>
                    <a:solidFill>
                      <a:srgbClr val="F5F5F5"/>
                    </a:solidFill>
                  </a:tcPr>
                </a:tc>
                <a:tc>
                  <a:txBody>
                    <a:bodyPr/>
                    <a:lstStyle/>
                    <a:p>
                      <a:pPr algn="ctr">
                        <a:defRPr sz="950">
                          <a:solidFill>
                            <a:srgbClr val="323232"/>
                          </a:solidFill>
                          <a:latin typeface="Arial"/>
                        </a:defRPr>
                      </a:pPr>
                      <a:r>
                        <a:t>22,931</a:t>
                      </a:r>
                    </a:p>
                  </a:txBody>
                  <a:tcPr>
                    <a:solidFill>
                      <a:srgbClr val="F5F5F5"/>
                    </a:solidFill>
                  </a:tcPr>
                </a:tc>
                <a:tc>
                  <a:txBody>
                    <a:bodyPr/>
                    <a:lstStyle/>
                    <a:p>
                      <a:pPr algn="ctr">
                        <a:defRPr sz="950">
                          <a:solidFill>
                            <a:srgbClr val="323232"/>
                          </a:solidFill>
                          <a:latin typeface="Arial"/>
                        </a:defRPr>
                      </a:pPr>
                      <a:r>
                        <a:t>22.44%</a:t>
                      </a:r>
                    </a:p>
                  </a:txBody>
                  <a:tcPr>
                    <a:solidFill>
                      <a:srgbClr val="F5F5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Logistic Regression</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Logistic Regression Classifier</a:t>
            </a:r>
          </a:p>
          <a:p>
            <a:pPr>
              <a:spcAft>
                <a:spcPts val="800"/>
              </a:spcAft>
              <a:defRPr sz="1300" b="0">
                <a:solidFill>
                  <a:srgbClr val="1E1E1E"/>
                </a:solidFill>
                <a:latin typeface="Arial"/>
              </a:defRPr>
            </a:pPr>
            <a:r>
              <a:t>• Rationale: Serves as the classic parametric baseline for default classification.</a:t>
            </a:r>
          </a:p>
          <a:p>
            <a:pPr lvl="1">
              <a:spcAft>
                <a:spcPts val="800"/>
              </a:spcAft>
              <a:defRPr sz="1300" b="0">
                <a:solidFill>
                  <a:srgbClr val="1E1E1E"/>
                </a:solidFill>
                <a:latin typeface="Arial"/>
              </a:defRPr>
            </a:pPr>
            <a:r>
              <a:t>• Formulates the probability of default using the logistic link function:</a:t>
            </a:r>
          </a:p>
          <a:p>
            <a:pPr lvl="2">
              <a:spcAft>
                <a:spcPts val="800"/>
              </a:spcAft>
              <a:defRPr sz="1400" b="1">
                <a:solidFill>
                  <a:srgbClr val="1E1E1E"/>
                </a:solidFill>
                <a:latin typeface="Arial"/>
              </a:defRPr>
            </a:pPr>
            <a:r>
              <a:t>   P(y = 1 | x) = 1 / (1 + e^-(β_0 + β_1*x_1 + ...))</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Solver: L-BFGS optimization algorithm.</a:t>
            </a:r>
          </a:p>
          <a:p>
            <a:pPr lvl="1">
              <a:spcAft>
                <a:spcPts val="800"/>
              </a:spcAft>
              <a:defRPr sz="1200" b="0">
                <a:solidFill>
                  <a:srgbClr val="1E1E1E"/>
                </a:solidFill>
                <a:latin typeface="Arial"/>
              </a:defRPr>
            </a:pPr>
            <a:r>
              <a:t>   - Regularization: L2 penalty default.</a:t>
            </a:r>
          </a:p>
          <a:p>
            <a:pPr lvl="1">
              <a:spcAft>
                <a:spcPts val="800"/>
              </a:spcAft>
              <a:defRPr sz="1200" b="0">
                <a:solidFill>
                  <a:srgbClr val="1E1E1E"/>
                </a:solidFill>
                <a:latin typeface="Arial"/>
              </a:defRPr>
            </a:pPr>
            <a:r>
              <a:t>   - Class Balancing: Enforced `class_weight='balanced'`.</a:t>
            </a:r>
          </a:p>
          <a:p>
            <a:pPr lvl="1">
              <a:spcAft>
                <a:spcPts val="800"/>
              </a:spcAft>
              <a:defRPr sz="1300" b="0">
                <a:solidFill>
                  <a:srgbClr val="1E1E1E"/>
                </a:solidFill>
                <a:latin typeface="Arial"/>
              </a:defRPr>
            </a:pPr>
            <a:r>
              <a:t>• Balances class weighting: Assigns higher weights to default cases to correct for the 22.4% imbalance, forcing the solver to focus on minority-class errors.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Logistic Regression</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Logistic Regression Classifier</a:t>
            </a:r>
          </a:p>
          <a:p>
            <a:pPr>
              <a:spcAft>
                <a:spcPts val="800"/>
              </a:spcAft>
              <a:defRPr sz="1300" b="0">
                <a:solidFill>
                  <a:srgbClr val="1E1E1E"/>
                </a:solidFill>
                <a:latin typeface="Arial"/>
              </a:defRPr>
            </a:pPr>
            <a:r>
              <a:t>• Rationale: Serves as the classic parametric baseline for default classification.</a:t>
            </a:r>
          </a:p>
          <a:p>
            <a:pPr lvl="1">
              <a:spcAft>
                <a:spcPts val="800"/>
              </a:spcAft>
              <a:defRPr sz="1300" b="0">
                <a:solidFill>
                  <a:srgbClr val="1E1E1E"/>
                </a:solidFill>
                <a:latin typeface="Arial"/>
              </a:defRPr>
            </a:pPr>
            <a:r>
              <a:t>• Formulates the probability of default using the logistic link function:</a:t>
            </a:r>
          </a:p>
          <a:p>
            <a:pPr lvl="2">
              <a:spcAft>
                <a:spcPts val="800"/>
              </a:spcAft>
              <a:defRPr sz="1400" b="1">
                <a:solidFill>
                  <a:srgbClr val="1E1E1E"/>
                </a:solidFill>
                <a:latin typeface="Arial"/>
              </a:defRPr>
            </a:pPr>
            <a:r>
              <a:t>   P(y = 1 | x) = 1 / (1 + e^-(β_0 + β_1*x_1 + ...))</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Solver: L-BFGS optimization algorithm.</a:t>
            </a:r>
          </a:p>
          <a:p>
            <a:pPr lvl="1">
              <a:spcAft>
                <a:spcPts val="800"/>
              </a:spcAft>
              <a:defRPr sz="1200" b="0">
                <a:solidFill>
                  <a:srgbClr val="1E1E1E"/>
                </a:solidFill>
                <a:latin typeface="Arial"/>
              </a:defRPr>
            </a:pPr>
            <a:r>
              <a:t>   - Regularization: L2 penalty default.</a:t>
            </a:r>
          </a:p>
          <a:p>
            <a:pPr lvl="1">
              <a:spcAft>
                <a:spcPts val="800"/>
              </a:spcAft>
              <a:defRPr sz="1200" b="0">
                <a:solidFill>
                  <a:srgbClr val="1E1E1E"/>
                </a:solidFill>
                <a:latin typeface="Arial"/>
              </a:defRPr>
            </a:pPr>
            <a:r>
              <a:t>   - Class Balancing: Enforced `class_weight='balanced'`.</a:t>
            </a:r>
          </a:p>
          <a:p>
            <a:pPr lvl="1">
              <a:spcAft>
                <a:spcPts val="800"/>
              </a:spcAft>
              <a:defRPr sz="1300" b="0">
                <a:solidFill>
                  <a:srgbClr val="1E1E1E"/>
                </a:solidFill>
                <a:latin typeface="Arial"/>
              </a:defRPr>
            </a:pPr>
            <a:r>
              <a:t>• Balances class weighting: Assigns higher weights to default cases to correct for the 22.4% imbalance, forcing the solver to focus on minority-class errors.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Random Forest</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Random Forest Classifier</a:t>
            </a:r>
          </a:p>
          <a:p>
            <a:pPr>
              <a:spcAft>
                <a:spcPts val="800"/>
              </a:spcAft>
              <a:defRPr sz="1300" b="0">
                <a:solidFill>
                  <a:srgbClr val="1E1E1E"/>
                </a:solidFill>
                <a:latin typeface="Arial"/>
              </a:defRPr>
            </a:pPr>
            <a:r>
              <a:t>• Rationale: Non-parametric tree ensemble model. Bypasses linear assumptions by constructing independent decision trees.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`n_estimators = 300`: Generates 300 decision trees to average predictions and reduce variance.</a:t>
            </a:r>
          </a:p>
          <a:p>
            <a:pPr lvl="1">
              <a:spcAft>
                <a:spcPts val="800"/>
              </a:spcAft>
              <a:defRPr sz="1200" b="0">
                <a:solidFill>
                  <a:srgbClr val="1E1E1E"/>
                </a:solidFill>
                <a:latin typeface="Arial"/>
              </a:defRPr>
            </a:pPr>
            <a:r>
              <a:t>   - `class_weight = 'balanced'`: Enforces balanced node splitting to capture default indicators.</a:t>
            </a:r>
          </a:p>
          <a:p>
            <a:pPr lvl="1">
              <a:spcAft>
                <a:spcPts val="800"/>
              </a:spcAft>
              <a:defRPr sz="1200" b="0">
                <a:solidFill>
                  <a:srgbClr val="1E1E1E"/>
                </a:solidFill>
                <a:latin typeface="Arial"/>
              </a:defRPr>
            </a:pPr>
            <a:r>
              <a:t>   - `n_jobs = -1`: Uses all CPU cores for training.</a:t>
            </a:r>
          </a:p>
          <a:p>
            <a:pPr lvl="1">
              <a:spcAft>
                <a:spcPts val="800"/>
              </a:spcAft>
              <a:defRPr sz="1300" b="0">
                <a:solidFill>
                  <a:srgbClr val="1E1E1E"/>
                </a:solidFill>
                <a:latin typeface="Arial"/>
              </a:defRPr>
            </a:pPr>
            <a:r>
              <a:t>• Splitting Logic: Trees are built through Bootstrap Aggregation (bagging) where each split evaluates random subsets of features, capturing complex interactions like debt-to-income and home ownership.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Random Forest</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Random Forest Classifier</a:t>
            </a:r>
          </a:p>
          <a:p>
            <a:pPr>
              <a:spcAft>
                <a:spcPts val="800"/>
              </a:spcAft>
              <a:defRPr sz="1300" b="0">
                <a:solidFill>
                  <a:srgbClr val="1E1E1E"/>
                </a:solidFill>
                <a:latin typeface="Arial"/>
              </a:defRPr>
            </a:pPr>
            <a:r>
              <a:t>• Rationale: Non-parametric tree ensemble model. Bypasses linear assumptions by constructing independent decision trees.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`n_estimators = 300`: Generates 300 decision trees to average predictions and reduce variance.</a:t>
            </a:r>
          </a:p>
          <a:p>
            <a:pPr lvl="1">
              <a:spcAft>
                <a:spcPts val="800"/>
              </a:spcAft>
              <a:defRPr sz="1200" b="0">
                <a:solidFill>
                  <a:srgbClr val="1E1E1E"/>
                </a:solidFill>
                <a:latin typeface="Arial"/>
              </a:defRPr>
            </a:pPr>
            <a:r>
              <a:t>   - `class_weight = 'balanced'`: Enforces balanced node splitting to capture default indicators.</a:t>
            </a:r>
          </a:p>
          <a:p>
            <a:pPr lvl="1">
              <a:spcAft>
                <a:spcPts val="800"/>
              </a:spcAft>
              <a:defRPr sz="1200" b="0">
                <a:solidFill>
                  <a:srgbClr val="1E1E1E"/>
                </a:solidFill>
                <a:latin typeface="Arial"/>
              </a:defRPr>
            </a:pPr>
            <a:r>
              <a:t>   - `n_jobs = -1`: Uses all CPU cores for training.</a:t>
            </a:r>
          </a:p>
          <a:p>
            <a:pPr lvl="1">
              <a:spcAft>
                <a:spcPts val="800"/>
              </a:spcAft>
              <a:defRPr sz="1300" b="0">
                <a:solidFill>
                  <a:srgbClr val="1E1E1E"/>
                </a:solidFill>
                <a:latin typeface="Arial"/>
              </a:defRPr>
            </a:pPr>
            <a:r>
              <a:t>• Splitting Logic: Trees are built through Bootstrap Aggregation (bagging) where each split evaluates random subsets of features, capturing complex interactions like debt-to-income and home ownership.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Gradient Boosting</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Gradient Boosting Classifier</a:t>
            </a:r>
          </a:p>
          <a:p>
            <a:pPr>
              <a:spcAft>
                <a:spcPts val="800"/>
              </a:spcAft>
              <a:defRPr sz="1300" b="0">
                <a:solidFill>
                  <a:srgbClr val="1E1E1E"/>
                </a:solidFill>
                <a:latin typeface="Arial"/>
              </a:defRPr>
            </a:pPr>
            <a:r>
              <a:t>• Rationale: Sequential boosting tree ensemble. Builds trees that sequentially correct the errors of previous trees.</a:t>
            </a:r>
          </a:p>
          <a:p>
            <a:pPr lvl="1">
              <a:spcAft>
                <a:spcPts val="800"/>
              </a:spcAft>
              <a:defRPr sz="1300" b="0">
                <a:solidFill>
                  <a:srgbClr val="1E1E1E"/>
                </a:solidFill>
                <a:latin typeface="Arial"/>
              </a:defRPr>
            </a:pPr>
            <a:r>
              <a:t>• Iterative Loss Minimization:</a:t>
            </a:r>
          </a:p>
          <a:p>
            <a:pPr lvl="2">
              <a:spcAft>
                <a:spcPts val="800"/>
              </a:spcAft>
              <a:defRPr sz="1200" b="0">
                <a:solidFill>
                  <a:srgbClr val="1E1E1E"/>
                </a:solidFill>
                <a:latin typeface="Arial"/>
              </a:defRPr>
            </a:pPr>
            <a:r>
              <a:t>   Uses gradient descent to minimize log-loss (cross-entropy) at each step.</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Base estimator: standard decision trees.</a:t>
            </a:r>
          </a:p>
          <a:p>
            <a:pPr lvl="1">
              <a:spcAft>
                <a:spcPts val="800"/>
              </a:spcAft>
              <a:defRPr sz="1200" b="0">
                <a:solidFill>
                  <a:srgbClr val="1E1E1E"/>
                </a:solidFill>
                <a:latin typeface="Arial"/>
              </a:defRPr>
            </a:pPr>
            <a:r>
              <a:t>   - Learning rate: default 0.1.</a:t>
            </a:r>
          </a:p>
          <a:p>
            <a:pPr lvl="1">
              <a:spcAft>
                <a:spcPts val="800"/>
              </a:spcAft>
              <a:defRPr sz="1200" b="0">
                <a:solidFill>
                  <a:srgbClr val="1E1E1E"/>
                </a:solidFill>
                <a:latin typeface="Arial"/>
              </a:defRPr>
            </a:pPr>
            <a:r>
              <a:t>   - Estimators count: standard 100 iterations.</a:t>
            </a:r>
          </a:p>
          <a:p>
            <a:pPr lvl="1">
              <a:spcAft>
                <a:spcPts val="800"/>
              </a:spcAft>
              <a:defRPr sz="1300" b="0">
                <a:solidFill>
                  <a:srgbClr val="1E1E1E"/>
                </a:solidFill>
                <a:latin typeface="Arial"/>
              </a:defRPr>
            </a:pPr>
            <a:r>
              <a:t>• Rationale: Represents a classic, untuned boosted baseline from Scikit-Learn to establish standard boosting performance prior to CatBoost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Gradient Boosting</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Gradient Boosting Classifier</a:t>
            </a:r>
          </a:p>
          <a:p>
            <a:pPr>
              <a:spcAft>
                <a:spcPts val="800"/>
              </a:spcAft>
              <a:defRPr sz="1300" b="0">
                <a:solidFill>
                  <a:srgbClr val="1E1E1E"/>
                </a:solidFill>
                <a:latin typeface="Arial"/>
              </a:defRPr>
            </a:pPr>
            <a:r>
              <a:t>• Rationale: Sequential boosting tree ensemble. Builds trees that sequentially correct the errors of previous trees.</a:t>
            </a:r>
          </a:p>
          <a:p>
            <a:pPr lvl="1">
              <a:spcAft>
                <a:spcPts val="800"/>
              </a:spcAft>
              <a:defRPr sz="1300" b="0">
                <a:solidFill>
                  <a:srgbClr val="1E1E1E"/>
                </a:solidFill>
                <a:latin typeface="Arial"/>
              </a:defRPr>
            </a:pPr>
            <a:r>
              <a:t>• Iterative Loss Minimization:</a:t>
            </a:r>
          </a:p>
          <a:p>
            <a:pPr lvl="2">
              <a:spcAft>
                <a:spcPts val="800"/>
              </a:spcAft>
              <a:defRPr sz="1200" b="0">
                <a:solidFill>
                  <a:srgbClr val="1E1E1E"/>
                </a:solidFill>
                <a:latin typeface="Arial"/>
              </a:defRPr>
            </a:pPr>
            <a:r>
              <a:t>   Uses gradient descent to minimize log-loss (cross-entropy) at each step.</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Base estimator: standard decision trees.</a:t>
            </a:r>
          </a:p>
          <a:p>
            <a:pPr lvl="1">
              <a:spcAft>
                <a:spcPts val="800"/>
              </a:spcAft>
              <a:defRPr sz="1200" b="0">
                <a:solidFill>
                  <a:srgbClr val="1E1E1E"/>
                </a:solidFill>
                <a:latin typeface="Arial"/>
              </a:defRPr>
            </a:pPr>
            <a:r>
              <a:t>   - Learning rate: default 0.1.</a:t>
            </a:r>
          </a:p>
          <a:p>
            <a:pPr lvl="1">
              <a:spcAft>
                <a:spcPts val="800"/>
              </a:spcAft>
              <a:defRPr sz="1200" b="0">
                <a:solidFill>
                  <a:srgbClr val="1E1E1E"/>
                </a:solidFill>
                <a:latin typeface="Arial"/>
              </a:defRPr>
            </a:pPr>
            <a:r>
              <a:t>   - Estimators count: standard 100 iterations.</a:t>
            </a:r>
          </a:p>
          <a:p>
            <a:pPr lvl="1">
              <a:spcAft>
                <a:spcPts val="800"/>
              </a:spcAft>
              <a:defRPr sz="1300" b="0">
                <a:solidFill>
                  <a:srgbClr val="1E1E1E"/>
                </a:solidFill>
                <a:latin typeface="Arial"/>
              </a:defRPr>
            </a:pPr>
            <a:r>
              <a:t>• Rationale: Represents a classic, untuned boosted baseline from Scikit-Learn to establish standard boosting performance prior to CatBoost implementation.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CatBoost</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CatBoost Classifier Champion</a:t>
            </a:r>
          </a:p>
          <a:p>
            <a:pPr>
              <a:spcAft>
                <a:spcPts val="800"/>
              </a:spcAft>
              <a:defRPr sz="1300" b="0">
                <a:solidFill>
                  <a:srgbClr val="1E1E1E"/>
                </a:solidFill>
                <a:latin typeface="Arial"/>
              </a:defRPr>
            </a:pPr>
            <a:r>
              <a:t>• Rationale: State-of-the-art gradient boosting framework (Prokhorenkova et al., 2018). Optimized specifically for categorical features and tabular data structures.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`iterations = 300`: Sequential boosting steps.</a:t>
            </a:r>
          </a:p>
          <a:p>
            <a:pPr lvl="1">
              <a:spcAft>
                <a:spcPts val="800"/>
              </a:spcAft>
              <a:defRPr sz="1200" b="0">
                <a:solidFill>
                  <a:srgbClr val="1E1E1E"/>
                </a:solidFill>
                <a:latin typeface="Arial"/>
              </a:defRPr>
            </a:pPr>
            <a:r>
              <a:t>   - `learning_rate = 0.05`: Slow learning rate to prevent overfitting.</a:t>
            </a:r>
          </a:p>
          <a:p>
            <a:pPr lvl="1">
              <a:spcAft>
                <a:spcPts val="800"/>
              </a:spcAft>
              <a:defRPr sz="1200" b="0">
                <a:solidFill>
                  <a:srgbClr val="1E1E1E"/>
                </a:solidFill>
                <a:latin typeface="Arial"/>
              </a:defRPr>
            </a:pPr>
            <a:r>
              <a:t>   - `depth = 6`: Restricts tree depth to 6 levels to reduce model complexity.</a:t>
            </a:r>
          </a:p>
          <a:p>
            <a:pPr lvl="1">
              <a:spcAft>
                <a:spcPts val="800"/>
              </a:spcAft>
              <a:defRPr sz="1200" b="0">
                <a:solidFill>
                  <a:srgbClr val="1E1E1E"/>
                </a:solidFill>
                <a:latin typeface="Arial"/>
              </a:defRPr>
            </a:pPr>
            <a:r>
              <a:t>   - `eval_metric = 'AUC'`: Monitors AUC-ROC of default cases.</a:t>
            </a:r>
          </a:p>
          <a:p>
            <a:pPr lvl="1">
              <a:spcAft>
                <a:spcPts val="800"/>
              </a:spcAft>
              <a:defRPr sz="1300" b="0">
                <a:solidFill>
                  <a:srgbClr val="1E1E1E"/>
                </a:solidFill>
                <a:latin typeface="Arial"/>
              </a:defRPr>
            </a:pPr>
            <a:r>
              <a:t>• Symmetric Trees: Uses symmetric (oblivious) trees, which split on the same feature across each level. This reduces inference latency and prevents overfitting.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CatBoost</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CatBoost Classifier Champion</a:t>
            </a:r>
          </a:p>
          <a:p>
            <a:pPr>
              <a:spcAft>
                <a:spcPts val="800"/>
              </a:spcAft>
              <a:defRPr sz="1300" b="0">
                <a:solidFill>
                  <a:srgbClr val="1E1E1E"/>
                </a:solidFill>
                <a:latin typeface="Arial"/>
              </a:defRPr>
            </a:pPr>
            <a:r>
              <a:t>• Rationale: State-of-the-art gradient boosting framework (Prokhorenkova et al., 2018). Optimized specifically for categorical features and tabular data structures.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`iterations = 300`: Sequential boosting steps.</a:t>
            </a:r>
          </a:p>
          <a:p>
            <a:pPr lvl="1">
              <a:spcAft>
                <a:spcPts val="800"/>
              </a:spcAft>
              <a:defRPr sz="1200" b="0">
                <a:solidFill>
                  <a:srgbClr val="1E1E1E"/>
                </a:solidFill>
                <a:latin typeface="Arial"/>
              </a:defRPr>
            </a:pPr>
            <a:r>
              <a:t>   - `learning_rate = 0.05`: Slow learning rate to prevent overfitting.</a:t>
            </a:r>
          </a:p>
          <a:p>
            <a:pPr lvl="1">
              <a:spcAft>
                <a:spcPts val="800"/>
              </a:spcAft>
              <a:defRPr sz="1200" b="0">
                <a:solidFill>
                  <a:srgbClr val="1E1E1E"/>
                </a:solidFill>
                <a:latin typeface="Arial"/>
              </a:defRPr>
            </a:pPr>
            <a:r>
              <a:t>   - `depth = 6`: Restricts tree depth to 6 levels to reduce model complexity.</a:t>
            </a:r>
          </a:p>
          <a:p>
            <a:pPr lvl="1">
              <a:spcAft>
                <a:spcPts val="800"/>
              </a:spcAft>
              <a:defRPr sz="1200" b="0">
                <a:solidFill>
                  <a:srgbClr val="1E1E1E"/>
                </a:solidFill>
                <a:latin typeface="Arial"/>
              </a:defRPr>
            </a:pPr>
            <a:r>
              <a:t>   - `eval_metric = 'AUC'`: Monitors AUC-ROC of default cases.</a:t>
            </a:r>
          </a:p>
          <a:p>
            <a:pPr lvl="1">
              <a:spcAft>
                <a:spcPts val="800"/>
              </a:spcAft>
              <a:defRPr sz="1300" b="0">
                <a:solidFill>
                  <a:srgbClr val="1E1E1E"/>
                </a:solidFill>
                <a:latin typeface="Arial"/>
              </a:defRPr>
            </a:pPr>
            <a:r>
              <a:t>• Symmetric Trees: Uses symmetric (oblivious) trees, which split on the same feature across each level. This reduces inference latency and prevents overfitting.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OLS &amp; Ridge Regressors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Ordinary Least Squares (OLS) Regressor</a:t>
            </a:r>
          </a:p>
          <a:p>
            <a:pPr>
              <a:spcAft>
                <a:spcPts val="800"/>
              </a:spcAft>
              <a:defRPr sz="1300" b="0">
                <a:solidFill>
                  <a:srgbClr val="1E1E1E"/>
                </a:solidFill>
                <a:latin typeface="Arial"/>
              </a:defRPr>
            </a:pPr>
            <a:r>
              <a:t>• Rationale: Parametric linear regression baseline to predict interest rates (`loan_int_rate`).</a:t>
            </a:r>
          </a:p>
          <a:p>
            <a:pPr lvl="1">
              <a:spcAft>
                <a:spcPts val="800"/>
              </a:spcAft>
              <a:defRPr sz="1300" b="0">
                <a:solidFill>
                  <a:srgbClr val="1E1E1E"/>
                </a:solidFill>
                <a:latin typeface="Arial"/>
              </a:defRPr>
            </a:pPr>
            <a:r>
              <a:t>• Estimates parameters by minimizing the Sum of Squared Residuals (SSR):</a:t>
            </a:r>
          </a:p>
          <a:p>
            <a:pPr lvl="2">
              <a:spcAft>
                <a:spcPts val="800"/>
              </a:spcAft>
              <a:defRPr sz="1400" b="1">
                <a:solidFill>
                  <a:srgbClr val="1E1E1E"/>
                </a:solidFill>
                <a:latin typeface="Arial"/>
              </a:defRPr>
            </a:pPr>
            <a:r>
              <a:t>   β = (X^T * X)^-1 * X^T * y</a:t>
            </a:r>
          </a:p>
          <a:p>
            <a:pPr lvl="1">
              <a:spcAft>
                <a:spcPts val="800"/>
              </a:spcAft>
              <a:defRPr sz="1300" b="0">
                <a:solidFill>
                  <a:srgbClr val="1E1E1E"/>
                </a:solidFill>
                <a:latin typeface="Arial"/>
              </a:defRPr>
            </a:pPr>
            <a:r>
              <a:t>• Provides direct parameter coefficient values and p-values for statistical hypothesis tests.</a:t>
            </a:r>
          </a:p>
          <a:p>
            <a:pPr>
              <a:spcAft>
                <a:spcPts val="800"/>
              </a:spcAft>
              <a:defRPr sz="1600" b="1">
                <a:solidFill>
                  <a:srgbClr val="0070B9"/>
                </a:solidFill>
                <a:latin typeface="Arial"/>
              </a:defRPr>
            </a:pPr>
            <a:r>
              <a:t>Ridge Regression (L2 Regularization)</a:t>
            </a:r>
          </a:p>
          <a:p>
            <a:pPr>
              <a:spcAft>
                <a:spcPts val="800"/>
              </a:spcAft>
              <a:defRPr sz="1300" b="0">
                <a:solidFill>
                  <a:srgbClr val="1E1E1E"/>
                </a:solidFill>
                <a:latin typeface="Arial"/>
              </a:defRPr>
            </a:pPr>
            <a:r>
              <a:t>• Regularized baseline: Adds a squared L2 penalty to the loss function to shrink parameters:</a:t>
            </a:r>
          </a:p>
          <a:p>
            <a:pPr lvl="1">
              <a:spcAft>
                <a:spcPts val="800"/>
              </a:spcAft>
              <a:defRPr sz="1400" b="1">
                <a:solidFill>
                  <a:srgbClr val="1E1E1E"/>
                </a:solidFill>
                <a:latin typeface="Arial"/>
              </a:defRPr>
            </a:pPr>
            <a:r>
              <a:t>   Loss = SSR + α * sum(β_j^2)</a:t>
            </a:r>
          </a:p>
          <a:p>
            <a:pPr lvl="1">
              <a:spcAft>
                <a:spcPts val="800"/>
              </a:spcAft>
              <a:defRPr sz="1300" b="0">
                <a:solidFill>
                  <a:srgbClr val="1E1E1E"/>
                </a:solidFill>
                <a:latin typeface="Arial"/>
              </a:defRPr>
            </a:pPr>
            <a:r>
              <a:t>• Alpha = 1.0: Mitigates multicollinearity between borrower age and credit history length.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OLS &amp; Ridge Regressors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Ordinary Least Squares (OLS) Regressor</a:t>
            </a:r>
          </a:p>
          <a:p>
            <a:pPr>
              <a:spcAft>
                <a:spcPts val="800"/>
              </a:spcAft>
              <a:defRPr sz="1300" b="0">
                <a:solidFill>
                  <a:srgbClr val="1E1E1E"/>
                </a:solidFill>
                <a:latin typeface="Arial"/>
              </a:defRPr>
            </a:pPr>
            <a:r>
              <a:t>• Rationale: Parametric linear regression baseline to predict interest rates (`loan_int_rate`).</a:t>
            </a:r>
          </a:p>
          <a:p>
            <a:pPr lvl="1">
              <a:spcAft>
                <a:spcPts val="800"/>
              </a:spcAft>
              <a:defRPr sz="1300" b="0">
                <a:solidFill>
                  <a:srgbClr val="1E1E1E"/>
                </a:solidFill>
                <a:latin typeface="Arial"/>
              </a:defRPr>
            </a:pPr>
            <a:r>
              <a:t>• Estimates parameters by minimizing the Sum of Squared Residuals (SSR):</a:t>
            </a:r>
          </a:p>
          <a:p>
            <a:pPr lvl="2">
              <a:spcAft>
                <a:spcPts val="800"/>
              </a:spcAft>
              <a:defRPr sz="1400" b="1">
                <a:solidFill>
                  <a:srgbClr val="1E1E1E"/>
                </a:solidFill>
                <a:latin typeface="Arial"/>
              </a:defRPr>
            </a:pPr>
            <a:r>
              <a:t>   β = (X^T * X)^-1 * X^T * y</a:t>
            </a:r>
          </a:p>
          <a:p>
            <a:pPr lvl="1">
              <a:spcAft>
                <a:spcPts val="800"/>
              </a:spcAft>
              <a:defRPr sz="1300" b="0">
                <a:solidFill>
                  <a:srgbClr val="1E1E1E"/>
                </a:solidFill>
                <a:latin typeface="Arial"/>
              </a:defRPr>
            </a:pPr>
            <a:r>
              <a:t>• Provides direct parameter coefficient values and p-values for statistical hypothesis tests.</a:t>
            </a:r>
          </a:p>
          <a:p>
            <a:pPr>
              <a:spcAft>
                <a:spcPts val="800"/>
              </a:spcAft>
              <a:defRPr sz="1600" b="1">
                <a:solidFill>
                  <a:srgbClr val="0070B9"/>
                </a:solidFill>
                <a:latin typeface="Arial"/>
              </a:defRPr>
            </a:pPr>
            <a:r>
              <a:t>Ridge Regression (L2 Regularization)</a:t>
            </a:r>
          </a:p>
          <a:p>
            <a:pPr>
              <a:spcAft>
                <a:spcPts val="800"/>
              </a:spcAft>
              <a:defRPr sz="1300" b="0">
                <a:solidFill>
                  <a:srgbClr val="1E1E1E"/>
                </a:solidFill>
                <a:latin typeface="Arial"/>
              </a:defRPr>
            </a:pPr>
            <a:r>
              <a:t>• Regularized baseline: Adds a squared L2 penalty to the loss function to shrink parameters:</a:t>
            </a:r>
          </a:p>
          <a:p>
            <a:pPr lvl="1">
              <a:spcAft>
                <a:spcPts val="800"/>
              </a:spcAft>
              <a:defRPr sz="1400" b="1">
                <a:solidFill>
                  <a:srgbClr val="1E1E1E"/>
                </a:solidFill>
                <a:latin typeface="Arial"/>
              </a:defRPr>
            </a:pPr>
            <a:r>
              <a:t>   Loss = SSR + α * sum(β_j^2)</a:t>
            </a:r>
          </a:p>
          <a:p>
            <a:pPr lvl="1">
              <a:spcAft>
                <a:spcPts val="800"/>
              </a:spcAft>
              <a:defRPr sz="1300" b="0">
                <a:solidFill>
                  <a:srgbClr val="1E1E1E"/>
                </a:solidFill>
                <a:latin typeface="Arial"/>
              </a:defRPr>
            </a:pPr>
            <a:r>
              <a:t>• Alpha = 1.0: Mitigates multicollinearity between borrower age and credit history length.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Random Forest Regressor</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Random Forest Regressor</a:t>
            </a:r>
          </a:p>
          <a:p>
            <a:pPr>
              <a:spcAft>
                <a:spcPts val="800"/>
              </a:spcAft>
              <a:defRPr sz="1300" b="0">
                <a:solidFill>
                  <a:srgbClr val="1E1E1E"/>
                </a:solidFill>
                <a:latin typeface="Arial"/>
              </a:defRPr>
            </a:pPr>
            <a:r>
              <a:t>• Rationale: Non-linear tree ensemble regressor. Averages predictions from multiple decision trees to model continuous variables without linear assumptions.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`n_estimators = 300`: 300 regression trees.</a:t>
            </a:r>
          </a:p>
          <a:p>
            <a:pPr lvl="1">
              <a:spcAft>
                <a:spcPts val="800"/>
              </a:spcAft>
              <a:defRPr sz="1200" b="0">
                <a:solidFill>
                  <a:srgbClr val="1E1E1E"/>
                </a:solidFill>
                <a:latin typeface="Arial"/>
              </a:defRPr>
            </a:pPr>
            <a:r>
              <a:t>   - `min_samples_leaf = 10`: Minimum samples required in a leaf node.</a:t>
            </a:r>
          </a:p>
          <a:p>
            <a:pPr lvl="1">
              <a:spcAft>
                <a:spcPts val="800"/>
              </a:spcAft>
              <a:defRPr sz="1200" b="0">
                <a:solidFill>
                  <a:srgbClr val="1E1E1E"/>
                </a:solidFill>
                <a:latin typeface="Arial"/>
              </a:defRPr>
            </a:pPr>
            <a:r>
              <a:t>   - `n_jobs = -1`: Multi-threaded CPU execution.</a:t>
            </a:r>
          </a:p>
          <a:p>
            <a:pPr lvl="1">
              <a:spcAft>
                <a:spcPts val="800"/>
              </a:spcAft>
              <a:defRPr sz="1300" b="0">
                <a:solidFill>
                  <a:srgbClr val="1E1E1E"/>
                </a:solidFill>
                <a:latin typeface="Arial"/>
              </a:defRPr>
            </a:pPr>
            <a:r>
              <a:t>• Regularization Benefit: Setting `min_samples_leaf=10` prevents trees from splitting to fit individual observations, smoothing predictions and reducing overfitting.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Random Forest Regressor</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Random Forest Regressor</a:t>
            </a:r>
          </a:p>
          <a:p>
            <a:pPr>
              <a:spcAft>
                <a:spcPts val="800"/>
              </a:spcAft>
              <a:defRPr sz="1300" b="0">
                <a:solidFill>
                  <a:srgbClr val="1E1E1E"/>
                </a:solidFill>
                <a:latin typeface="Arial"/>
              </a:defRPr>
            </a:pPr>
            <a:r>
              <a:t>• Rationale: Non-linear tree ensemble regressor. Averages predictions from multiple decision trees to model continuous variables without linear assumptions.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`n_estimators = 300`: 300 regression trees.</a:t>
            </a:r>
          </a:p>
          <a:p>
            <a:pPr lvl="1">
              <a:spcAft>
                <a:spcPts val="800"/>
              </a:spcAft>
              <a:defRPr sz="1200" b="0">
                <a:solidFill>
                  <a:srgbClr val="1E1E1E"/>
                </a:solidFill>
                <a:latin typeface="Arial"/>
              </a:defRPr>
            </a:pPr>
            <a:r>
              <a:t>   - `min_samples_leaf = 10`: Minimum samples required in a leaf node.</a:t>
            </a:r>
          </a:p>
          <a:p>
            <a:pPr lvl="1">
              <a:spcAft>
                <a:spcPts val="800"/>
              </a:spcAft>
              <a:defRPr sz="1200" b="0">
                <a:solidFill>
                  <a:srgbClr val="1E1E1E"/>
                </a:solidFill>
                <a:latin typeface="Arial"/>
              </a:defRPr>
            </a:pPr>
            <a:r>
              <a:t>   - `n_jobs = -1`: Multi-threaded CPU execution.</a:t>
            </a:r>
          </a:p>
          <a:p>
            <a:pPr lvl="1">
              <a:spcAft>
                <a:spcPts val="800"/>
              </a:spcAft>
              <a:defRPr sz="1300" b="0">
                <a:solidFill>
                  <a:srgbClr val="1E1E1E"/>
                </a:solidFill>
                <a:latin typeface="Arial"/>
              </a:defRPr>
            </a:pPr>
            <a:r>
              <a:t>• Regularization Benefit: Setting `min_samples_leaf=10` prevents trees from splitting to fit individual observations, smoothing predictions and reducing overfitting.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Boosting Regressors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Gradient Boosting Regressor</a:t>
            </a:r>
          </a:p>
          <a:p>
            <a:pPr>
              <a:spcAft>
                <a:spcPts val="800"/>
              </a:spcAft>
              <a:defRPr sz="1300" b="0">
                <a:solidFill>
                  <a:srgbClr val="1E1E1E"/>
                </a:solidFill>
                <a:latin typeface="Arial"/>
              </a:defRPr>
            </a:pPr>
            <a:r>
              <a:t>• Rationale: Sequential boosting tree regressor. Learns tree structures to minimize residuals squared errors step-by-step.</a:t>
            </a:r>
          </a:p>
          <a:p>
            <a:pPr lvl="1">
              <a:spcAft>
                <a:spcPts val="800"/>
              </a:spcAft>
              <a:defRPr sz="1300" b="0">
                <a:solidFill>
                  <a:srgbClr val="1E1E1E"/>
                </a:solidFill>
                <a:latin typeface="Arial"/>
              </a:defRPr>
            </a:pPr>
            <a:r>
              <a:t>• Targets: Optimized for continuous loan amount and percent of income regressions.</a:t>
            </a:r>
          </a:p>
          <a:p>
            <a:pPr>
              <a:spcAft>
                <a:spcPts val="800"/>
              </a:spcAft>
              <a:defRPr sz="1600" b="1">
                <a:solidFill>
                  <a:srgbClr val="0070B9"/>
                </a:solidFill>
                <a:latin typeface="Arial"/>
              </a:defRPr>
            </a:pPr>
            <a:r>
              <a:t>CatBoost Regressor</a:t>
            </a:r>
          </a:p>
          <a:p>
            <a:pPr>
              <a:spcAft>
                <a:spcPts val="800"/>
              </a:spcAft>
              <a:defRPr sz="1300" b="0">
                <a:solidFill>
                  <a:srgbClr val="1E1E1E"/>
                </a:solidFill>
                <a:latin typeface="Arial"/>
              </a:defRPr>
            </a:pPr>
            <a:r>
              <a:t>• Rationale: Categorical-focused boosting framework. Optimized specifically for interest rate regressions.</a:t>
            </a:r>
          </a:p>
          <a:p>
            <a:pPr>
              <a:spcAft>
                <a:spcPts val="800"/>
              </a:spcAft>
              <a:defRPr sz="1300" b="0">
                <a:solidFill>
                  <a:srgbClr val="1E1E1E"/>
                </a:solidFill>
                <a:latin typeface="Arial"/>
              </a:defRPr>
            </a:pPr>
            <a:r>
              <a:t>• Parameter Configuration:</a:t>
            </a:r>
          </a:p>
          <a:p>
            <a:pPr lvl="1">
              <a:spcAft>
                <a:spcPts val="800"/>
              </a:spcAft>
              <a:defRPr sz="1200" b="0">
                <a:solidFill>
                  <a:srgbClr val="1E1E1E"/>
                </a:solidFill>
                <a:latin typeface="Arial"/>
              </a:defRPr>
            </a:pPr>
            <a:r>
              <a:t>   - `iterations = 300`: Sequential steps.</a:t>
            </a:r>
          </a:p>
          <a:p>
            <a:pPr lvl="1">
              <a:spcAft>
                <a:spcPts val="800"/>
              </a:spcAft>
              <a:defRPr sz="1200" b="0">
                <a:solidFill>
                  <a:srgbClr val="1E1E1E"/>
                </a:solidFill>
                <a:latin typeface="Arial"/>
              </a:defRPr>
            </a:pPr>
            <a:r>
              <a:t>   - `learning_rate = 0.05`: Slowly adapts predictions.</a:t>
            </a:r>
          </a:p>
          <a:p>
            <a:pPr lvl="1">
              <a:spcAft>
                <a:spcPts val="800"/>
              </a:spcAft>
              <a:defRPr sz="1200" b="0">
                <a:solidFill>
                  <a:srgbClr val="1E1E1E"/>
                </a:solidFill>
                <a:latin typeface="Arial"/>
              </a:defRPr>
            </a:pPr>
            <a:r>
              <a:t>   - `depth = 6`: Controls tree complexity.</a:t>
            </a:r>
          </a:p>
          <a:p>
            <a:pPr lvl="1">
              <a:spcAft>
                <a:spcPts val="800"/>
              </a:spcAft>
              <a:defRPr sz="1200" b="0">
                <a:solidFill>
                  <a:srgbClr val="1E1E1E"/>
                </a:solidFill>
                <a:latin typeface="Arial"/>
              </a:defRPr>
            </a:pPr>
            <a:r>
              <a:t>   - `loss_function = 'RMSE'`: Minimizes root mean squared error.</a:t>
            </a:r>
          </a:p>
          <a:p>
            <a:pPr lvl="1">
              <a:spcAft>
                <a:spcPts val="800"/>
              </a:spcAft>
              <a:defRPr sz="1300" b="0">
                <a:solidFill>
                  <a:srgbClr val="1E1E1E"/>
                </a:solidFill>
                <a:latin typeface="Arial"/>
              </a:defRPr>
            </a:pPr>
            <a:r>
              <a:t>• Rationale: In our validation phase, Gradient Boosting performed best for loan amounts, while CatBoost excelled for interest rate modeling.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 Bayesian Network Structure</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Bayesian Network Structure Learning</a:t>
            </a:r>
          </a:p>
          <a:p>
            <a:pPr>
              <a:spcAft>
                <a:spcPts val="800"/>
              </a:spcAft>
              <a:defRPr sz="1300" b="0">
                <a:solidFill>
                  <a:srgbClr val="1E1E1E"/>
                </a:solidFill>
                <a:latin typeface="Arial"/>
              </a:defRPr>
            </a:pPr>
            <a:r>
              <a:t>We use a white-box Bayesian approach on grouped variables to learn dependencies:</a:t>
            </a:r>
          </a:p>
          <a:p>
            <a:pPr lvl="1">
              <a:spcAft>
                <a:spcPts val="800"/>
              </a:spcAft>
              <a:defRPr sz="1300" b="0">
                <a:solidFill>
                  <a:srgbClr val="1E1E1E"/>
                </a:solidFill>
                <a:latin typeface="Arial"/>
              </a:defRPr>
            </a:pPr>
            <a:r>
              <a:t>• HillClimbSearch: Iteratively evaluates potential Directed Acyclic Graph (DAG) structures, searching for optimal causal fits.</a:t>
            </a:r>
          </a:p>
          <a:p>
            <a:pPr lvl="1">
              <a:spcAft>
                <a:spcPts val="800"/>
              </a:spcAft>
              <a:defRPr sz="1300" b="0">
                <a:solidFill>
                  <a:srgbClr val="1E1E1E"/>
                </a:solidFill>
                <a:latin typeface="Arial"/>
              </a:defRPr>
            </a:pPr>
            <a:r>
              <a:t>• BIC Scoring Method: Balances graph fit with complexity, penalizing dense graphs:</a:t>
            </a:r>
          </a:p>
          <a:p>
            <a:pPr lvl="2">
              <a:spcAft>
                <a:spcPts val="800"/>
              </a:spcAft>
              <a:defRPr sz="1400" b="1">
                <a:solidFill>
                  <a:srgbClr val="1E1E1E"/>
                </a:solidFill>
                <a:latin typeface="Arial"/>
              </a:defRPr>
            </a:pPr>
            <a:r>
              <a:t>   BIC = ln(n)*k - 2*ln(L)</a:t>
            </a:r>
          </a:p>
          <a:p>
            <a:pPr lvl="1">
              <a:spcAft>
                <a:spcPts val="800"/>
              </a:spcAft>
              <a:defRPr sz="1300" b="0">
                <a:solidFill>
                  <a:srgbClr val="1E1E1E"/>
                </a:solidFill>
                <a:latin typeface="Arial"/>
              </a:defRPr>
            </a:pPr>
            <a:r>
              <a:t>• Complexity Bounds: Set `max_indegree=3` to limit each node to at most three parent nodes, keeping the graph readable.</a:t>
            </a:r>
          </a:p>
          <a:p>
            <a:pPr lvl="1">
              <a:spcAft>
                <a:spcPts val="800"/>
              </a:spcAft>
              <a:defRPr sz="1300" b="0">
                <a:solidFill>
                  <a:srgbClr val="1E1E1E"/>
                </a:solidFill>
                <a:latin typeface="Arial"/>
              </a:defRPr>
            </a:pPr>
            <a:r>
              <a:t>• Fit &amp; Inference: Fit Conditional Probability Tables (CPDs) using `MaximumLikelihoodEstimator` and run query inference with `VariableElimination`.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a:t>
            </a:r>
          </a:p>
          <a:p>
            <a:r>
              <a:t>Model Analysis &amp; Diagnostics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Classifier ROC &amp; PR Curves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Classification Performance</a:t>
            </a:r>
          </a:p>
          <a:p>
            <a:pPr>
              <a:spcAft>
                <a:spcPts val="800"/>
              </a:spcAft>
              <a:defRPr sz="1300" b="0">
                <a:solidFill>
                  <a:srgbClr val="1E1E1E"/>
                </a:solidFill>
                <a:latin typeface="Arial"/>
              </a:defRPr>
            </a:pPr>
            <a:r>
              <a:t>• CatBoost Outperformed All Competitors:</a:t>
            </a:r>
          </a:p>
          <a:p>
            <a:pPr lvl="1">
              <a:spcAft>
                <a:spcPts val="800"/>
              </a:spcAft>
              <a:defRPr sz="1200" b="0">
                <a:solidFill>
                  <a:srgbClr val="1E1E1E"/>
                </a:solidFill>
                <a:latin typeface="Arial"/>
              </a:defRPr>
            </a:pPr>
            <a:r>
              <a:t>   - ROC-AUC = 0.9429: Excellent class discriminative ability.</a:t>
            </a:r>
          </a:p>
          <a:p>
            <a:pPr lvl="1">
              <a:spcAft>
                <a:spcPts val="800"/>
              </a:spcAft>
              <a:defRPr sz="1200" b="0">
                <a:solidFill>
                  <a:srgbClr val="1E1E1E"/>
                </a:solidFill>
                <a:latin typeface="Arial"/>
              </a:defRPr>
            </a:pPr>
            <a:r>
              <a:t>   - PR-AUC = 0.9003: High accuracy on the default class.</a:t>
            </a:r>
          </a:p>
          <a:p>
            <a:pPr>
              <a:spcAft>
                <a:spcPts val="800"/>
              </a:spcAft>
              <a:defRPr sz="1300" b="0">
                <a:solidFill>
                  <a:srgbClr val="1E1E1E"/>
                </a:solidFill>
                <a:latin typeface="Arial"/>
              </a:defRPr>
            </a:pPr>
            <a:r>
              <a:t>• Curve Analysis (Figure 28):</a:t>
            </a:r>
          </a:p>
          <a:p>
            <a:pPr lvl="1">
              <a:spcAft>
                <a:spcPts val="800"/>
              </a:spcAft>
              <a:defRPr sz="1200" b="0">
                <a:solidFill>
                  <a:srgbClr val="1E1E1E"/>
                </a:solidFill>
                <a:latin typeface="Arial"/>
              </a:defRPr>
            </a:pPr>
            <a:r>
              <a:t>   - ROC curve rises steeply, showing clean class separation.</a:t>
            </a:r>
          </a:p>
          <a:p>
            <a:pPr lvl="1">
              <a:spcAft>
                <a:spcPts val="800"/>
              </a:spcAft>
              <a:defRPr sz="1200" b="0">
                <a:solidFill>
                  <a:srgbClr val="1E1E1E"/>
                </a:solidFill>
                <a:latin typeface="Arial"/>
              </a:defRPr>
            </a:pPr>
            <a:r>
              <a:t>   - PR curve stays near 1.0 precision up to 70% recall, meaning we catch 70% of defaults with virtually zero false alarms.</a:t>
            </a:r>
          </a:p>
        </p:txBody>
      </p:sp>
      <p:pic>
        <p:nvPicPr>
          <p:cNvPr id="4" name="Picture 3" descr="model_roc_pr.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28: CatBoost ROC curve (AUC=0.9429) and PR curve (AUC=0.9003) on hold-out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Classifier Calibration &amp; Brier</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Probability Calibration</a:t>
            </a:r>
          </a:p>
          <a:p>
            <a:pPr>
              <a:spcAft>
                <a:spcPts val="800"/>
              </a:spcAft>
              <a:defRPr sz="1300" b="0">
                <a:solidFill>
                  <a:srgbClr val="1E1E1E"/>
                </a:solidFill>
                <a:latin typeface="Arial"/>
              </a:defRPr>
            </a:pPr>
            <a:r>
              <a:t>A credit risk model must return probabilities that align with actual default frequencies:</a:t>
            </a:r>
          </a:p>
          <a:p>
            <a:pPr lvl="1">
              <a:spcAft>
                <a:spcPts val="800"/>
              </a:spcAft>
              <a:defRPr sz="1300" b="0">
                <a:solidFill>
                  <a:srgbClr val="1E1E1E"/>
                </a:solidFill>
                <a:latin typeface="Arial"/>
              </a:defRPr>
            </a:pPr>
            <a:r>
              <a:t>• Brier Score: Measures prediction error (Brier, 1950):</a:t>
            </a:r>
          </a:p>
          <a:p>
            <a:pPr lvl="1">
              <a:spcAft>
                <a:spcPts val="800"/>
              </a:spcAft>
              <a:defRPr sz="1400" b="1">
                <a:solidFill>
                  <a:srgbClr val="1E1E1E"/>
                </a:solidFill>
                <a:latin typeface="Arial"/>
              </a:defRPr>
            </a:pPr>
            <a:r>
              <a:t>   Brier = (1/N) * sum((p_i - y_i)^2)</a:t>
            </a:r>
          </a:p>
          <a:p>
            <a:pPr lvl="1">
              <a:spcAft>
                <a:spcPts val="800"/>
              </a:spcAft>
              <a:defRPr sz="1300" b="0">
                <a:solidFill>
                  <a:srgbClr val="1E1E1E"/>
                </a:solidFill>
                <a:latin typeface="Arial"/>
              </a:defRPr>
            </a:pPr>
            <a:r>
              <a:t>• Brier = 0.0532 (&lt; 0.15 indicates excellent probability calibration).</a:t>
            </a:r>
          </a:p>
          <a:p>
            <a:pPr>
              <a:spcAft>
                <a:spcPts val="800"/>
              </a:spcAft>
              <a:defRPr sz="1600" b="1">
                <a:solidFill>
                  <a:srgbClr val="0070B9"/>
                </a:solidFill>
                <a:latin typeface="Arial"/>
              </a:defRPr>
            </a:pPr>
            <a:r>
              <a:t>Reliability Plot (Figure 29)</a:t>
            </a:r>
          </a:p>
          <a:p>
            <a:pPr lvl="1">
              <a:spcAft>
                <a:spcPts val="800"/>
              </a:spcAft>
              <a:defRPr sz="1300" b="0">
                <a:solidFill>
                  <a:srgbClr val="1E1E1E"/>
                </a:solidFill>
                <a:latin typeface="Arial"/>
              </a:defRPr>
            </a:pPr>
            <a:r>
              <a:t>• Low risk (0.0-0.30): Model is slightly under-confident (actual defaults slightly higher than predicted).</a:t>
            </a:r>
          </a:p>
          <a:p>
            <a:pPr lvl="1">
              <a:spcAft>
                <a:spcPts val="800"/>
              </a:spcAft>
              <a:defRPr sz="1300" b="0">
                <a:solidFill>
                  <a:srgbClr val="1E1E1E"/>
                </a:solidFill>
                <a:latin typeface="Arial"/>
              </a:defRPr>
            </a:pPr>
            <a:r>
              <a:t>• Mid risk (0.30-0.60): Shows typical tree-based dispersion.</a:t>
            </a:r>
          </a:p>
          <a:p>
            <a:pPr lvl="1">
              <a:spcAft>
                <a:spcPts val="800"/>
              </a:spcAft>
              <a:defRPr sz="1300" b="0">
                <a:solidFill>
                  <a:srgbClr val="1E1E1E"/>
                </a:solidFill>
                <a:latin typeface="Arial"/>
              </a:defRPr>
            </a:pPr>
            <a:r>
              <a:t>• High risk (0.60-1.0): Follows ideal diagonal line, capturing high-risk profiles.</a:t>
            </a:r>
          </a:p>
        </p:txBody>
      </p:sp>
      <p:pic>
        <p:nvPicPr>
          <p:cNvPr id="4" name="Picture 3" descr="model_calibr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29: Calibration curve mapping predicted probabilities against observed default rates.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Decision Threshold Tuning</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Tuning the Decision Boundary</a:t>
            </a:r>
          </a:p>
          <a:p>
            <a:pPr>
              <a:spcAft>
                <a:spcPts val="800"/>
              </a:spcAft>
              <a:defRPr sz="1300" b="0">
                <a:solidFill>
                  <a:srgbClr val="1E1E1E"/>
                </a:solidFill>
                <a:latin typeface="Arial"/>
              </a:defRPr>
            </a:pPr>
            <a:r>
              <a:t>Lenders can adjust the classification threshold to reflect asymmetric costs:</a:t>
            </a:r>
          </a:p>
          <a:p>
            <a:pPr lvl="1">
              <a:spcAft>
                <a:spcPts val="800"/>
              </a:spcAft>
              <a:defRPr sz="1200" b="0">
                <a:solidFill>
                  <a:srgbClr val="1E1E1E"/>
                </a:solidFill>
                <a:latin typeface="Arial"/>
              </a:defRPr>
            </a:pPr>
            <a:r>
              <a:t>• 0.24 (Aggressive): Lowers cutoff. Recalls 78.45% of defaults but creates 157 false positives. Recommended for risk-averse strategies.</a:t>
            </a:r>
          </a:p>
          <a:p>
            <a:pPr lvl="1">
              <a:spcAft>
                <a:spcPts val="800"/>
              </a:spcAft>
              <a:defRPr sz="1200" b="0">
                <a:solidFill>
                  <a:srgbClr val="1E1E1E"/>
                </a:solidFill>
                <a:latin typeface="Arial"/>
              </a:defRPr>
            </a:pPr>
            <a:r>
              <a:t>• 0.50 (Balanced): Standard cutoff. Yields optimal balanced F1-score of 0.8403, and limits false positives to only 9. Recommended for standard portfolios.</a:t>
            </a:r>
          </a:p>
          <a:p>
            <a:pPr lvl="1">
              <a:spcAft>
                <a:spcPts val="800"/>
              </a:spcAft>
              <a:defRPr sz="1200" b="0">
                <a:solidFill>
                  <a:srgbClr val="1E1E1E"/>
                </a:solidFill>
                <a:latin typeface="Arial"/>
              </a:defRPr>
            </a:pPr>
            <a:r>
              <a:t>• 0.75 (Conservative): Catches only 70.31% of defaults, but achieves near-perfect precision (99.89%). Good when funding is highly constrained.</a:t>
            </a:r>
          </a:p>
        </p:txBody>
      </p:sp>
      <p:pic>
        <p:nvPicPr>
          <p:cNvPr id="4" name="Picture 3" descr="model_confusion_matrices.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30: Heatmaps showing confusion matrices at 0.24 and 0.50 thresholds on holdout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Segment Performance by Grade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Segment Performance Audits</a:t>
            </a:r>
          </a:p>
          <a:p>
            <a:pPr>
              <a:spcAft>
                <a:spcPts val="800"/>
              </a:spcAft>
              <a:defRPr sz="1300" b="0">
                <a:solidFill>
                  <a:srgbClr val="1E1E1E"/>
                </a:solidFill>
                <a:latin typeface="Arial"/>
              </a:defRPr>
            </a:pPr>
            <a:r>
              <a:t>We evaluate model accuracy separately across credit grades A-G to find weak segments:</a:t>
            </a:r>
          </a:p>
          <a:p>
            <a:pPr lvl="1">
              <a:spcAft>
                <a:spcPts val="800"/>
              </a:spcAft>
              <a:defRPr sz="1200" b="0">
                <a:solidFill>
                  <a:srgbClr val="1E1E1E"/>
                </a:solidFill>
                <a:latin typeface="Arial"/>
              </a:defRPr>
            </a:pPr>
            <a:r>
              <a:t>• Grade A (Low Risk): Accuracy is very high (96.41%), with a low default rate (10.20%).</a:t>
            </a:r>
          </a:p>
          <a:p>
            <a:pPr lvl="1">
              <a:spcAft>
                <a:spcPts val="800"/>
              </a:spcAft>
              <a:defRPr sz="1200" b="0">
                <a:solidFill>
                  <a:srgbClr val="1E1E1E"/>
                </a:solidFill>
                <a:latin typeface="Arial"/>
              </a:defRPr>
            </a:pPr>
            <a:r>
              <a:t>• Grade C (Mid Risk): Hardest segment to classify (89.70% accuracy), due to high overlap between default and non-default distributions.</a:t>
            </a:r>
          </a:p>
          <a:p>
            <a:pPr lvl="1">
              <a:spcAft>
                <a:spcPts val="800"/>
              </a:spcAft>
              <a:defRPr sz="1200" b="0">
                <a:solidFill>
                  <a:srgbClr val="1E1E1E"/>
                </a:solidFill>
                <a:latin typeface="Arial"/>
              </a:defRPr>
            </a:pPr>
            <a:r>
              <a:t>• Grades E-G (High Risk): Accuracy is high (91.67% to 100.00%) because defaults dominate these categories.</a:t>
            </a:r>
          </a:p>
          <a:p>
            <a:pPr lvl="1">
              <a:spcAft>
                <a:spcPts val="800"/>
              </a:spcAft>
              <a:defRPr sz="1300" b="0">
                <a:solidFill>
                  <a:srgbClr val="1E1E1E"/>
                </a:solidFill>
                <a:latin typeface="Arial"/>
              </a:defRPr>
            </a:pPr>
            <a:r>
              <a:t>• Limitations: Sample size is highly skewed. Grades F and G have very few observations (16 and 12), so their accuracy metrics are less stable.</a:t>
            </a:r>
          </a:p>
        </p:txBody>
      </p:sp>
      <p:pic>
        <p:nvPicPr>
          <p:cNvPr id="4" name="Picture 3" descr="model_grade_performance.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31: Accuracy compared with actual default rate per credit grade segment.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Classification SHAP</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SHAP Game-Theoretic Attributions</a:t>
            </a:r>
          </a:p>
          <a:p>
            <a:pPr>
              <a:spcAft>
                <a:spcPts val="800"/>
              </a:spcAft>
              <a:defRPr sz="1300" b="0">
                <a:solidFill>
                  <a:srgbClr val="1E1E1E"/>
                </a:solidFill>
                <a:latin typeface="Arial"/>
              </a:defRPr>
            </a:pPr>
            <a:r>
              <a:t>SHAP values decompose predictions into individual feature contributions, explaining decision paths:</a:t>
            </a:r>
          </a:p>
          <a:p>
            <a:pPr lvl="1">
              <a:spcAft>
                <a:spcPts val="800"/>
              </a:spcAft>
              <a:defRPr sz="1200" b="0">
                <a:solidFill>
                  <a:srgbClr val="1E1E1E"/>
                </a:solidFill>
                <a:latin typeface="Arial"/>
              </a:defRPr>
            </a:pPr>
            <a:r>
              <a:t>• Income-to-Loan Ratio (Rank 1): Strongest risk dampener. Borrowers earning much more than they borrow are low risk.</a:t>
            </a:r>
          </a:p>
          <a:p>
            <a:pPr lvl="1">
              <a:spcAft>
                <a:spcPts val="800"/>
              </a:spcAft>
              <a:defRPr sz="1200" b="0">
                <a:solidFill>
                  <a:srgbClr val="1E1E1E"/>
                </a:solidFill>
                <a:latin typeface="Arial"/>
              </a:defRPr>
            </a:pPr>
            <a:r>
              <a:t>• Rent Status (Rank 2): Strongest risk driver. Renters show lower asset stability.</a:t>
            </a:r>
          </a:p>
          <a:p>
            <a:pPr lvl="1">
              <a:spcAft>
                <a:spcPts val="800"/>
              </a:spcAft>
              <a:defRPr sz="1200" b="0">
                <a:solidFill>
                  <a:srgbClr val="1E1E1E"/>
                </a:solidFill>
                <a:latin typeface="Arial"/>
              </a:defRPr>
            </a:pPr>
            <a:r>
              <a:t>• Loan Percent of Income (Rank 3): High debt-to-income ratios increase default risk.</a:t>
            </a:r>
          </a:p>
          <a:p>
            <a:pPr lvl="1">
              <a:spcAft>
                <a:spcPts val="800"/>
              </a:spcAft>
              <a:defRPr sz="1200" b="0">
                <a:solidFill>
                  <a:srgbClr val="1E1E1E"/>
                </a:solidFill>
                <a:latin typeface="Arial"/>
              </a:defRPr>
            </a:pPr>
            <a:r>
              <a:t>• Home Ownership (Rank 4): Owning home indicates financial stability and reduces risk.</a:t>
            </a:r>
          </a:p>
        </p:txBody>
      </p:sp>
      <p:pic>
        <p:nvPicPr>
          <p:cNvPr id="4" name="Picture 3" descr="shap_classificat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32: Mean absolute SHAP values for top 10 features influencing default classification.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Bayesian Causal Inference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White-Box Probability DAG Structure</a:t>
            </a:r>
          </a:p>
          <a:p>
            <a:pPr>
              <a:spcAft>
                <a:spcPts val="800"/>
              </a:spcAft>
              <a:defRPr sz="1300" b="0">
                <a:solidFill>
                  <a:srgbClr val="1E1E1E"/>
                </a:solidFill>
                <a:latin typeface="Arial"/>
              </a:defRPr>
            </a:pPr>
            <a:r>
              <a:t>We trained a Bayesian Network (Heckerman, 1997) using pgmpy's `HillClimbSearch` and the BIC scoring method to capture causal flows:</a:t>
            </a:r>
          </a:p>
          <a:p>
            <a:pPr lvl="1">
              <a:spcAft>
                <a:spcPts val="800"/>
              </a:spcAft>
              <a:defRPr sz="1300" b="0">
                <a:solidFill>
                  <a:srgbClr val="1E1E1E"/>
                </a:solidFill>
                <a:latin typeface="Arial"/>
              </a:defRPr>
            </a:pPr>
            <a:r>
              <a:t>• Graph Constraints: Maximum in-degree of 3 was enforced to ensure visual and logical simplicity.</a:t>
            </a:r>
          </a:p>
          <a:p>
            <a:pPr lvl="1">
              <a:spcAft>
                <a:spcPts val="800"/>
              </a:spcAft>
              <a:defRPr sz="1300" b="0">
                <a:solidFill>
                  <a:srgbClr val="1E1E1E"/>
                </a:solidFill>
                <a:latin typeface="Arial"/>
              </a:defRPr>
            </a:pPr>
            <a:r>
              <a:t>• Learned Causal Links (Figure 33):</a:t>
            </a:r>
          </a:p>
          <a:p>
            <a:pPr lvl="2">
              <a:spcAft>
                <a:spcPts val="800"/>
              </a:spcAft>
              <a:defRPr sz="1200" b="0">
                <a:solidFill>
                  <a:srgbClr val="1E1E1E"/>
                </a:solidFill>
                <a:latin typeface="Arial"/>
              </a:defRPr>
            </a:pPr>
            <a:r>
              <a:t>   - Home Ownership -&gt; Default Status</a:t>
            </a:r>
          </a:p>
          <a:p>
            <a:pPr lvl="2">
              <a:spcAft>
                <a:spcPts val="800"/>
              </a:spcAft>
              <a:defRPr sz="1200" b="0">
                <a:solidFill>
                  <a:srgbClr val="1E1E1E"/>
                </a:solidFill>
                <a:latin typeface="Arial"/>
              </a:defRPr>
            </a:pPr>
            <a:r>
              <a:t>   - Credit Grade -&gt; Default Status</a:t>
            </a:r>
          </a:p>
          <a:p>
            <a:pPr lvl="2">
              <a:spcAft>
                <a:spcPts val="800"/>
              </a:spcAft>
              <a:defRPr sz="1200" b="0">
                <a:solidFill>
                  <a:srgbClr val="1E1E1E"/>
                </a:solidFill>
                <a:latin typeface="Arial"/>
              </a:defRPr>
            </a:pPr>
            <a:r>
              <a:t>   - Loan Burden % -&gt; Default Status</a:t>
            </a:r>
          </a:p>
          <a:p>
            <a:pPr>
              <a:spcAft>
                <a:spcPts val="800"/>
              </a:spcAft>
              <a:defRPr sz="1600" b="1">
                <a:solidFill>
                  <a:srgbClr val="0070B9"/>
                </a:solidFill>
                <a:latin typeface="Arial"/>
              </a:defRPr>
            </a:pPr>
            <a:r>
              <a:t>White-Box Reasoning Benefits</a:t>
            </a:r>
          </a:p>
          <a:p>
            <a:pPr lvl="1">
              <a:spcAft>
                <a:spcPts val="800"/>
              </a:spcAft>
              <a:defRPr sz="1300" b="0">
                <a:solidFill>
                  <a:srgbClr val="1E1E1E"/>
                </a:solidFill>
                <a:latin typeface="Arial"/>
              </a:defRPr>
            </a:pPr>
            <a:r>
              <a:t>• Unlike black-box ML models, Bayesian networks provide exact conditional probabilities that regulators can audit.</a:t>
            </a:r>
          </a:p>
          <a:p>
            <a:pPr lvl="1">
              <a:spcAft>
                <a:spcPts val="800"/>
              </a:spcAft>
              <a:defRPr sz="1300" b="0">
                <a:solidFill>
                  <a:srgbClr val="1E1E1E"/>
                </a:solidFill>
                <a:latin typeface="Arial"/>
              </a:defRPr>
            </a:pPr>
            <a:r>
              <a:t>• Used for probability inference via Variable Elimination when specific evidence is provided.</a:t>
            </a:r>
          </a:p>
        </p:txBody>
      </p:sp>
      <p:pic>
        <p:nvPicPr>
          <p:cNvPr id="4" name="Picture 3" descr="model_bayesian_dag.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33: Directed Acyclic Graph (DAG) showing causal dependencies learned from credit data.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Regression Performance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Lending Regression Benchmarks</a:t>
            </a:r>
          </a:p>
          <a:p>
            <a:pPr>
              <a:spcAft>
                <a:spcPts val="800"/>
              </a:spcAft>
              <a:defRPr sz="1300" b="0">
                <a:solidFill>
                  <a:srgbClr val="1E1E1E"/>
                </a:solidFill>
                <a:latin typeface="Arial"/>
              </a:defRPr>
            </a:pPr>
            <a:r>
              <a:t>We evaluate regression models on non-defaulting loans across three targets:</a:t>
            </a:r>
          </a:p>
          <a:p>
            <a:pPr lvl="1">
              <a:spcAft>
                <a:spcPts val="800"/>
              </a:spcAft>
              <a:defRPr sz="1200" b="0">
                <a:solidFill>
                  <a:srgbClr val="1E1E1E"/>
                </a:solidFill>
                <a:latin typeface="Arial"/>
              </a:defRPr>
            </a:pPr>
            <a:r>
              <a:t>1. Loan Amount (R2 = 0.198, MAE = $3,869): Moderate fit. Predictions cluster near the mean, underestimating large loans. Suitable for high-level estimates.</a:t>
            </a:r>
          </a:p>
          <a:p>
            <a:pPr lvl="1">
              <a:spcAft>
                <a:spcPts val="800"/>
              </a:spcAft>
              <a:defRPr sz="1200" b="0">
                <a:solidFill>
                  <a:srgbClr val="1E1E1E"/>
                </a:solidFill>
                <a:latin typeface="Arial"/>
              </a:defRPr>
            </a:pPr>
            <a:r>
              <a:t>2. Loan % Income (R2 = 0.092, MAE = 0.065): Weakest regressor. Shows limited predictive power, as loan-to-income ratios are heavily driven by external factors.</a:t>
            </a:r>
          </a:p>
          <a:p>
            <a:pPr lvl="1">
              <a:spcAft>
                <a:spcPts val="800"/>
              </a:spcAft>
              <a:defRPr sz="1200" b="0">
                <a:solidFill>
                  <a:srgbClr val="1E1E1E"/>
                </a:solidFill>
                <a:latin typeface="Arial"/>
              </a:defRPr>
            </a:pPr>
            <a:r>
              <a:t>3. Interest Rate (R2 = 0.222, MAE = 2.06%): Best performer. Captures credit grade and prior default relationships.</a:t>
            </a:r>
          </a:p>
          <a:p>
            <a:pPr>
              <a:spcAft>
                <a:spcPts val="800"/>
              </a:spcAft>
              <a:defRPr sz="1300" b="0">
                <a:solidFill>
                  <a:srgbClr val="1E1E1E"/>
                </a:solidFill>
                <a:latin typeface="Arial"/>
              </a:defRPr>
            </a:pPr>
            <a:r>
              <a:t>Conclusion: Regression targets are heavily driven by lender policy and market rates not present in this dataset.</a:t>
            </a:r>
          </a:p>
        </p:txBody>
      </p:sp>
      <p:graphicFrame>
        <p:nvGraphicFramePr>
          <p:cNvPr id="4" name="Table 3"/>
          <p:cNvGraphicFramePr>
            <a:graphicFrameLocks noGrp="1"/>
          </p:cNvGraphicFramePr>
          <p:nvPr/>
        </p:nvGraphicFramePr>
        <p:xfrm>
          <a:off x="6217920" y="1965960"/>
          <a:ext cx="5486400" cy="4114800"/>
        </p:xfrm>
        <a:graphic>
          <a:graphicData uri="http://schemas.openxmlformats.org/drawingml/2006/table">
            <a:tbl>
              <a:tblPr firstRow="1" bandRow="1">
                <a:tableStyleId>{5C22544A-7EE6-4342-B048-85BDC9FD1C3A}</a:tableStyleId>
              </a:tblPr>
              <a:tblGrid>
                <a:gridCol w="1097280"/>
                <a:gridCol w="640080"/>
                <a:gridCol w="914400"/>
                <a:gridCol w="914400"/>
                <a:gridCol w="914400"/>
                <a:gridCol w="1005840"/>
              </a:tblGrid>
              <a:tr h="1028700">
                <a:tc>
                  <a:txBody>
                    <a:bodyPr/>
                    <a:lstStyle/>
                    <a:p>
                      <a:pPr algn="ctr">
                        <a:defRPr sz="1100" b="1">
                          <a:solidFill>
                            <a:srgbClr val="FFFFFF"/>
                          </a:solidFill>
                          <a:latin typeface="Arial"/>
                        </a:defRPr>
                      </a:pPr>
                      <a:r>
                        <a:t>Target</a:t>
                      </a:r>
                    </a:p>
                  </a:txBody>
                  <a:tcPr>
                    <a:solidFill>
                      <a:srgbClr val="0070B9"/>
                    </a:solidFill>
                  </a:tcPr>
                </a:tc>
                <a:tc>
                  <a:txBody>
                    <a:bodyPr/>
                    <a:lstStyle/>
                    <a:p>
                      <a:pPr algn="ctr">
                        <a:defRPr sz="1100" b="1">
                          <a:solidFill>
                            <a:srgbClr val="FFFFFF"/>
                          </a:solidFill>
                          <a:latin typeface="Arial"/>
                        </a:defRPr>
                      </a:pPr>
                      <a:r>
                        <a:t>R2</a:t>
                      </a:r>
                    </a:p>
                  </a:txBody>
                  <a:tcPr>
                    <a:solidFill>
                      <a:srgbClr val="0070B9"/>
                    </a:solidFill>
                  </a:tcPr>
                </a:tc>
                <a:tc>
                  <a:txBody>
                    <a:bodyPr/>
                    <a:lstStyle/>
                    <a:p>
                      <a:pPr algn="ctr">
                        <a:defRPr sz="1100" b="1">
                          <a:solidFill>
                            <a:srgbClr val="FFFFFF"/>
                          </a:solidFill>
                          <a:latin typeface="Arial"/>
                        </a:defRPr>
                      </a:pPr>
                      <a:r>
                        <a:t>MAE</a:t>
                      </a:r>
                    </a:p>
                  </a:txBody>
                  <a:tcPr>
                    <a:solidFill>
                      <a:srgbClr val="0070B9"/>
                    </a:solidFill>
                  </a:tcPr>
                </a:tc>
                <a:tc>
                  <a:txBody>
                    <a:bodyPr/>
                    <a:lstStyle/>
                    <a:p>
                      <a:pPr algn="ctr">
                        <a:defRPr sz="1100" b="1">
                          <a:solidFill>
                            <a:srgbClr val="FFFFFF"/>
                          </a:solidFill>
                          <a:latin typeface="Arial"/>
                        </a:defRPr>
                      </a:pPr>
                      <a:r>
                        <a:t>RMSE</a:t>
                      </a:r>
                    </a:p>
                  </a:txBody>
                  <a:tcPr>
                    <a:solidFill>
                      <a:srgbClr val="0070B9"/>
                    </a:solidFill>
                  </a:tcPr>
                </a:tc>
                <a:tc>
                  <a:txBody>
                    <a:bodyPr/>
                    <a:lstStyle/>
                    <a:p>
                      <a:pPr algn="ctr">
                        <a:defRPr sz="1100" b="1">
                          <a:solidFill>
                            <a:srgbClr val="FFFFFF"/>
                          </a:solidFill>
                          <a:latin typeface="Arial"/>
                        </a:defRPr>
                      </a:pPr>
                      <a:r>
                        <a:t>MAPE</a:t>
                      </a:r>
                    </a:p>
                  </a:txBody>
                  <a:tcPr>
                    <a:solidFill>
                      <a:srgbClr val="0070B9"/>
                    </a:solidFill>
                  </a:tcPr>
                </a:tc>
                <a:tc>
                  <a:txBody>
                    <a:bodyPr/>
                    <a:lstStyle/>
                    <a:p>
                      <a:pPr algn="ctr">
                        <a:defRPr sz="1100" b="1">
                          <a:solidFill>
                            <a:srgbClr val="FFFFFF"/>
                          </a:solidFill>
                          <a:latin typeface="Arial"/>
                        </a:defRPr>
                      </a:pPr>
                      <a:r>
                        <a:t>Assessment</a:t>
                      </a:r>
                    </a:p>
                  </a:txBody>
                  <a:tcPr>
                    <a:solidFill>
                      <a:srgbClr val="0070B9"/>
                    </a:solidFill>
                  </a:tcPr>
                </a:tc>
              </a:tr>
              <a:tr h="1028700">
                <a:tc>
                  <a:txBody>
                    <a:bodyPr/>
                    <a:lstStyle/>
                    <a:p>
                      <a:pPr algn="ctr">
                        <a:defRPr sz="950">
                          <a:solidFill>
                            <a:srgbClr val="323232"/>
                          </a:solidFill>
                          <a:latin typeface="Arial"/>
                        </a:defRPr>
                      </a:pPr>
                      <a:r>
                        <a:t>Loan Amount</a:t>
                      </a:r>
                    </a:p>
                  </a:txBody>
                  <a:tcPr>
                    <a:solidFill>
                      <a:srgbClr val="F5F5F5"/>
                    </a:solidFill>
                  </a:tcPr>
                </a:tc>
                <a:tc>
                  <a:txBody>
                    <a:bodyPr/>
                    <a:lstStyle/>
                    <a:p>
                      <a:pPr algn="ctr">
                        <a:defRPr sz="950">
                          <a:solidFill>
                            <a:srgbClr val="323232"/>
                          </a:solidFill>
                          <a:latin typeface="Arial"/>
                        </a:defRPr>
                      </a:pPr>
                      <a:r>
                        <a:t>0.1978</a:t>
                      </a:r>
                    </a:p>
                  </a:txBody>
                  <a:tcPr>
                    <a:solidFill>
                      <a:srgbClr val="F5F5F5"/>
                    </a:solidFill>
                  </a:tcPr>
                </a:tc>
                <a:tc>
                  <a:txBody>
                    <a:bodyPr/>
                    <a:lstStyle/>
                    <a:p>
                      <a:pPr algn="ctr">
                        <a:defRPr sz="950">
                          <a:solidFill>
                            <a:srgbClr val="323232"/>
                          </a:solidFill>
                          <a:latin typeface="Arial"/>
                        </a:defRPr>
                      </a:pPr>
                      <a:r>
                        <a:t>$3,869</a:t>
                      </a:r>
                    </a:p>
                  </a:txBody>
                  <a:tcPr>
                    <a:solidFill>
                      <a:srgbClr val="F5F5F5"/>
                    </a:solidFill>
                  </a:tcPr>
                </a:tc>
                <a:tc>
                  <a:txBody>
                    <a:bodyPr/>
                    <a:lstStyle/>
                    <a:p>
                      <a:pPr algn="ctr">
                        <a:defRPr sz="950">
                          <a:solidFill>
                            <a:srgbClr val="323232"/>
                          </a:solidFill>
                          <a:latin typeface="Arial"/>
                        </a:defRPr>
                      </a:pPr>
                      <a:r>
                        <a:t>$5,048</a:t>
                      </a:r>
                    </a:p>
                  </a:txBody>
                  <a:tcPr>
                    <a:solidFill>
                      <a:srgbClr val="F5F5F5"/>
                    </a:solidFill>
                  </a:tcPr>
                </a:tc>
                <a:tc>
                  <a:txBody>
                    <a:bodyPr/>
                    <a:lstStyle/>
                    <a:p>
                      <a:pPr algn="ctr">
                        <a:defRPr sz="950">
                          <a:solidFill>
                            <a:srgbClr val="323232"/>
                          </a:solidFill>
                          <a:latin typeface="Arial"/>
                        </a:defRPr>
                      </a:pPr>
                      <a:r>
                        <a:t>73.7%</a:t>
                      </a:r>
                    </a:p>
                  </a:txBody>
                  <a:tcPr>
                    <a:solidFill>
                      <a:srgbClr val="F5F5F5"/>
                    </a:solidFill>
                  </a:tcPr>
                </a:tc>
                <a:tc>
                  <a:txBody>
                    <a:bodyPr/>
                    <a:lstStyle/>
                    <a:p>
                      <a:pPr algn="ctr">
                        <a:defRPr sz="950">
                          <a:solidFill>
                            <a:srgbClr val="323232"/>
                          </a:solidFill>
                          <a:latin typeface="Arial"/>
                        </a:defRPr>
                      </a:pPr>
                      <a:r>
                        <a:t>Moderate</a:t>
                      </a:r>
                    </a:p>
                  </a:txBody>
                  <a:tcPr>
                    <a:solidFill>
                      <a:srgbClr val="F5F5F5"/>
                    </a:solidFill>
                  </a:tcPr>
                </a:tc>
              </a:tr>
              <a:tr h="1028700">
                <a:tc>
                  <a:txBody>
                    <a:bodyPr/>
                    <a:lstStyle/>
                    <a:p>
                      <a:pPr algn="ctr">
                        <a:defRPr sz="950">
                          <a:solidFill>
                            <a:srgbClr val="323232"/>
                          </a:solidFill>
                          <a:latin typeface="Arial"/>
                        </a:defRPr>
                      </a:pPr>
                      <a:r>
                        <a:t>Loan % Income</a:t>
                      </a:r>
                    </a:p>
                  </a:txBody>
                  <a:tcPr>
                    <a:solidFill>
                      <a:srgbClr val="FFFFFF"/>
                    </a:solidFill>
                  </a:tcPr>
                </a:tc>
                <a:tc>
                  <a:txBody>
                    <a:bodyPr/>
                    <a:lstStyle/>
                    <a:p>
                      <a:pPr algn="ctr">
                        <a:defRPr sz="950">
                          <a:solidFill>
                            <a:srgbClr val="323232"/>
                          </a:solidFill>
                          <a:latin typeface="Arial"/>
                        </a:defRPr>
                      </a:pPr>
                      <a:r>
                        <a:t>0.0918</a:t>
                      </a:r>
                    </a:p>
                  </a:txBody>
                  <a:tcPr>
                    <a:solidFill>
                      <a:srgbClr val="FFFFFF"/>
                    </a:solidFill>
                  </a:tcPr>
                </a:tc>
                <a:tc>
                  <a:txBody>
                    <a:bodyPr/>
                    <a:lstStyle/>
                    <a:p>
                      <a:pPr algn="ctr">
                        <a:defRPr sz="950">
                          <a:solidFill>
                            <a:srgbClr val="323232"/>
                          </a:solidFill>
                          <a:latin typeface="Arial"/>
                        </a:defRPr>
                      </a:pPr>
                      <a:r>
                        <a:t>0.065</a:t>
                      </a:r>
                    </a:p>
                  </a:txBody>
                  <a:tcPr>
                    <a:solidFill>
                      <a:srgbClr val="FFFFFF"/>
                    </a:solidFill>
                  </a:tcPr>
                </a:tc>
                <a:tc>
                  <a:txBody>
                    <a:bodyPr/>
                    <a:lstStyle/>
                    <a:p>
                      <a:pPr algn="ctr">
                        <a:defRPr sz="950">
                          <a:solidFill>
                            <a:srgbClr val="323232"/>
                          </a:solidFill>
                          <a:latin typeface="Arial"/>
                        </a:defRPr>
                      </a:pPr>
                      <a:r>
                        <a:t>0.082</a:t>
                      </a:r>
                    </a:p>
                  </a:txBody>
                  <a:tcPr>
                    <a:solidFill>
                      <a:srgbClr val="FFFFFF"/>
                    </a:solidFill>
                  </a:tcPr>
                </a:tc>
                <a:tc>
                  <a:txBody>
                    <a:bodyPr/>
                    <a:lstStyle/>
                    <a:p>
                      <a:pPr algn="ctr">
                        <a:defRPr sz="950">
                          <a:solidFill>
                            <a:srgbClr val="323232"/>
                          </a:solidFill>
                          <a:latin typeface="Arial"/>
                        </a:defRPr>
                      </a:pPr>
                      <a:r>
                        <a:t>73.9%</a:t>
                      </a:r>
                    </a:p>
                  </a:txBody>
                  <a:tcPr>
                    <a:solidFill>
                      <a:srgbClr val="FFFFFF"/>
                    </a:solidFill>
                  </a:tcPr>
                </a:tc>
                <a:tc>
                  <a:txBody>
                    <a:bodyPr/>
                    <a:lstStyle/>
                    <a:p>
                      <a:pPr algn="ctr">
                        <a:defRPr sz="950">
                          <a:solidFill>
                            <a:srgbClr val="323232"/>
                          </a:solidFill>
                          <a:latin typeface="Arial"/>
                        </a:defRPr>
                      </a:pPr>
                      <a:r>
                        <a:t>Weak</a:t>
                      </a:r>
                    </a:p>
                  </a:txBody>
                  <a:tcPr>
                    <a:solidFill>
                      <a:srgbClr val="FFFFFF"/>
                    </a:solidFill>
                  </a:tcPr>
                </a:tc>
              </a:tr>
              <a:tr h="1028700">
                <a:tc>
                  <a:txBody>
                    <a:bodyPr/>
                    <a:lstStyle/>
                    <a:p>
                      <a:pPr algn="ctr">
                        <a:defRPr sz="950">
                          <a:solidFill>
                            <a:srgbClr val="323232"/>
                          </a:solidFill>
                          <a:latin typeface="Arial"/>
                        </a:defRPr>
                      </a:pPr>
                      <a:r>
                        <a:t>Interest Rate</a:t>
                      </a:r>
                    </a:p>
                  </a:txBody>
                  <a:tcPr>
                    <a:solidFill>
                      <a:srgbClr val="F5F5F5"/>
                    </a:solidFill>
                  </a:tcPr>
                </a:tc>
                <a:tc>
                  <a:txBody>
                    <a:bodyPr/>
                    <a:lstStyle/>
                    <a:p>
                      <a:pPr algn="ctr">
                        <a:defRPr sz="950">
                          <a:solidFill>
                            <a:srgbClr val="323232"/>
                          </a:solidFill>
                          <a:latin typeface="Arial"/>
                        </a:defRPr>
                      </a:pPr>
                      <a:r>
                        <a:t>0.2223</a:t>
                      </a:r>
                    </a:p>
                  </a:txBody>
                  <a:tcPr>
                    <a:solidFill>
                      <a:srgbClr val="F5F5F5"/>
                    </a:solidFill>
                  </a:tcPr>
                </a:tc>
                <a:tc>
                  <a:txBody>
                    <a:bodyPr/>
                    <a:lstStyle/>
                    <a:p>
                      <a:pPr algn="ctr">
                        <a:defRPr sz="950">
                          <a:solidFill>
                            <a:srgbClr val="323232"/>
                          </a:solidFill>
                          <a:latin typeface="Arial"/>
                        </a:defRPr>
                      </a:pPr>
                      <a:r>
                        <a:t>2.06%</a:t>
                      </a:r>
                    </a:p>
                  </a:txBody>
                  <a:tcPr>
                    <a:solidFill>
                      <a:srgbClr val="F5F5F5"/>
                    </a:solidFill>
                  </a:tcPr>
                </a:tc>
                <a:tc>
                  <a:txBody>
                    <a:bodyPr/>
                    <a:lstStyle/>
                    <a:p>
                      <a:pPr algn="ctr">
                        <a:defRPr sz="950">
                          <a:solidFill>
                            <a:srgbClr val="323232"/>
                          </a:solidFill>
                          <a:latin typeface="Arial"/>
                        </a:defRPr>
                      </a:pPr>
                      <a:r>
                        <a:t>2.53%</a:t>
                      </a:r>
                    </a:p>
                  </a:txBody>
                  <a:tcPr>
                    <a:solidFill>
                      <a:srgbClr val="F5F5F5"/>
                    </a:solidFill>
                  </a:tcPr>
                </a:tc>
                <a:tc>
                  <a:txBody>
                    <a:bodyPr/>
                    <a:lstStyle/>
                    <a:p>
                      <a:pPr algn="ctr">
                        <a:defRPr sz="950">
                          <a:solidFill>
                            <a:srgbClr val="323232"/>
                          </a:solidFill>
                          <a:latin typeface="Arial"/>
                        </a:defRPr>
                      </a:pPr>
                      <a:r>
                        <a:t>22.5%</a:t>
                      </a:r>
                    </a:p>
                  </a:txBody>
                  <a:tcPr>
                    <a:solidFill>
                      <a:srgbClr val="F5F5F5"/>
                    </a:solidFill>
                  </a:tcPr>
                </a:tc>
                <a:tc>
                  <a:txBody>
                    <a:bodyPr/>
                    <a:lstStyle/>
                    <a:p>
                      <a:pPr algn="ctr">
                        <a:defRPr sz="950">
                          <a:solidFill>
                            <a:srgbClr val="323232"/>
                          </a:solidFill>
                          <a:latin typeface="Arial"/>
                        </a:defRPr>
                      </a:pPr>
                      <a:r>
                        <a:t>Moderate (Best)</a:t>
                      </a:r>
                    </a:p>
                  </a:txBody>
                  <a:tcPr>
                    <a:solidFill>
                      <a:srgbClr val="F5F5F5"/>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Interest Rate OLS Diagnostics</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OLS Diagnostic Plots Analysis</a:t>
            </a:r>
          </a:p>
          <a:p>
            <a:pPr lvl="1">
              <a:spcAft>
                <a:spcPts val="800"/>
              </a:spcAft>
              <a:defRPr sz="1200" b="0">
                <a:solidFill>
                  <a:srgbClr val="1E1E1E"/>
                </a:solidFill>
                <a:latin typeface="Arial"/>
              </a:defRPr>
            </a:pPr>
            <a:r>
              <a:t>• Residuals vs. Fitted (Top Left): Residuals scatter randomly around zero. A wider spread at higher rates indicates mild heteroscedasticity.</a:t>
            </a:r>
          </a:p>
          <a:p>
            <a:pPr lvl="1">
              <a:spcAft>
                <a:spcPts val="800"/>
              </a:spcAft>
              <a:defRPr sz="1200" b="0">
                <a:solidFill>
                  <a:srgbClr val="1E1E1E"/>
                </a:solidFill>
                <a:latin typeface="Arial"/>
              </a:defRPr>
            </a:pPr>
            <a:r>
              <a:t>• Normal Q-Q Plot (Top Right): Points align with the 45-degree line, though heavy tails indicate occasional large errors.</a:t>
            </a:r>
          </a:p>
          <a:p>
            <a:pPr lvl="1">
              <a:spcAft>
                <a:spcPts val="800"/>
              </a:spcAft>
              <a:defRPr sz="1200" b="0">
                <a:solidFill>
                  <a:srgbClr val="1E1E1E"/>
                </a:solidFill>
                <a:latin typeface="Arial"/>
              </a:defRPr>
            </a:pPr>
            <a:r>
              <a:t>• Scale-Location (Bottom Left): Constant spread confirms that non-constant variance is mild.</a:t>
            </a:r>
          </a:p>
          <a:p>
            <a:pPr lvl="1">
              <a:spcAft>
                <a:spcPts val="800"/>
              </a:spcAft>
              <a:defRPr sz="1200" b="0">
                <a:solidFill>
                  <a:srgbClr val="1E1E1E"/>
                </a:solidFill>
                <a:latin typeface="Arial"/>
              </a:defRPr>
            </a:pPr>
            <a:r>
              <a:t>• Residual Histogram (Bottom Right): Symmetric and centered at zero (mean = -0.0003), confirming that estimates are unbiased.</a:t>
            </a:r>
          </a:p>
          <a:p>
            <a:pPr>
              <a:spcAft>
                <a:spcPts val="800"/>
              </a:spcAft>
              <a:defRPr sz="1300" b="0">
                <a:solidFill>
                  <a:srgbClr val="1E1E1E"/>
                </a:solidFill>
                <a:latin typeface="Arial"/>
              </a:defRPr>
            </a:pPr>
            <a:r>
              <a:t>Summary: Satisfies basic regression assumptions, providing unbiased interest rate estimates.</a:t>
            </a:r>
          </a:p>
        </p:txBody>
      </p:sp>
      <p:pic>
        <p:nvPicPr>
          <p:cNvPr id="4" name="Picture 3" descr="model_regression_diagnostics.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35: Four-panel OLS residual diagnostics for the interest rate regression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Interest Rate MAE by Grade</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Interest Rate Prediction by Credit Grade</a:t>
            </a:r>
          </a:p>
          <a:p>
            <a:pPr>
              <a:spcAft>
                <a:spcPts val="800"/>
              </a:spcAft>
              <a:defRPr sz="1300" b="0">
                <a:solidFill>
                  <a:srgbClr val="1E1E1E"/>
                </a:solidFill>
                <a:latin typeface="Arial"/>
              </a:defRPr>
            </a:pPr>
            <a:r>
              <a:t>We evaluate interest rate MAE separately for each credit grade segment:</a:t>
            </a:r>
          </a:p>
          <a:p>
            <a:pPr lvl="1">
              <a:spcAft>
                <a:spcPts val="800"/>
              </a:spcAft>
              <a:defRPr sz="1200" b="0">
                <a:solidFill>
                  <a:srgbClr val="1E1E1E"/>
                </a:solidFill>
                <a:latin typeface="Arial"/>
              </a:defRPr>
            </a:pPr>
            <a:r>
              <a:t>• Grade B (Largest Class): Achieved the best performance with an MAE of 1.17 percentage points, benefiting from data consistency.</a:t>
            </a:r>
          </a:p>
          <a:p>
            <a:pPr lvl="1">
              <a:spcAft>
                <a:spcPts val="800"/>
              </a:spcAft>
              <a:defRPr sz="1200" b="0">
                <a:solidFill>
                  <a:srgbClr val="1E1E1E"/>
                </a:solidFill>
                <a:latin typeface="Arial"/>
              </a:defRPr>
            </a:pPr>
            <a:r>
              <a:t>• Grade C: Achieved moderate performance with an MAE of 2.13 percentage points.</a:t>
            </a:r>
          </a:p>
          <a:p>
            <a:pPr lvl="1">
              <a:spcAft>
                <a:spcPts val="800"/>
              </a:spcAft>
              <a:defRPr sz="1200" b="0">
                <a:solidFill>
                  <a:srgbClr val="1E1E1E"/>
                </a:solidFill>
                <a:latin typeface="Arial"/>
              </a:defRPr>
            </a:pPr>
            <a:r>
              <a:t>• Grades E &amp; F: Showed the largest errors (MAE of 5.44 and 5.71 percentage points).</a:t>
            </a:r>
          </a:p>
          <a:p>
            <a:pPr lvl="1">
              <a:spcAft>
                <a:spcPts val="800"/>
              </a:spcAft>
              <a:defRPr sz="1300" b="0">
                <a:solidFill>
                  <a:srgbClr val="1E1E1E"/>
                </a:solidFill>
                <a:latin typeface="Arial"/>
              </a:defRPr>
            </a:pPr>
            <a:r>
              <a:t>• Risk Gradient Pattern: Prediction error increases for higher-risk credit grades due to limited training samples and greater interest rate variance in these categories.</a:t>
            </a:r>
          </a:p>
        </p:txBody>
      </p:sp>
      <p:graphicFrame>
        <p:nvGraphicFramePr>
          <p:cNvPr id="4" name="Table 3"/>
          <p:cNvGraphicFramePr>
            <a:graphicFrameLocks noGrp="1"/>
          </p:cNvGraphicFramePr>
          <p:nvPr/>
        </p:nvGraphicFramePr>
        <p:xfrm>
          <a:off x="6217920" y="1965960"/>
          <a:ext cx="5486400" cy="4114800"/>
        </p:xfrm>
        <a:graphic>
          <a:graphicData uri="http://schemas.openxmlformats.org/drawingml/2006/table">
            <a:tbl>
              <a:tblPr firstRow="1" bandRow="1">
                <a:tableStyleId>{5C22544A-7EE6-4342-B048-85BDC9FD1C3A}</a:tableStyleId>
              </a:tblPr>
              <a:tblGrid>
                <a:gridCol w="1097280"/>
                <a:gridCol w="1097280"/>
                <a:gridCol w="1097280"/>
                <a:gridCol w="1097280"/>
                <a:gridCol w="1097280"/>
              </a:tblGrid>
              <a:tr h="587828">
                <a:tc>
                  <a:txBody>
                    <a:bodyPr/>
                    <a:lstStyle/>
                    <a:p>
                      <a:pPr algn="ctr">
                        <a:defRPr sz="1100" b="1">
                          <a:solidFill>
                            <a:srgbClr val="FFFFFF"/>
                          </a:solidFill>
                          <a:latin typeface="Arial"/>
                        </a:defRPr>
                      </a:pPr>
                      <a:r>
                        <a:t>Grade</a:t>
                      </a:r>
                    </a:p>
                  </a:txBody>
                  <a:tcPr>
                    <a:solidFill>
                      <a:srgbClr val="0070B9"/>
                    </a:solidFill>
                  </a:tcPr>
                </a:tc>
                <a:tc>
                  <a:txBody>
                    <a:bodyPr/>
                    <a:lstStyle/>
                    <a:p>
                      <a:pPr algn="ctr">
                        <a:defRPr sz="1100" b="1">
                          <a:solidFill>
                            <a:srgbClr val="FFFFFF"/>
                          </a:solidFill>
                          <a:latin typeface="Arial"/>
                        </a:defRPr>
                      </a:pPr>
                      <a:r>
                        <a:t>Mean Rate</a:t>
                      </a:r>
                    </a:p>
                  </a:txBody>
                  <a:tcPr>
                    <a:solidFill>
                      <a:srgbClr val="0070B9"/>
                    </a:solidFill>
                  </a:tcPr>
                </a:tc>
                <a:tc>
                  <a:txBody>
                    <a:bodyPr/>
                    <a:lstStyle/>
                    <a:p>
                      <a:pPr algn="ctr">
                        <a:defRPr sz="1100" b="1">
                          <a:solidFill>
                            <a:srgbClr val="FFFFFF"/>
                          </a:solidFill>
                          <a:latin typeface="Arial"/>
                        </a:defRPr>
                      </a:pPr>
                      <a:r>
                        <a:t>MAE (p.p.)</a:t>
                      </a:r>
                    </a:p>
                  </a:txBody>
                  <a:tcPr>
                    <a:solidFill>
                      <a:srgbClr val="0070B9"/>
                    </a:solidFill>
                  </a:tcPr>
                </a:tc>
                <a:tc>
                  <a:txBody>
                    <a:bodyPr/>
                    <a:lstStyle/>
                    <a:p>
                      <a:pPr algn="ctr">
                        <a:defRPr sz="1100" b="1">
                          <a:solidFill>
                            <a:srgbClr val="FFFFFF"/>
                          </a:solidFill>
                          <a:latin typeface="Arial"/>
                        </a:defRPr>
                      </a:pPr>
                      <a:r>
                        <a:t>Std Error</a:t>
                      </a:r>
                    </a:p>
                  </a:txBody>
                  <a:tcPr>
                    <a:solidFill>
                      <a:srgbClr val="0070B9"/>
                    </a:solidFill>
                  </a:tcPr>
                </a:tc>
                <a:tc>
                  <a:txBody>
                    <a:bodyPr/>
                    <a:lstStyle/>
                    <a:p>
                      <a:pPr algn="ctr">
                        <a:defRPr sz="1100" b="1">
                          <a:solidFill>
                            <a:srgbClr val="FFFFFF"/>
                          </a:solidFill>
                          <a:latin typeface="Arial"/>
                        </a:defRPr>
                      </a:pPr>
                      <a:r>
                        <a:t>Samples</a:t>
                      </a:r>
                    </a:p>
                  </a:txBody>
                  <a:tcPr>
                    <a:solidFill>
                      <a:srgbClr val="0070B9"/>
                    </a:solidFill>
                  </a:tcPr>
                </a:tc>
              </a:tr>
              <a:tr h="587828">
                <a:tc>
                  <a:txBody>
                    <a:bodyPr/>
                    <a:lstStyle/>
                    <a:p>
                      <a:pPr algn="ctr">
                        <a:defRPr sz="950">
                          <a:solidFill>
                            <a:srgbClr val="323232"/>
                          </a:solidFill>
                          <a:latin typeface="Arial"/>
                        </a:defRPr>
                      </a:pPr>
                      <a:r>
                        <a:t>A</a:t>
                      </a:r>
                    </a:p>
                  </a:txBody>
                  <a:tcPr>
                    <a:solidFill>
                      <a:srgbClr val="F5F5F5"/>
                    </a:solidFill>
                  </a:tcPr>
                </a:tc>
                <a:tc>
                  <a:txBody>
                    <a:bodyPr/>
                    <a:lstStyle/>
                    <a:p>
                      <a:pPr algn="ctr">
                        <a:defRPr sz="950">
                          <a:solidFill>
                            <a:srgbClr val="323232"/>
                          </a:solidFill>
                          <a:latin typeface="Arial"/>
                        </a:defRPr>
                      </a:pPr>
                      <a:r>
                        <a:t>7.63%</a:t>
                      </a:r>
                    </a:p>
                  </a:txBody>
                  <a:tcPr>
                    <a:solidFill>
                      <a:srgbClr val="F5F5F5"/>
                    </a:solidFill>
                  </a:tcPr>
                </a:tc>
                <a:tc>
                  <a:txBody>
                    <a:bodyPr/>
                    <a:lstStyle/>
                    <a:p>
                      <a:pPr algn="ctr">
                        <a:defRPr sz="950">
                          <a:solidFill>
                            <a:srgbClr val="323232"/>
                          </a:solidFill>
                          <a:latin typeface="Arial"/>
                        </a:defRPr>
                      </a:pPr>
                      <a:r>
                        <a:t>2.457</a:t>
                      </a:r>
                    </a:p>
                  </a:txBody>
                  <a:tcPr>
                    <a:solidFill>
                      <a:srgbClr val="F5F5F5"/>
                    </a:solidFill>
                  </a:tcPr>
                </a:tc>
                <a:tc>
                  <a:txBody>
                    <a:bodyPr/>
                    <a:lstStyle/>
                    <a:p>
                      <a:pPr algn="ctr">
                        <a:defRPr sz="950">
                          <a:solidFill>
                            <a:srgbClr val="323232"/>
                          </a:solidFill>
                          <a:latin typeface="Arial"/>
                        </a:defRPr>
                      </a:pPr>
                      <a:r>
                        <a:t>1.141</a:t>
                      </a:r>
                    </a:p>
                  </a:txBody>
                  <a:tcPr>
                    <a:solidFill>
                      <a:srgbClr val="F5F5F5"/>
                    </a:solidFill>
                  </a:tcPr>
                </a:tc>
                <a:tc>
                  <a:txBody>
                    <a:bodyPr/>
                    <a:lstStyle/>
                    <a:p>
                      <a:pPr algn="ctr">
                        <a:defRPr sz="950">
                          <a:solidFill>
                            <a:srgbClr val="323232"/>
                          </a:solidFill>
                          <a:latin typeface="Arial"/>
                        </a:defRPr>
                      </a:pPr>
                      <a:r>
                        <a:t>1,809</a:t>
                      </a:r>
                    </a:p>
                  </a:txBody>
                  <a:tcPr>
                    <a:solidFill>
                      <a:srgbClr val="F5F5F5"/>
                    </a:solidFill>
                  </a:tcPr>
                </a:tc>
              </a:tr>
              <a:tr h="587828">
                <a:tc>
                  <a:txBody>
                    <a:bodyPr/>
                    <a:lstStyle/>
                    <a:p>
                      <a:pPr algn="ctr">
                        <a:defRPr sz="950">
                          <a:solidFill>
                            <a:srgbClr val="323232"/>
                          </a:solidFill>
                          <a:latin typeface="Arial"/>
                        </a:defRPr>
                      </a:pPr>
                      <a:r>
                        <a:t>B</a:t>
                      </a:r>
                    </a:p>
                  </a:txBody>
                  <a:tcPr>
                    <a:solidFill>
                      <a:srgbClr val="FFFFFF"/>
                    </a:solidFill>
                  </a:tcPr>
                </a:tc>
                <a:tc>
                  <a:txBody>
                    <a:bodyPr/>
                    <a:lstStyle/>
                    <a:p>
                      <a:pPr algn="ctr">
                        <a:defRPr sz="950">
                          <a:solidFill>
                            <a:srgbClr val="323232"/>
                          </a:solidFill>
                          <a:latin typeface="Arial"/>
                        </a:defRPr>
                      </a:pPr>
                      <a:r>
                        <a:t>10.98%</a:t>
                      </a:r>
                    </a:p>
                  </a:txBody>
                  <a:tcPr>
                    <a:solidFill>
                      <a:srgbClr val="FFFFFF"/>
                    </a:solidFill>
                  </a:tcPr>
                </a:tc>
                <a:tc>
                  <a:txBody>
                    <a:bodyPr/>
                    <a:lstStyle/>
                    <a:p>
                      <a:pPr algn="ctr">
                        <a:defRPr sz="950">
                          <a:solidFill>
                            <a:srgbClr val="323232"/>
                          </a:solidFill>
                          <a:latin typeface="Arial"/>
                        </a:defRPr>
                      </a:pPr>
                      <a:r>
                        <a:t>1.166</a:t>
                      </a:r>
                    </a:p>
                  </a:txBody>
                  <a:tcPr>
                    <a:solidFill>
                      <a:srgbClr val="FFFFFF"/>
                    </a:solidFill>
                  </a:tcPr>
                </a:tc>
                <a:tc>
                  <a:txBody>
                    <a:bodyPr/>
                    <a:lstStyle/>
                    <a:p>
                      <a:pPr algn="ctr">
                        <a:defRPr sz="950">
                          <a:solidFill>
                            <a:srgbClr val="323232"/>
                          </a:solidFill>
                          <a:latin typeface="Arial"/>
                        </a:defRPr>
                      </a:pPr>
                      <a:r>
                        <a:t>0.783</a:t>
                      </a:r>
                    </a:p>
                  </a:txBody>
                  <a:tcPr>
                    <a:solidFill>
                      <a:srgbClr val="FFFFFF"/>
                    </a:solidFill>
                  </a:tcPr>
                </a:tc>
                <a:tc>
                  <a:txBody>
                    <a:bodyPr/>
                    <a:lstStyle/>
                    <a:p>
                      <a:pPr algn="ctr">
                        <a:defRPr sz="950">
                          <a:solidFill>
                            <a:srgbClr val="323232"/>
                          </a:solidFill>
                          <a:latin typeface="Arial"/>
                        </a:defRPr>
                      </a:pPr>
                      <a:r>
                        <a:t>1,570</a:t>
                      </a:r>
                    </a:p>
                  </a:txBody>
                  <a:tcPr>
                    <a:solidFill>
                      <a:srgbClr val="FFFFFF"/>
                    </a:solidFill>
                  </a:tcPr>
                </a:tc>
              </a:tr>
              <a:tr h="587828">
                <a:tc>
                  <a:txBody>
                    <a:bodyPr/>
                    <a:lstStyle/>
                    <a:p>
                      <a:pPr algn="ctr">
                        <a:defRPr sz="950">
                          <a:solidFill>
                            <a:srgbClr val="323232"/>
                          </a:solidFill>
                          <a:latin typeface="Arial"/>
                        </a:defRPr>
                      </a:pPr>
                      <a:r>
                        <a:t>C</a:t>
                      </a:r>
                    </a:p>
                  </a:txBody>
                  <a:tcPr>
                    <a:solidFill>
                      <a:srgbClr val="F5F5F5"/>
                    </a:solidFill>
                  </a:tcPr>
                </a:tc>
                <a:tc>
                  <a:txBody>
                    <a:bodyPr/>
                    <a:lstStyle/>
                    <a:p>
                      <a:pPr algn="ctr">
                        <a:defRPr sz="950">
                          <a:solidFill>
                            <a:srgbClr val="323232"/>
                          </a:solidFill>
                          <a:latin typeface="Arial"/>
                        </a:defRPr>
                      </a:pPr>
                      <a:r>
                        <a:t>13.26%</a:t>
                      </a:r>
                    </a:p>
                  </a:txBody>
                  <a:tcPr>
                    <a:solidFill>
                      <a:srgbClr val="F5F5F5"/>
                    </a:solidFill>
                  </a:tcPr>
                </a:tc>
                <a:tc>
                  <a:txBody>
                    <a:bodyPr/>
                    <a:lstStyle/>
                    <a:p>
                      <a:pPr algn="ctr">
                        <a:defRPr sz="950">
                          <a:solidFill>
                            <a:srgbClr val="323232"/>
                          </a:solidFill>
                          <a:latin typeface="Arial"/>
                        </a:defRPr>
                      </a:pPr>
                      <a:r>
                        <a:t>2.128</a:t>
                      </a:r>
                    </a:p>
                  </a:txBody>
                  <a:tcPr>
                    <a:solidFill>
                      <a:srgbClr val="F5F5F5"/>
                    </a:solidFill>
                  </a:tcPr>
                </a:tc>
                <a:tc>
                  <a:txBody>
                    <a:bodyPr/>
                    <a:lstStyle/>
                    <a:p>
                      <a:pPr algn="ctr">
                        <a:defRPr sz="950">
                          <a:solidFill>
                            <a:srgbClr val="323232"/>
                          </a:solidFill>
                          <a:latin typeface="Arial"/>
                        </a:defRPr>
                      </a:pPr>
                      <a:r>
                        <a:t>1.533</a:t>
                      </a:r>
                    </a:p>
                  </a:txBody>
                  <a:tcPr>
                    <a:solidFill>
                      <a:srgbClr val="F5F5F5"/>
                    </a:solidFill>
                  </a:tcPr>
                </a:tc>
                <a:tc>
                  <a:txBody>
                    <a:bodyPr/>
                    <a:lstStyle/>
                    <a:p>
                      <a:pPr algn="ctr">
                        <a:defRPr sz="950">
                          <a:solidFill>
                            <a:srgbClr val="323232"/>
                          </a:solidFill>
                          <a:latin typeface="Arial"/>
                        </a:defRPr>
                      </a:pPr>
                      <a:r>
                        <a:t>872</a:t>
                      </a:r>
                    </a:p>
                  </a:txBody>
                  <a:tcPr>
                    <a:solidFill>
                      <a:srgbClr val="F5F5F5"/>
                    </a:solidFill>
                  </a:tcPr>
                </a:tc>
              </a:tr>
              <a:tr h="587828">
                <a:tc>
                  <a:txBody>
                    <a:bodyPr/>
                    <a:lstStyle/>
                    <a:p>
                      <a:pPr algn="ctr">
                        <a:defRPr sz="950">
                          <a:solidFill>
                            <a:srgbClr val="323232"/>
                          </a:solidFill>
                          <a:latin typeface="Arial"/>
                        </a:defRPr>
                      </a:pPr>
                      <a:r>
                        <a:t>D</a:t>
                      </a:r>
                    </a:p>
                  </a:txBody>
                  <a:tcPr>
                    <a:solidFill>
                      <a:srgbClr val="FFFFFF"/>
                    </a:solidFill>
                  </a:tcPr>
                </a:tc>
                <a:tc>
                  <a:txBody>
                    <a:bodyPr/>
                    <a:lstStyle/>
                    <a:p>
                      <a:pPr algn="ctr">
                        <a:defRPr sz="950">
                          <a:solidFill>
                            <a:srgbClr val="323232"/>
                          </a:solidFill>
                          <a:latin typeface="Arial"/>
                        </a:defRPr>
                      </a:pPr>
                      <a:r>
                        <a:t>14.99%</a:t>
                      </a:r>
                    </a:p>
                  </a:txBody>
                  <a:tcPr>
                    <a:solidFill>
                      <a:srgbClr val="FFFFFF"/>
                    </a:solidFill>
                  </a:tcPr>
                </a:tc>
                <a:tc>
                  <a:txBody>
                    <a:bodyPr/>
                    <a:lstStyle/>
                    <a:p>
                      <a:pPr algn="ctr">
                        <a:defRPr sz="950">
                          <a:solidFill>
                            <a:srgbClr val="323232"/>
                          </a:solidFill>
                          <a:latin typeface="Arial"/>
                        </a:defRPr>
                      </a:pPr>
                      <a:r>
                        <a:t>3.401</a:t>
                      </a:r>
                    </a:p>
                  </a:txBody>
                  <a:tcPr>
                    <a:solidFill>
                      <a:srgbClr val="FFFFFF"/>
                    </a:solidFill>
                  </a:tcPr>
                </a:tc>
                <a:tc>
                  <a:txBody>
                    <a:bodyPr/>
                    <a:lstStyle/>
                    <a:p>
                      <a:pPr algn="ctr">
                        <a:defRPr sz="950">
                          <a:solidFill>
                            <a:srgbClr val="323232"/>
                          </a:solidFill>
                          <a:latin typeface="Arial"/>
                        </a:defRPr>
                      </a:pPr>
                      <a:r>
                        <a:t>2.223</a:t>
                      </a:r>
                    </a:p>
                  </a:txBody>
                  <a:tcPr>
                    <a:solidFill>
                      <a:srgbClr val="FFFFFF"/>
                    </a:solidFill>
                  </a:tcPr>
                </a:tc>
                <a:tc>
                  <a:txBody>
                    <a:bodyPr/>
                    <a:lstStyle/>
                    <a:p>
                      <a:pPr algn="ctr">
                        <a:defRPr sz="950">
                          <a:solidFill>
                            <a:srgbClr val="323232"/>
                          </a:solidFill>
                          <a:latin typeface="Arial"/>
                        </a:defRPr>
                      </a:pPr>
                      <a:r>
                        <a:t>262</a:t>
                      </a:r>
                    </a:p>
                  </a:txBody>
                  <a:tcPr>
                    <a:solidFill>
                      <a:srgbClr val="FFFFFF"/>
                    </a:solidFill>
                  </a:tcPr>
                </a:tc>
              </a:tr>
              <a:tr h="587828">
                <a:tc>
                  <a:txBody>
                    <a:bodyPr/>
                    <a:lstStyle/>
                    <a:p>
                      <a:pPr algn="ctr">
                        <a:defRPr sz="950">
                          <a:solidFill>
                            <a:srgbClr val="323232"/>
                          </a:solidFill>
                          <a:latin typeface="Arial"/>
                        </a:defRPr>
                      </a:pPr>
                      <a:r>
                        <a:t>E</a:t>
                      </a:r>
                    </a:p>
                  </a:txBody>
                  <a:tcPr>
                    <a:solidFill>
                      <a:srgbClr val="F5F5F5"/>
                    </a:solidFill>
                  </a:tcPr>
                </a:tc>
                <a:tc>
                  <a:txBody>
                    <a:bodyPr/>
                    <a:lstStyle/>
                    <a:p>
                      <a:pPr algn="ctr">
                        <a:defRPr sz="950">
                          <a:solidFill>
                            <a:srgbClr val="323232"/>
                          </a:solidFill>
                          <a:latin typeface="Arial"/>
                        </a:defRPr>
                      </a:pPr>
                      <a:r>
                        <a:t>16.62%</a:t>
                      </a:r>
                    </a:p>
                  </a:txBody>
                  <a:tcPr>
                    <a:solidFill>
                      <a:srgbClr val="F5F5F5"/>
                    </a:solidFill>
                  </a:tcPr>
                </a:tc>
                <a:tc>
                  <a:txBody>
                    <a:bodyPr/>
                    <a:lstStyle/>
                    <a:p>
                      <a:pPr algn="ctr">
                        <a:defRPr sz="950">
                          <a:solidFill>
                            <a:srgbClr val="323232"/>
                          </a:solidFill>
                          <a:latin typeface="Arial"/>
                        </a:defRPr>
                      </a:pPr>
                      <a:r>
                        <a:t>5.440</a:t>
                      </a:r>
                    </a:p>
                  </a:txBody>
                  <a:tcPr>
                    <a:solidFill>
                      <a:srgbClr val="F5F5F5"/>
                    </a:solidFill>
                  </a:tcPr>
                </a:tc>
                <a:tc>
                  <a:txBody>
                    <a:bodyPr/>
                    <a:lstStyle/>
                    <a:p>
                      <a:pPr algn="ctr">
                        <a:defRPr sz="950">
                          <a:solidFill>
                            <a:srgbClr val="323232"/>
                          </a:solidFill>
                          <a:latin typeface="Arial"/>
                        </a:defRPr>
                      </a:pPr>
                      <a:r>
                        <a:t>2.448</a:t>
                      </a:r>
                    </a:p>
                  </a:txBody>
                  <a:tcPr>
                    <a:solidFill>
                      <a:srgbClr val="F5F5F5"/>
                    </a:solidFill>
                  </a:tcPr>
                </a:tc>
                <a:tc>
                  <a:txBody>
                    <a:bodyPr/>
                    <a:lstStyle/>
                    <a:p>
                      <a:pPr algn="ctr">
                        <a:defRPr sz="950">
                          <a:solidFill>
                            <a:srgbClr val="323232"/>
                          </a:solidFill>
                          <a:latin typeface="Arial"/>
                        </a:defRPr>
                      </a:pPr>
                      <a:r>
                        <a:t>58</a:t>
                      </a:r>
                    </a:p>
                  </a:txBody>
                  <a:tcPr>
                    <a:solidFill>
                      <a:srgbClr val="F5F5F5"/>
                    </a:solidFill>
                  </a:tcPr>
                </a:tc>
              </a:tr>
              <a:tr h="587832">
                <a:tc>
                  <a:txBody>
                    <a:bodyPr/>
                    <a:lstStyle/>
                    <a:p>
                      <a:pPr algn="ctr">
                        <a:defRPr sz="950">
                          <a:solidFill>
                            <a:srgbClr val="323232"/>
                          </a:solidFill>
                          <a:latin typeface="Arial"/>
                        </a:defRPr>
                      </a:pPr>
                      <a:r>
                        <a:t>F</a:t>
                      </a:r>
                    </a:p>
                  </a:txBody>
                  <a:tcPr>
                    <a:solidFill>
                      <a:srgbClr val="FFFFFF"/>
                    </a:solidFill>
                  </a:tcPr>
                </a:tc>
                <a:tc>
                  <a:txBody>
                    <a:bodyPr/>
                    <a:lstStyle/>
                    <a:p>
                      <a:pPr algn="ctr">
                        <a:defRPr sz="950">
                          <a:solidFill>
                            <a:srgbClr val="323232"/>
                          </a:solidFill>
                          <a:latin typeface="Arial"/>
                        </a:defRPr>
                      </a:pPr>
                      <a:r>
                        <a:t>17.99%</a:t>
                      </a:r>
                    </a:p>
                  </a:txBody>
                  <a:tcPr>
                    <a:solidFill>
                      <a:srgbClr val="FFFFFF"/>
                    </a:solidFill>
                  </a:tcPr>
                </a:tc>
                <a:tc>
                  <a:txBody>
                    <a:bodyPr/>
                    <a:lstStyle/>
                    <a:p>
                      <a:pPr algn="ctr">
                        <a:defRPr sz="950">
                          <a:solidFill>
                            <a:srgbClr val="323232"/>
                          </a:solidFill>
                          <a:latin typeface="Arial"/>
                        </a:defRPr>
                      </a:pPr>
                      <a:r>
                        <a:t>5.708</a:t>
                      </a:r>
                    </a:p>
                  </a:txBody>
                  <a:tcPr>
                    <a:solidFill>
                      <a:srgbClr val="FFFFFF"/>
                    </a:solidFill>
                  </a:tcPr>
                </a:tc>
                <a:tc>
                  <a:txBody>
                    <a:bodyPr/>
                    <a:lstStyle/>
                    <a:p>
                      <a:pPr algn="ctr">
                        <a:defRPr sz="950">
                          <a:solidFill>
                            <a:srgbClr val="323232"/>
                          </a:solidFill>
                          <a:latin typeface="Arial"/>
                        </a:defRPr>
                      </a:pPr>
                      <a:r>
                        <a:t>2.670</a:t>
                      </a:r>
                    </a:p>
                  </a:txBody>
                  <a:tcPr>
                    <a:solidFill>
                      <a:srgbClr val="FFFFFF"/>
                    </a:solidFill>
                  </a:tcPr>
                </a:tc>
                <a:tc>
                  <a:txBody>
                    <a:bodyPr/>
                    <a:lstStyle/>
                    <a:p>
                      <a:pPr algn="ctr">
                        <a:defRPr sz="950">
                          <a:solidFill>
                            <a:srgbClr val="323232"/>
                          </a:solidFill>
                          <a:latin typeface="Arial"/>
                        </a:defRPr>
                      </a:pPr>
                      <a:r>
                        <a:t>16</a:t>
                      </a:r>
                    </a:p>
                  </a:txBody>
                  <a:tcP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Analysis: Regression SHAP</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Interest Rate Regressor Explanation</a:t>
            </a:r>
          </a:p>
          <a:p>
            <a:pPr>
              <a:spcAft>
                <a:spcPts val="800"/>
              </a:spcAft>
              <a:defRPr sz="1300" b="0">
                <a:solidFill>
                  <a:srgbClr val="1E1E1E"/>
                </a:solidFill>
                <a:latin typeface="Arial"/>
              </a:defRPr>
            </a:pPr>
            <a:r>
              <a:t>SHAP feature attribution identifies the main drivers of the predicted interest rate:</a:t>
            </a:r>
          </a:p>
          <a:p>
            <a:pPr lvl="1">
              <a:spcAft>
                <a:spcPts val="800"/>
              </a:spcAft>
              <a:defRPr sz="1200" b="0">
                <a:solidFill>
                  <a:srgbClr val="1E1E1E"/>
                </a:solidFill>
                <a:latin typeface="Arial"/>
              </a:defRPr>
            </a:pPr>
            <a:r>
              <a:t>• Prior Default (default_on_file_binary) (Rank 1): Strongest positive driver. Borrowers with historical defaults are charged higher rates.</a:t>
            </a:r>
          </a:p>
          <a:p>
            <a:pPr lvl="1">
              <a:spcAft>
                <a:spcPts val="800"/>
              </a:spcAft>
              <a:defRPr sz="1200" b="0">
                <a:solidFill>
                  <a:srgbClr val="1E1E1E"/>
                </a:solidFill>
                <a:latin typeface="Arial"/>
              </a:defRPr>
            </a:pPr>
            <a:r>
              <a:t>• Mortgage (Rank 3): Strongest rate reducer. Having a mortgage indicates asset stability and reduces rates.</a:t>
            </a:r>
          </a:p>
          <a:p>
            <a:pPr lvl="1">
              <a:spcAft>
                <a:spcPts val="800"/>
              </a:spcAft>
              <a:defRPr sz="1200" b="0">
                <a:solidFill>
                  <a:srgbClr val="1E1E1E"/>
                </a:solidFill>
                <a:latin typeface="Arial"/>
              </a:defRPr>
            </a:pPr>
            <a:r>
              <a:t>• Rent Status (Rank 4): Renting increases risk and pushes interest rates higher.</a:t>
            </a:r>
          </a:p>
          <a:p>
            <a:pPr lvl="1">
              <a:spcAft>
                <a:spcPts val="800"/>
              </a:spcAft>
              <a:defRPr sz="1200" b="0">
                <a:solidFill>
                  <a:srgbClr val="1E1E1E"/>
                </a:solidFill>
                <a:latin typeface="Arial"/>
              </a:defRPr>
            </a:pPr>
            <a:r>
              <a:t>• Loan Intent: Education and Medical loans reduce interest rates, while Debt Consolidation increases them.</a:t>
            </a:r>
          </a:p>
        </p:txBody>
      </p:sp>
      <p:pic>
        <p:nvPicPr>
          <p:cNvPr id="4" name="Picture 3" descr="shap_regression.png"/>
          <p:cNvPicPr>
            <a:picLocks noChangeAspect="1"/>
          </p:cNvPicPr>
          <p:nvPr/>
        </p:nvPicPr>
        <p:blipFill>
          <a:blip r:embed="rId2"/>
          <a:stretch>
            <a:fillRect/>
          </a:stretch>
        </p:blipFill>
        <p:spPr>
          <a:xfrm>
            <a:off x="6217920" y="1965960"/>
            <a:ext cx="5212080" cy="3657600"/>
          </a:xfrm>
          <a:prstGeom prst="rect">
            <a:avLst/>
          </a:prstGeom>
        </p:spPr>
      </p:pic>
      <p:sp>
        <p:nvSpPr>
          <p:cNvPr id="5" name="TextBox 4"/>
          <p:cNvSpPr txBox="1"/>
          <p:nvPr/>
        </p:nvSpPr>
        <p:spPr>
          <a:xfrm>
            <a:off x="6217920" y="5715000"/>
            <a:ext cx="5212080" cy="640080"/>
          </a:xfrm>
          <a:prstGeom prst="rect">
            <a:avLst/>
          </a:prstGeom>
          <a:noFill/>
        </p:spPr>
        <p:txBody>
          <a:bodyPr wrap="square" lIns="0" rIns="0" tIns="0" bIns="0">
            <a:spAutoFit/>
          </a:bodyPr>
          <a:lstStyle/>
          <a:p>
            <a:pPr>
              <a:spcAft>
                <a:spcPts val="800"/>
              </a:spcAft>
              <a:defRPr sz="950" b="1">
                <a:solidFill>
                  <a:srgbClr val="646464"/>
                </a:solidFill>
                <a:latin typeface="Arial"/>
              </a:defRPr>
            </a:pPr>
            <a:r>
              <a:t>Figure 37: Mean absolute SHAP values for top 10 features influencing interest rate predictions.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a:t>
            </a:r>
          </a:p>
          <a:p>
            <a:r>
              <a:t>Conclusion &amp; References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Operations: Example Applicant</a:t>
            </a:r>
          </a:p>
        </p:txBody>
      </p:sp>
      <p:sp>
        <p:nvSpPr>
          <p:cNvPr id="3" name="TextBox 2"/>
          <p:cNvSpPr txBox="1"/>
          <p:nvPr/>
        </p:nvSpPr>
        <p:spPr>
          <a:xfrm>
            <a:off x="731520" y="1965960"/>
            <a:ext cx="512064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Model Inference on Sample Applicant</a:t>
            </a:r>
          </a:p>
          <a:p>
            <a:pPr>
              <a:spcAft>
                <a:spcPts val="800"/>
              </a:spcAft>
              <a:defRPr sz="1300" b="0">
                <a:solidFill>
                  <a:srgbClr val="1E1E1E"/>
                </a:solidFill>
                <a:latin typeface="Arial"/>
              </a:defRPr>
            </a:pPr>
            <a:r>
              <a:t>We run our saved pipelines on an example applicant to test operations:</a:t>
            </a:r>
          </a:p>
          <a:p>
            <a:pPr lvl="1">
              <a:spcAft>
                <a:spcPts val="800"/>
              </a:spcAft>
              <a:defRPr sz="1200" b="0">
                <a:solidFill>
                  <a:srgbClr val="1E1E1E"/>
                </a:solidFill>
                <a:latin typeface="Arial"/>
              </a:defRPr>
            </a:pPr>
            <a:r>
              <a:t>• CatBoost ML Pipeline: Predicts default probability = 98.60%, resulting in a Default decision.</a:t>
            </a:r>
          </a:p>
          <a:p>
            <a:pPr lvl="1">
              <a:spcAft>
                <a:spcPts val="800"/>
              </a:spcAft>
              <a:defRPr sz="1200" b="0">
                <a:solidFill>
                  <a:srgbClr val="1E1E1E"/>
                </a:solidFill>
                <a:latin typeface="Arial"/>
              </a:defRPr>
            </a:pPr>
            <a:r>
              <a:t>• Bayesian Network: Predicts default probability = 85.36%, agreeing with a Default decision.</a:t>
            </a:r>
          </a:p>
          <a:p>
            <a:pPr>
              <a:spcAft>
                <a:spcPts val="800"/>
              </a:spcAft>
              <a:defRPr sz="1300" b="0">
                <a:solidFill>
                  <a:srgbClr val="1E1E1E"/>
                </a:solidFill>
                <a:latin typeface="Arial"/>
              </a:defRPr>
            </a:pPr>
            <a:r>
              <a:t>• Regression Benchmarks:</a:t>
            </a:r>
          </a:p>
          <a:p>
            <a:pPr lvl="1">
              <a:spcAft>
                <a:spcPts val="800"/>
              </a:spcAft>
              <a:defRPr sz="1200" b="0">
                <a:solidFill>
                  <a:srgbClr val="1E1E1E"/>
                </a:solidFill>
                <a:latin typeface="Arial"/>
              </a:defRPr>
            </a:pPr>
            <a:r>
              <a:t>   - Predicted Loan Amount = $8,943.68</a:t>
            </a:r>
          </a:p>
          <a:p>
            <a:pPr lvl="1">
              <a:spcAft>
                <a:spcPts val="800"/>
              </a:spcAft>
              <a:defRPr sz="1200" b="0">
                <a:solidFill>
                  <a:srgbClr val="1E1E1E"/>
                </a:solidFill>
                <a:latin typeface="Arial"/>
              </a:defRPr>
            </a:pPr>
            <a:r>
              <a:t>   - Income-Based Limit = $8,952.72</a:t>
            </a:r>
          </a:p>
          <a:p>
            <a:pPr lvl="1">
              <a:spcAft>
                <a:spcPts val="800"/>
              </a:spcAft>
              <a:defRPr sz="1200" b="0">
                <a:solidFill>
                  <a:srgbClr val="1E1E1E"/>
                </a:solidFill>
                <a:latin typeface="Arial"/>
              </a:defRPr>
            </a:pPr>
            <a:r>
              <a:t>   - Conservative Recommended Loan = $8,943.68 (the lower of the two values).</a:t>
            </a:r>
          </a:p>
          <a:p>
            <a:pPr lvl="1">
              <a:spcAft>
                <a:spcPts val="800"/>
              </a:spcAft>
              <a:defRPr sz="1200" b="0">
                <a:solidFill>
                  <a:srgbClr val="1E1E1E"/>
                </a:solidFill>
                <a:latin typeface="Arial"/>
              </a:defRPr>
            </a:pPr>
            <a:r>
              <a:t>   - Estimated Interest Rate = 10.13%</a:t>
            </a:r>
          </a:p>
        </p:txBody>
      </p:sp>
      <p:graphicFrame>
        <p:nvGraphicFramePr>
          <p:cNvPr id="4" name="Table 3"/>
          <p:cNvGraphicFramePr>
            <a:graphicFrameLocks noGrp="1"/>
          </p:cNvGraphicFramePr>
          <p:nvPr/>
        </p:nvGraphicFramePr>
        <p:xfrm>
          <a:off x="6217920" y="1965960"/>
          <a:ext cx="5486400" cy="4114800"/>
        </p:xfrm>
        <a:graphic>
          <a:graphicData uri="http://schemas.openxmlformats.org/drawingml/2006/table">
            <a:tbl>
              <a:tblPr firstRow="1" bandRow="1">
                <a:tableStyleId>{5C22544A-7EE6-4342-B048-85BDC9FD1C3A}</a:tableStyleId>
              </a:tblPr>
              <a:tblGrid>
                <a:gridCol w="1645920"/>
                <a:gridCol w="1097280"/>
                <a:gridCol w="1097280"/>
                <a:gridCol w="1645920"/>
              </a:tblGrid>
              <a:tr h="1028700">
                <a:tc>
                  <a:txBody>
                    <a:bodyPr/>
                    <a:lstStyle/>
                    <a:p>
                      <a:pPr algn="ctr">
                        <a:defRPr sz="1100" b="1">
                          <a:solidFill>
                            <a:srgbClr val="FFFFFF"/>
                          </a:solidFill>
                          <a:latin typeface="Arial"/>
                        </a:defRPr>
                      </a:pPr>
                      <a:r>
                        <a:t>Model</a:t>
                      </a:r>
                    </a:p>
                  </a:txBody>
                  <a:tcPr>
                    <a:solidFill>
                      <a:srgbClr val="0070B9"/>
                    </a:solidFill>
                  </a:tcPr>
                </a:tc>
                <a:tc>
                  <a:txBody>
                    <a:bodyPr/>
                    <a:lstStyle/>
                    <a:p>
                      <a:pPr algn="ctr">
                        <a:defRPr sz="1100" b="1">
                          <a:solidFill>
                            <a:srgbClr val="FFFFFF"/>
                          </a:solidFill>
                          <a:latin typeface="Arial"/>
                        </a:defRPr>
                      </a:pPr>
                      <a:r>
                        <a:t>Prob / Value</a:t>
                      </a:r>
                    </a:p>
                  </a:txBody>
                  <a:tcPr>
                    <a:solidFill>
                      <a:srgbClr val="0070B9"/>
                    </a:solidFill>
                  </a:tcPr>
                </a:tc>
                <a:tc>
                  <a:txBody>
                    <a:bodyPr/>
                    <a:lstStyle/>
                    <a:p>
                      <a:pPr algn="ctr">
                        <a:defRPr sz="1100" b="1">
                          <a:solidFill>
                            <a:srgbClr val="FFFFFF"/>
                          </a:solidFill>
                          <a:latin typeface="Arial"/>
                        </a:defRPr>
                      </a:pPr>
                      <a:r>
                        <a:t>Decision</a:t>
                      </a:r>
                    </a:p>
                  </a:txBody>
                  <a:tcPr>
                    <a:solidFill>
                      <a:srgbClr val="0070B9"/>
                    </a:solidFill>
                  </a:tcPr>
                </a:tc>
                <a:tc>
                  <a:txBody>
                    <a:bodyPr/>
                    <a:lstStyle/>
                    <a:p>
                      <a:pPr algn="ctr">
                        <a:defRPr sz="1100" b="1">
                          <a:solidFill>
                            <a:srgbClr val="FFFFFF"/>
                          </a:solidFill>
                          <a:latin typeface="Arial"/>
                        </a:defRPr>
                      </a:pPr>
                      <a:r>
                        <a:t>Interpretation</a:t>
                      </a:r>
                    </a:p>
                  </a:txBody>
                  <a:tcPr>
                    <a:solidFill>
                      <a:srgbClr val="0070B9"/>
                    </a:solidFill>
                  </a:tcPr>
                </a:tc>
              </a:tr>
              <a:tr h="1028700">
                <a:tc>
                  <a:txBody>
                    <a:bodyPr/>
                    <a:lstStyle/>
                    <a:p>
                      <a:pPr algn="ctr">
                        <a:defRPr sz="950">
                          <a:solidFill>
                            <a:srgbClr val="323232"/>
                          </a:solidFill>
                          <a:latin typeface="Arial"/>
                        </a:defRPr>
                      </a:pPr>
                      <a:r>
                        <a:t>CatBoost ML</a:t>
                      </a:r>
                    </a:p>
                  </a:txBody>
                  <a:tcPr>
                    <a:solidFill>
                      <a:srgbClr val="F5F5F5"/>
                    </a:solidFill>
                  </a:tcPr>
                </a:tc>
                <a:tc>
                  <a:txBody>
                    <a:bodyPr/>
                    <a:lstStyle/>
                    <a:p>
                      <a:pPr algn="ctr">
                        <a:defRPr sz="950">
                          <a:solidFill>
                            <a:srgbClr val="323232"/>
                          </a:solidFill>
                          <a:latin typeface="Arial"/>
                        </a:defRPr>
                      </a:pPr>
                      <a:r>
                        <a:t>98.60%</a:t>
                      </a:r>
                    </a:p>
                  </a:txBody>
                  <a:tcPr>
                    <a:solidFill>
                      <a:srgbClr val="F5F5F5"/>
                    </a:solidFill>
                  </a:tcPr>
                </a:tc>
                <a:tc>
                  <a:txBody>
                    <a:bodyPr/>
                    <a:lstStyle/>
                    <a:p>
                      <a:pPr algn="ctr">
                        <a:defRPr sz="950">
                          <a:solidFill>
                            <a:srgbClr val="323232"/>
                          </a:solidFill>
                          <a:latin typeface="Arial"/>
                        </a:defRPr>
                      </a:pPr>
                      <a:r>
                        <a:t>Default</a:t>
                      </a:r>
                    </a:p>
                  </a:txBody>
                  <a:tcPr>
                    <a:solidFill>
                      <a:srgbClr val="F5F5F5"/>
                    </a:solidFill>
                  </a:tcPr>
                </a:tc>
                <a:tc>
                  <a:txBody>
                    <a:bodyPr/>
                    <a:lstStyle/>
                    <a:p>
                      <a:pPr algn="ctr">
                        <a:defRPr sz="950">
                          <a:solidFill>
                            <a:srgbClr val="323232"/>
                          </a:solidFill>
                          <a:latin typeface="Arial"/>
                        </a:defRPr>
                      </a:pPr>
                      <a:r>
                        <a:t>Risk exceeds cutoff (0.50)</a:t>
                      </a:r>
                    </a:p>
                  </a:txBody>
                  <a:tcPr>
                    <a:solidFill>
                      <a:srgbClr val="F5F5F5"/>
                    </a:solidFill>
                  </a:tcPr>
                </a:tc>
              </a:tr>
              <a:tr h="1028700">
                <a:tc>
                  <a:txBody>
                    <a:bodyPr/>
                    <a:lstStyle/>
                    <a:p>
                      <a:pPr algn="ctr">
                        <a:defRPr sz="950">
                          <a:solidFill>
                            <a:srgbClr val="323232"/>
                          </a:solidFill>
                          <a:latin typeface="Arial"/>
                        </a:defRPr>
                      </a:pPr>
                      <a:r>
                        <a:t>Bayesian Net</a:t>
                      </a:r>
                    </a:p>
                  </a:txBody>
                  <a:tcPr>
                    <a:solidFill>
                      <a:srgbClr val="FFFFFF"/>
                    </a:solidFill>
                  </a:tcPr>
                </a:tc>
                <a:tc>
                  <a:txBody>
                    <a:bodyPr/>
                    <a:lstStyle/>
                    <a:p>
                      <a:pPr algn="ctr">
                        <a:defRPr sz="950">
                          <a:solidFill>
                            <a:srgbClr val="323232"/>
                          </a:solidFill>
                          <a:latin typeface="Arial"/>
                        </a:defRPr>
                      </a:pPr>
                      <a:r>
                        <a:t>85.36%</a:t>
                      </a:r>
                    </a:p>
                  </a:txBody>
                  <a:tcPr>
                    <a:solidFill>
                      <a:srgbClr val="FFFFFF"/>
                    </a:solidFill>
                  </a:tcPr>
                </a:tc>
                <a:tc>
                  <a:txBody>
                    <a:bodyPr/>
                    <a:lstStyle/>
                    <a:p>
                      <a:pPr algn="ctr">
                        <a:defRPr sz="950">
                          <a:solidFill>
                            <a:srgbClr val="323232"/>
                          </a:solidFill>
                          <a:latin typeface="Arial"/>
                        </a:defRPr>
                      </a:pPr>
                      <a:r>
                        <a:t>Default</a:t>
                      </a:r>
                    </a:p>
                  </a:txBody>
                  <a:tcPr>
                    <a:solidFill>
                      <a:srgbClr val="FFFFFF"/>
                    </a:solidFill>
                  </a:tcPr>
                </a:tc>
                <a:tc>
                  <a:txBody>
                    <a:bodyPr/>
                    <a:lstStyle/>
                    <a:p>
                      <a:pPr algn="ctr">
                        <a:defRPr sz="950">
                          <a:solidFill>
                            <a:srgbClr val="323232"/>
                          </a:solidFill>
                          <a:latin typeface="Arial"/>
                        </a:defRPr>
                      </a:pPr>
                      <a:r>
                        <a:t>Agrees with ML output</a:t>
                      </a:r>
                    </a:p>
                  </a:txBody>
                  <a:tcPr>
                    <a:solidFill>
                      <a:srgbClr val="FFFFFF"/>
                    </a:solidFill>
                  </a:tcPr>
                </a:tc>
              </a:tr>
              <a:tr h="1028700">
                <a:tc>
                  <a:txBody>
                    <a:bodyPr/>
                    <a:lstStyle/>
                    <a:p>
                      <a:pPr algn="ctr">
                        <a:defRPr sz="950">
                          <a:solidFill>
                            <a:srgbClr val="323232"/>
                          </a:solidFill>
                          <a:latin typeface="Arial"/>
                        </a:defRPr>
                      </a:pPr>
                      <a:r>
                        <a:t>Loan Amount</a:t>
                      </a:r>
                    </a:p>
                  </a:txBody>
                  <a:tcPr>
                    <a:solidFill>
                      <a:srgbClr val="F5F5F5"/>
                    </a:solidFill>
                  </a:tcPr>
                </a:tc>
                <a:tc>
                  <a:txBody>
                    <a:bodyPr/>
                    <a:lstStyle/>
                    <a:p>
                      <a:pPr algn="ctr">
                        <a:defRPr sz="950">
                          <a:solidFill>
                            <a:srgbClr val="323232"/>
                          </a:solidFill>
                          <a:latin typeface="Arial"/>
                        </a:defRPr>
                      </a:pPr>
                      <a:r>
                        <a:t>$8,943.68</a:t>
                      </a:r>
                    </a:p>
                  </a:txBody>
                  <a:tcPr>
                    <a:solidFill>
                      <a:srgbClr val="F5F5F5"/>
                    </a:solidFill>
                  </a:tcPr>
                </a:tc>
                <a:tc>
                  <a:txBody>
                    <a:bodyPr/>
                    <a:lstStyle/>
                    <a:p>
                      <a:pPr algn="ctr">
                        <a:defRPr sz="950">
                          <a:solidFill>
                            <a:srgbClr val="323232"/>
                          </a:solidFill>
                          <a:latin typeface="Arial"/>
                        </a:defRPr>
                      </a:pPr>
                      <a:r>
                        <a:t>Review</a:t>
                      </a:r>
                    </a:p>
                  </a:txBody>
                  <a:tcPr>
                    <a:solidFill>
                      <a:srgbClr val="F5F5F5"/>
                    </a:solidFill>
                  </a:tcPr>
                </a:tc>
                <a:tc>
                  <a:txBody>
                    <a:bodyPr/>
                    <a:lstStyle/>
                    <a:p>
                      <a:pPr algn="ctr">
                        <a:defRPr sz="950">
                          <a:solidFill>
                            <a:srgbClr val="323232"/>
                          </a:solidFill>
                          <a:latin typeface="Arial"/>
                        </a:defRPr>
                      </a:pPr>
                      <a:r>
                        <a:t>Conservative rate limit</a:t>
                      </a:r>
                    </a:p>
                  </a:txBody>
                  <a:tcPr>
                    <a:solidFill>
                      <a:srgbClr val="F5F5F5"/>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Limitations &amp; Recommendations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Key Findings</a:t>
            </a:r>
          </a:p>
          <a:p>
            <a:pPr lvl="1">
              <a:spcAft>
                <a:spcPts val="800"/>
              </a:spcAft>
              <a:defRPr sz="1300" b="0">
                <a:solidFill>
                  <a:srgbClr val="1E1E1E"/>
                </a:solidFill>
                <a:latin typeface="Arial"/>
              </a:defRPr>
            </a:pPr>
            <a:r>
              <a:t>• CatBoost classifier is production-ready, achieving a ROC-AUC of 0.9429 and precision of 99.08% at a 0.50 threshold.</a:t>
            </a:r>
          </a:p>
          <a:p>
            <a:pPr lvl="1">
              <a:spcAft>
                <a:spcPts val="800"/>
              </a:spcAft>
              <a:defRPr sz="1300" b="0">
                <a:solidFill>
                  <a:srgbClr val="1E1E1E"/>
                </a:solidFill>
                <a:latin typeface="Arial"/>
              </a:defRPr>
            </a:pPr>
            <a:r>
              <a:t>• OLS regression provides unbiased interest rate estimates (MAE = 2.06 percentage points), with error rising for higher-risk grades.</a:t>
            </a:r>
          </a:p>
          <a:p>
            <a:pPr lvl="1">
              <a:spcAft>
                <a:spcPts val="800"/>
              </a:spcAft>
              <a:defRPr sz="1300" b="0">
                <a:solidFill>
                  <a:srgbClr val="1E1E1E"/>
                </a:solidFill>
                <a:latin typeface="Arial"/>
              </a:defRPr>
            </a:pPr>
            <a:r>
              <a:t>• SHAP feature attribution identifies economic leverage and prior default history as the strongest drivers of interest rates and risk.</a:t>
            </a:r>
          </a:p>
          <a:p>
            <a:pPr>
              <a:spcAft>
                <a:spcPts val="800"/>
              </a:spcAft>
              <a:defRPr sz="1600" b="1">
                <a:solidFill>
                  <a:srgbClr val="0070B9"/>
                </a:solidFill>
                <a:latin typeface="Arial"/>
              </a:defRPr>
            </a:pPr>
            <a:r>
              <a:t>Methodological Limitations</a:t>
            </a:r>
          </a:p>
          <a:p>
            <a:pPr lvl="1">
              <a:spcAft>
                <a:spcPts val="800"/>
              </a:spcAft>
              <a:defRPr sz="1300" b="0">
                <a:solidFill>
                  <a:srgbClr val="1E1E1E"/>
                </a:solidFill>
                <a:latin typeface="Arial"/>
              </a:defRPr>
            </a:pPr>
            <a:r>
              <a:t>• Observational data limits: Learned parameters reflect historical lending decisions, which may carry systemic biases.</a:t>
            </a:r>
          </a:p>
          <a:p>
            <a:pPr lvl="1">
              <a:spcAft>
                <a:spcPts val="800"/>
              </a:spcAft>
              <a:defRPr sz="1300" b="0">
                <a:solidFill>
                  <a:srgbClr val="1E1E1E"/>
                </a:solidFill>
                <a:latin typeface="Arial"/>
              </a:defRPr>
            </a:pPr>
            <a:r>
              <a:t>• Data filtering: IQR filters removed 9.25% of observations, including some high-income profiles.</a:t>
            </a:r>
          </a:p>
          <a:p>
            <a:pPr>
              <a:spcAft>
                <a:spcPts val="800"/>
              </a:spcAft>
              <a:defRPr sz="1600" b="1">
                <a:solidFill>
                  <a:srgbClr val="0070B9"/>
                </a:solidFill>
                <a:latin typeface="Arial"/>
              </a:defRPr>
            </a:pPr>
            <a:r>
              <a:t>Actionable Operational Recommendations</a:t>
            </a:r>
          </a:p>
          <a:p>
            <a:pPr lvl="1">
              <a:spcAft>
                <a:spcPts val="800"/>
              </a:spcAft>
              <a:defRPr sz="1300" b="0">
                <a:solidFill>
                  <a:srgbClr val="1E1E1E"/>
                </a:solidFill>
                <a:latin typeface="Arial"/>
              </a:defRPr>
            </a:pPr>
            <a:r>
              <a:t>• Operational Threshold: Deploy at a 0.50 threshold (F1 = 0.8403) for standard portfolios. Use 0.24 (recall = 78.45%) for high-risk portfolios.</a:t>
            </a:r>
          </a:p>
          <a:p>
            <a:pPr lvl="1">
              <a:spcAft>
                <a:spcPts val="800"/>
              </a:spcAft>
              <a:defRPr sz="1300" b="0">
                <a:solidFill>
                  <a:srgbClr val="1E1E1E"/>
                </a:solidFill>
                <a:latin typeface="Arial"/>
              </a:defRPr>
            </a:pPr>
            <a:r>
              <a:t>• Feature engineering: Add credit score bins and macroeconomic variables to improve interest rate predictions.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 Papers</a:t>
            </a:r>
          </a:p>
        </p:txBody>
      </p:sp>
      <p:sp>
        <p:nvSpPr>
          <p:cNvPr id="3" name="TextBox 2"/>
          <p:cNvSpPr txBox="1"/>
          <p:nvPr/>
        </p:nvSpPr>
        <p:spPr>
          <a:xfrm>
            <a:off x="731520" y="1965960"/>
            <a:ext cx="10698480" cy="4389120"/>
          </a:xfrm>
          <a:prstGeom prst="rect">
            <a:avLst/>
          </a:prstGeom>
          <a:noFill/>
        </p:spPr>
        <p:txBody>
          <a:bodyPr wrap="square" lIns="0" rIns="0" tIns="0" bIns="0">
            <a:spAutoFit/>
          </a:bodyPr>
          <a:lstStyle/>
          <a:p>
            <a:pPr>
              <a:spcAft>
                <a:spcPts val="800"/>
              </a:spcAft>
              <a:defRPr sz="1600" b="1">
                <a:solidFill>
                  <a:srgbClr val="0070B9"/>
                </a:solidFill>
                <a:latin typeface="Arial"/>
              </a:defRPr>
            </a:pPr>
            <a:r>
              <a:t>Key References &amp; Citations</a:t>
            </a:r>
          </a:p>
          <a:p>
            <a:pPr lvl="1">
              <a:spcAft>
                <a:spcPts val="800"/>
              </a:spcAft>
              <a:defRPr sz="1100" b="0">
                <a:solidFill>
                  <a:srgbClr val="1E1E1E"/>
                </a:solidFill>
                <a:latin typeface="Arial"/>
              </a:defRPr>
            </a:pPr>
            <a:r>
              <a:t>• Altman, E. I. (1968). Financial ratios, discriminant analysis and the prediction of corporate bankruptcy. The Journal of Finance, 23(4), 589-609.</a:t>
            </a:r>
          </a:p>
          <a:p>
            <a:pPr lvl="1">
              <a:spcAft>
                <a:spcPts val="800"/>
              </a:spcAft>
              <a:defRPr sz="1100" b="0">
                <a:solidFill>
                  <a:srgbClr val="1E1E1E"/>
                </a:solidFill>
                <a:latin typeface="Arial"/>
              </a:defRPr>
            </a:pPr>
            <a:r>
              <a:t>• Baesens, B., et al. (2003). Benchmarking state-of-the-art credit scoring models. Journal of the Operational Research Society, 54(6), 627-635.</a:t>
            </a:r>
          </a:p>
          <a:p>
            <a:pPr lvl="1">
              <a:spcAft>
                <a:spcPts val="800"/>
              </a:spcAft>
              <a:defRPr sz="1100" b="0">
                <a:solidFill>
                  <a:srgbClr val="1E1E1E"/>
                </a:solidFill>
                <a:latin typeface="Arial"/>
              </a:defRPr>
            </a:pPr>
            <a:r>
              <a:t>• Breiman, L. (2001). Random forests. Machine Learning, 45(1), 5-32.</a:t>
            </a:r>
          </a:p>
          <a:p>
            <a:pPr lvl="1">
              <a:spcAft>
                <a:spcPts val="800"/>
              </a:spcAft>
              <a:defRPr sz="1100" b="0">
                <a:solidFill>
                  <a:srgbClr val="1E1E1E"/>
                </a:solidFill>
                <a:latin typeface="Arial"/>
              </a:defRPr>
            </a:pPr>
            <a:r>
              <a:t>• Brier, G. W. (1950). Verification of forecasts expressed in terms of probability. Monthly Weather Review, 78(1), 1-3.</a:t>
            </a:r>
          </a:p>
          <a:p>
            <a:pPr lvl="1">
              <a:spcAft>
                <a:spcPts val="800"/>
              </a:spcAft>
              <a:defRPr sz="1100" b="0">
                <a:solidFill>
                  <a:srgbClr val="1E1E1E"/>
                </a:solidFill>
                <a:latin typeface="Arial"/>
              </a:defRPr>
            </a:pPr>
            <a:r>
              <a:t>• Friedman, J. H. (2001). Greedy function approximation: A Gradient Boosting machine. Annals of Statistics, 29(5), 1189-1232.</a:t>
            </a:r>
          </a:p>
          <a:p>
            <a:pPr lvl="1">
              <a:spcAft>
                <a:spcPts val="800"/>
              </a:spcAft>
              <a:defRPr sz="1100" b="0">
                <a:solidFill>
                  <a:srgbClr val="1E1E1E"/>
                </a:solidFill>
                <a:latin typeface="Arial"/>
              </a:defRPr>
            </a:pPr>
            <a:r>
              <a:t>• Heckerman, D. (1997). Bayesian Networks for data mining. Data Mining and Knowledge Discovery, 1(1), 79-119.</a:t>
            </a:r>
          </a:p>
          <a:p>
            <a:pPr lvl="1">
              <a:spcAft>
                <a:spcPts val="800"/>
              </a:spcAft>
              <a:defRPr sz="1100" b="0">
                <a:solidFill>
                  <a:srgbClr val="1E1E1E"/>
                </a:solidFill>
                <a:latin typeface="Arial"/>
              </a:defRPr>
            </a:pPr>
            <a:r>
              <a:t>• Little, R. J., &amp; Rubin, D. B. (2019). Statistical analysis with missing data (3rd ed.). Wiley.</a:t>
            </a:r>
          </a:p>
          <a:p>
            <a:pPr lvl="1">
              <a:spcAft>
                <a:spcPts val="800"/>
              </a:spcAft>
              <a:defRPr sz="1100" b="0">
                <a:solidFill>
                  <a:srgbClr val="1E1E1E"/>
                </a:solidFill>
                <a:latin typeface="Arial"/>
              </a:defRPr>
            </a:pPr>
            <a:r>
              <a:t>• Lundberg, S. M., &amp; Lee, S.-I. (2017). A unified approach to interpreting model predictions. NeurIPS, 30, 4765-4774.</a:t>
            </a:r>
          </a:p>
          <a:p>
            <a:pPr lvl="1">
              <a:spcAft>
                <a:spcPts val="800"/>
              </a:spcAft>
              <a:defRPr sz="1100" b="0">
                <a:solidFill>
                  <a:srgbClr val="1E1E1E"/>
                </a:solidFill>
                <a:latin typeface="Arial"/>
              </a:defRPr>
            </a:pPr>
            <a:r>
              <a:t>• Prokhorenkova, L., et al. (2018). CatBoost: unbiased boosting with categorical features. NeurIPS, 31, 6638-6648.</a:t>
            </a:r>
          </a:p>
          <a:p>
            <a:pPr lvl="1">
              <a:spcAft>
                <a:spcPts val="800"/>
              </a:spcAft>
              <a:defRPr sz="1100" b="0">
                <a:solidFill>
                  <a:srgbClr val="1E1E1E"/>
                </a:solidFill>
                <a:latin typeface="Arial"/>
              </a:defRPr>
            </a:pPr>
            <a:r>
              <a:t>• Shapiro, S. S., &amp; Wilk, M. B. (1965). An analysis of variance test for normality. Biometrika, 52(3/4), 591-611.</a:t>
            </a:r>
          </a:p>
          <a:p>
            <a:pPr lvl="1">
              <a:spcAft>
                <a:spcPts val="800"/>
              </a:spcAft>
              <a:defRPr sz="1100" b="0">
                <a:solidFill>
                  <a:srgbClr val="1E1E1E"/>
                </a:solidFill>
                <a:latin typeface="Arial"/>
              </a:defRPr>
            </a:pPr>
            <a:r>
              <a:t>• Tukey, J. W. (1977). Exploratory data analysis. Addison-Wesley.</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